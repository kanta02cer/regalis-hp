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C1C1E"/>
                </a:solidFill>
                <a:latin typeface="游ゴシック"/>
              </a:rPr>
              <a:t>売上高（セグメント別・百万円）</a:t>
            </a:r>
          </a:p>
        </c:rich>
      </c:tx>
      <c:layout/>
      <c:overlay val="0"/>
    </c:title>
    <c:autoTitleDeleted val="0"/>
    <c:plotArea>
      <c:barChart>
        <c:barDir val="col"/>
        <c:grouping val="stacked"/>
        <c:ser>
          <c:idx val="0"/>
          <c:order val="0"/>
          <c:tx>
            <c:strRef>
              <c:f>Sheet1!$B$1</c:f>
              <c:strCache>
                <c:ptCount val="1"/>
                <c:pt idx="0">
                  <c:v>HackⅡ SaaS</c:v>
                </c:pt>
              </c:strCache>
            </c:strRef>
          </c:tx>
          <c:spPr>
            <a:solidFill>
              <a:srgbClr val="C5A059"/>
            </a:solidFill>
          </c:spPr>
          <c:cat>
            <c:strRef>
              <c:f>Sheet1!$A$2:$A$4</c:f>
              <c:strCache>
                <c:ptCount val="3"/>
                <c:pt idx="0">
                  <c:v>FY2026</c:v>
                </c:pt>
                <c:pt idx="1">
                  <c:v>FY2027</c:v>
                </c:pt>
                <c:pt idx="2">
                  <c:v>FY2028</c:v>
                </c:pt>
              </c:strCache>
            </c:strRef>
          </c:cat>
          <c:val>
            <c:numRef>
              <c:f>Sheet1!$B$2:$B$4</c:f>
              <c:numCache>
                <c:formatCode>General</c:formatCode>
                <c:ptCount val="3"/>
                <c:pt idx="0">
                  <c:v>16.0</c:v>
                </c:pt>
                <c:pt idx="1">
                  <c:v>73.0</c:v>
                </c:pt>
                <c:pt idx="2">
                  <c:v>214.3</c:v>
                </c:pt>
              </c:numCache>
            </c:numRef>
          </c:val>
        </c:ser>
        <c:ser>
          <c:idx val="1"/>
          <c:order val="1"/>
          <c:tx>
            <c:strRef>
              <c:f>Sheet1!$C$1</c:f>
              <c:strCache>
                <c:ptCount val="1"/>
                <c:pt idx="0">
                  <c:v>AIOメディア運営</c:v>
                </c:pt>
              </c:strCache>
            </c:strRef>
          </c:tx>
          <c:spPr>
            <a:solidFill>
              <a:srgbClr val="9C7C3C"/>
            </a:solidFill>
          </c:spPr>
          <c:cat>
            <c:strRef>
              <c:f>Sheet1!$A$2:$A$4</c:f>
              <c:strCache>
                <c:ptCount val="3"/>
                <c:pt idx="0">
                  <c:v>FY2026</c:v>
                </c:pt>
                <c:pt idx="1">
                  <c:v>FY2027</c:v>
                </c:pt>
                <c:pt idx="2">
                  <c:v>FY2028</c:v>
                </c:pt>
              </c:strCache>
            </c:strRef>
          </c:cat>
          <c:val>
            <c:numRef>
              <c:f>Sheet1!$C$2:$C$4</c:f>
              <c:numCache>
                <c:formatCode>General</c:formatCode>
                <c:ptCount val="3"/>
                <c:pt idx="0">
                  <c:v>23.8</c:v>
                </c:pt>
                <c:pt idx="1">
                  <c:v>55.4</c:v>
                </c:pt>
                <c:pt idx="2">
                  <c:v>103.0</c:v>
                </c:pt>
              </c:numCache>
            </c:numRef>
          </c:val>
        </c:ser>
        <c:ser>
          <c:idx val="2"/>
          <c:order val="2"/>
          <c:tx>
            <c:strRef>
              <c:f>Sheet1!$D$1</c:f>
              <c:strCache>
                <c:ptCount val="1"/>
                <c:pt idx="0">
                  <c:v>DX・Web開発</c:v>
                </c:pt>
              </c:strCache>
            </c:strRef>
          </c:tx>
          <c:spPr>
            <a:solidFill>
              <a:srgbClr val="BDB4A2"/>
            </a:solidFill>
          </c:spPr>
          <c:cat>
            <c:strRef>
              <c:f>Sheet1!$A$2:$A$4</c:f>
              <c:strCache>
                <c:ptCount val="3"/>
                <c:pt idx="0">
                  <c:v>FY2026</c:v>
                </c:pt>
                <c:pt idx="1">
                  <c:v>FY2027</c:v>
                </c:pt>
                <c:pt idx="2">
                  <c:v>FY2028</c:v>
                </c:pt>
              </c:strCache>
            </c:strRef>
          </c:cat>
          <c:val>
            <c:numRef>
              <c:f>Sheet1!$D$2:$D$4</c:f>
              <c:numCache>
                <c:formatCode>General</c:formatCode>
                <c:ptCount val="3"/>
                <c:pt idx="0">
                  <c:v>12.0</c:v>
                </c:pt>
                <c:pt idx="1">
                  <c:v>28.0</c:v>
                </c:pt>
                <c:pt idx="2">
                  <c:v>48.0</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000">
                <a:latin typeface="游ゴシック"/>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pPr>
          </a:p>
        </c:txPr>
        <c:crossAx val="-2068027336"/>
        <c:crosses val="autoZero"/>
      </c:valAx>
    </c:plotArea>
    <c:legend>
      <c:legendPos val="b"/>
      <c:overlay val="0"/>
      <c:txPr>
        <a:bodyPr/>
        <a:lstStyle/>
        <a:p>
          <a:pPr>
            <a:defRPr sz="900">
              <a:latin typeface="游ゴシック"/>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2"/>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058400" cy="457200"/>
          </a:xfrm>
          <a:prstGeom prst="rect">
            <a:avLst/>
          </a:prstGeom>
          <a:noFill/>
        </p:spPr>
        <p:txBody>
          <a:bodyPr wrap="square" anchor="t" lIns="0" rIns="0" tIns="0" bIns="0">
            <a:spAutoFit/>
          </a:bodyPr>
          <a:lstStyle/>
          <a:p>
            <a:pPr algn="l">
              <a:lnSpc>
                <a:spcPct val="106000"/>
              </a:lnSpc>
              <a:spcBef>
                <a:spcPts val="0"/>
              </a:spcBef>
              <a:spcAft>
                <a:spcPts val="400"/>
              </a:spcAft>
            </a:pPr>
            <a:r>
              <a:rPr sz="1500" b="1">
                <a:solidFill>
                  <a:srgbClr val="C5A059"/>
                </a:solidFill>
                <a:latin typeface="Georgia"/>
                <a:ea typeface="游ゴシック"/>
              </a:rPr>
              <a:t>REGALIS JAPAN GROUP</a:t>
            </a:r>
          </a:p>
        </p:txBody>
      </p:sp>
      <p:sp>
        <p:nvSpPr>
          <p:cNvPr id="4" name="TextBox 3"/>
          <p:cNvSpPr txBox="1"/>
          <p:nvPr/>
        </p:nvSpPr>
        <p:spPr>
          <a:xfrm>
            <a:off x="786384" y="1965960"/>
            <a:ext cx="10607040" cy="1463040"/>
          </a:xfrm>
          <a:prstGeom prst="rect">
            <a:avLst/>
          </a:prstGeom>
          <a:noFill/>
        </p:spPr>
        <p:txBody>
          <a:bodyPr wrap="square" anchor="t" lIns="0" rIns="0" tIns="0" bIns="0">
            <a:spAutoFit/>
          </a:bodyPr>
          <a:lstStyle/>
          <a:p>
            <a:pPr algn="l">
              <a:lnSpc>
                <a:spcPct val="108000"/>
              </a:lnSpc>
              <a:spcBef>
                <a:spcPts val="0"/>
              </a:spcBef>
              <a:spcAft>
                <a:spcPts val="400"/>
              </a:spcAft>
            </a:pPr>
            <a:r>
              <a:rPr sz="4000" b="1">
                <a:solidFill>
                  <a:srgbClr val="FFFFFF"/>
                </a:solidFill>
                <a:latin typeface="游ゴシック"/>
                <a:ea typeface="游ゴシック"/>
              </a:rPr>
              <a:t>AIに選ばれる企業を、</a:t>
            </a:r>
          </a:p>
          <a:p>
            <a:pPr algn="l">
              <a:lnSpc>
                <a:spcPct val="108000"/>
              </a:lnSpc>
              <a:spcBef>
                <a:spcPts val="0"/>
              </a:spcBef>
              <a:spcAft>
                <a:spcPts val="400"/>
              </a:spcAft>
            </a:pPr>
            <a:r>
              <a:rPr sz="4000" b="1">
                <a:solidFill>
                  <a:srgbClr val="FFFFFF"/>
                </a:solidFill>
                <a:latin typeface="游ゴシック"/>
                <a:ea typeface="游ゴシック"/>
              </a:rPr>
              <a:t>設計する。</a:t>
            </a:r>
          </a:p>
        </p:txBody>
      </p:sp>
      <p:sp>
        <p:nvSpPr>
          <p:cNvPr id="5" name="TextBox 4"/>
          <p:cNvSpPr txBox="1"/>
          <p:nvPr/>
        </p:nvSpPr>
        <p:spPr>
          <a:xfrm>
            <a:off x="822960" y="3977639"/>
            <a:ext cx="10058400" cy="457200"/>
          </a:xfrm>
          <a:prstGeom prst="rect">
            <a:avLst/>
          </a:prstGeom>
          <a:noFill/>
        </p:spPr>
        <p:txBody>
          <a:bodyPr wrap="square" anchor="t" lIns="0" rIns="0" tIns="0" bIns="0">
            <a:spAutoFit/>
          </a:bodyPr>
          <a:lstStyle/>
          <a:p>
            <a:pPr algn="l">
              <a:lnSpc>
                <a:spcPct val="106000"/>
              </a:lnSpc>
              <a:spcBef>
                <a:spcPts val="0"/>
              </a:spcBef>
              <a:spcAft>
                <a:spcPts val="400"/>
              </a:spcAft>
            </a:pPr>
            <a:r>
              <a:rPr sz="1400" b="0">
                <a:solidFill>
                  <a:srgbClr val="CFC4AC"/>
                </a:solidFill>
                <a:latin typeface="游ゴシック"/>
                <a:ea typeface="游ゴシック"/>
              </a:rPr>
              <a:t>事業計画書 ／ Business Plan 2026–2028</a:t>
            </a:r>
          </a:p>
        </p:txBody>
      </p:sp>
      <p:sp>
        <p:nvSpPr>
          <p:cNvPr id="6" name="Rectangle 5"/>
          <p:cNvSpPr/>
          <p:nvPr/>
        </p:nvSpPr>
        <p:spPr>
          <a:xfrm>
            <a:off x="822960" y="4590288"/>
            <a:ext cx="3108960" cy="18288"/>
          </a:xfrm>
          <a:prstGeom prst="rect">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800600"/>
            <a:ext cx="10515600" cy="1097280"/>
          </a:xfrm>
          <a:prstGeom prst="rect">
            <a:avLst/>
          </a:prstGeom>
          <a:noFill/>
        </p:spPr>
        <p:txBody>
          <a:bodyPr wrap="square" anchor="t" lIns="0" rIns="0" tIns="0" bIns="0">
            <a:spAutoFit/>
          </a:bodyPr>
          <a:lstStyle/>
          <a:p>
            <a:pPr algn="l">
              <a:lnSpc>
                <a:spcPct val="130000"/>
              </a:lnSpc>
              <a:spcBef>
                <a:spcPts val="0"/>
              </a:spcBef>
              <a:spcAft>
                <a:spcPts val="400"/>
              </a:spcAft>
            </a:pPr>
            <a:r>
              <a:rPr sz="1350" b="0">
                <a:solidFill>
                  <a:srgbClr val="C8C5BE"/>
                </a:solidFill>
                <a:latin typeface="游ゴシック"/>
                <a:ea typeface="游ゴシック"/>
              </a:rPr>
              <a:t>日本初の全自動AI検索最適化インフラ「HackⅡ（ハックツ）」で、</a:t>
            </a:r>
          </a:p>
          <a:p>
            <a:pPr algn="l">
              <a:lnSpc>
                <a:spcPct val="130000"/>
              </a:lnSpc>
              <a:spcBef>
                <a:spcPts val="0"/>
              </a:spcBef>
              <a:spcAft>
                <a:spcPts val="400"/>
              </a:spcAft>
            </a:pPr>
            <a:r>
              <a:rPr sz="1350" b="0">
                <a:solidFill>
                  <a:srgbClr val="C8C5BE"/>
                </a:solidFill>
                <a:latin typeface="游ゴシック"/>
                <a:ea typeface="游ゴシック"/>
              </a:rPr>
              <a:t>ChatGPT・Perplexity・Geminiに引用される企業をつくる。</a:t>
            </a:r>
          </a:p>
        </p:txBody>
      </p:sp>
      <p:sp>
        <p:nvSpPr>
          <p:cNvPr id="8" name="TextBox 7"/>
          <p:cNvSpPr txBox="1"/>
          <p:nvPr/>
        </p:nvSpPr>
        <p:spPr>
          <a:xfrm>
            <a:off x="822960" y="6080760"/>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050" b="0">
                <a:solidFill>
                  <a:srgbClr val="9B9382"/>
                </a:solidFill>
                <a:latin typeface="游ゴシック"/>
                <a:ea typeface="游ゴシック"/>
              </a:rPr>
              <a:t>Regalis Japan Group株式会社　｜　東京都千代田区麹町　｜　代表取締役 井上 幹太</a:t>
            </a:r>
          </a:p>
        </p:txBody>
      </p:sp>
      <p:sp>
        <p:nvSpPr>
          <p:cNvPr id="9" name="TextBox 8"/>
          <p:cNvSpPr txBox="1"/>
          <p:nvPr/>
        </p:nvSpPr>
        <p:spPr>
          <a:xfrm>
            <a:off x="822960" y="6382512"/>
            <a:ext cx="10515600" cy="36576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77164"/>
                </a:solidFill>
                <a:latin typeface="游ゴシック"/>
                <a:ea typeface="游ゴシック"/>
              </a:rPr>
              <a:t>本資料は投資家向けの事業計画書です。財務数値は前提を明示した想定モデルであり実績値ではありません。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EXECUTIVE SUMMARY</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検索がAIに移行する転換点で、「AIに引用される仕組み」を自動化する</a:t>
            </a:r>
          </a:p>
        </p:txBody>
      </p:sp>
      <p:sp>
        <p:nvSpPr>
          <p:cNvPr id="5" name="Rounded Rectangle 4"/>
          <p:cNvSpPr/>
          <p:nvPr/>
        </p:nvSpPr>
        <p:spPr>
          <a:xfrm>
            <a:off x="548640" y="1874519"/>
            <a:ext cx="3611880" cy="278892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74519"/>
            <a:ext cx="3611880" cy="82296"/>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48840"/>
            <a:ext cx="3099816" cy="54864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01  巨大な地殻変動</a:t>
            </a:r>
          </a:p>
        </p:txBody>
      </p:sp>
      <p:sp>
        <p:nvSpPr>
          <p:cNvPr id="8" name="TextBox 7"/>
          <p:cNvSpPr txBox="1"/>
          <p:nvPr/>
        </p:nvSpPr>
        <p:spPr>
          <a:xfrm>
            <a:off x="804672" y="2788920"/>
            <a:ext cx="3099816" cy="1737360"/>
          </a:xfrm>
          <a:prstGeom prst="rect">
            <a:avLst/>
          </a:prstGeom>
          <a:noFill/>
        </p:spPr>
        <p:txBody>
          <a:bodyPr wrap="square" anchor="t" lIns="0" rIns="0" tIns="0" bIns="0">
            <a:spAutoFit/>
          </a:bodyPr>
          <a:lstStyle/>
          <a:p>
            <a:pPr algn="l">
              <a:lnSpc>
                <a:spcPct val="128000"/>
              </a:lnSpc>
              <a:spcBef>
                <a:spcPts val="0"/>
              </a:spcBef>
              <a:spcAft>
                <a:spcPts val="400"/>
              </a:spcAft>
            </a:pPr>
            <a:r>
              <a:rPr sz="1100" b="0">
                <a:solidFill>
                  <a:srgbClr val="444240"/>
                </a:solidFill>
                <a:latin typeface="游ゴシック"/>
                <a:ea typeface="游ゴシック"/>
              </a:rPr>
              <a:t>検索する人の50%以上がAI検索を利用する一方、日本語圏サイトの90%以上がAI検索に未対策。「対策不能」ではなく「手法が確立していない」だけの空白市場。</a:t>
            </a:r>
          </a:p>
        </p:txBody>
      </p:sp>
      <p:sp>
        <p:nvSpPr>
          <p:cNvPr id="9" name="Rounded Rectangle 8"/>
          <p:cNvSpPr/>
          <p:nvPr/>
        </p:nvSpPr>
        <p:spPr>
          <a:xfrm>
            <a:off x="4334256" y="1874519"/>
            <a:ext cx="3611880" cy="278892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6" y="1874519"/>
            <a:ext cx="3611880" cy="82296"/>
          </a:xfrm>
          <a:prstGeom prst="rect">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148840"/>
            <a:ext cx="3099816" cy="54864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02  独自プロダクト</a:t>
            </a:r>
          </a:p>
        </p:txBody>
      </p:sp>
      <p:sp>
        <p:nvSpPr>
          <p:cNvPr id="12" name="TextBox 11"/>
          <p:cNvSpPr txBox="1"/>
          <p:nvPr/>
        </p:nvSpPr>
        <p:spPr>
          <a:xfrm>
            <a:off x="4590288" y="2788920"/>
            <a:ext cx="3099816" cy="1737360"/>
          </a:xfrm>
          <a:prstGeom prst="rect">
            <a:avLst/>
          </a:prstGeom>
          <a:noFill/>
        </p:spPr>
        <p:txBody>
          <a:bodyPr wrap="square" anchor="t" lIns="0" rIns="0" tIns="0" bIns="0">
            <a:spAutoFit/>
          </a:bodyPr>
          <a:lstStyle/>
          <a:p>
            <a:pPr algn="l">
              <a:lnSpc>
                <a:spcPct val="128000"/>
              </a:lnSpc>
              <a:spcBef>
                <a:spcPts val="0"/>
              </a:spcBef>
              <a:spcAft>
                <a:spcPts val="400"/>
              </a:spcAft>
            </a:pPr>
            <a:r>
              <a:rPr sz="1100" b="0">
                <a:solidFill>
                  <a:srgbClr val="444240"/>
                </a:solidFill>
                <a:latin typeface="游ゴシック"/>
                <a:ea typeface="游ゴシック"/>
              </a:rPr>
              <a:t>タグ1行で導入でき、AIクローラーを自動検知してLLMOを継続実装する全自動インフラ「HackⅡ」。動的更新エンジンは特許出願中で、模倣困難な技術的堀を形成。</a:t>
            </a:r>
          </a:p>
        </p:txBody>
      </p:sp>
      <p:sp>
        <p:nvSpPr>
          <p:cNvPr id="13" name="Rounded Rectangle 12"/>
          <p:cNvSpPr/>
          <p:nvPr/>
        </p:nvSpPr>
        <p:spPr>
          <a:xfrm>
            <a:off x="8119872" y="1874519"/>
            <a:ext cx="3611880" cy="278892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874519"/>
            <a:ext cx="3611880" cy="82296"/>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2148840"/>
            <a:ext cx="3099816" cy="54864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03  収益に直結</a:t>
            </a:r>
          </a:p>
        </p:txBody>
      </p:sp>
      <p:sp>
        <p:nvSpPr>
          <p:cNvPr id="16" name="TextBox 15"/>
          <p:cNvSpPr txBox="1"/>
          <p:nvPr/>
        </p:nvSpPr>
        <p:spPr>
          <a:xfrm>
            <a:off x="8375904" y="2788920"/>
            <a:ext cx="3099816" cy="1737360"/>
          </a:xfrm>
          <a:prstGeom prst="rect">
            <a:avLst/>
          </a:prstGeom>
          <a:noFill/>
        </p:spPr>
        <p:txBody>
          <a:bodyPr wrap="square" anchor="t" lIns="0" rIns="0" tIns="0" bIns="0">
            <a:spAutoFit/>
          </a:bodyPr>
          <a:lstStyle/>
          <a:p>
            <a:pPr algn="l">
              <a:lnSpc>
                <a:spcPct val="128000"/>
              </a:lnSpc>
              <a:spcBef>
                <a:spcPts val="0"/>
              </a:spcBef>
              <a:spcAft>
                <a:spcPts val="400"/>
              </a:spcAft>
            </a:pPr>
            <a:r>
              <a:rPr sz="1100" b="0">
                <a:solidFill>
                  <a:srgbClr val="444240"/>
                </a:solidFill>
                <a:latin typeface="游ゴシック"/>
                <a:ea typeface="游ゴシック"/>
              </a:rPr>
              <a:t>「計測」で終わらせず、AI引用経由の高単価リード獲得（成約率4.4倍）とデータライセンスまで設計。ストック型SaaS×高粗利で拡張。</a:t>
            </a:r>
          </a:p>
        </p:txBody>
      </p:sp>
      <p:sp>
        <p:nvSpPr>
          <p:cNvPr id="17" name="Rectangle 16"/>
          <p:cNvSpPr/>
          <p:nvPr/>
        </p:nvSpPr>
        <p:spPr>
          <a:xfrm>
            <a:off x="548640" y="4983480"/>
            <a:ext cx="11091672" cy="1234440"/>
          </a:xfrm>
          <a:prstGeom prst="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C7C3C"/>
                </a:solidFill>
                <a:latin typeface="Georgia"/>
                <a:ea typeface="游ゴシック"/>
              </a:rPr>
              <a:t>134件+</a:t>
            </a:r>
          </a:p>
        </p:txBody>
      </p:sp>
      <p:sp>
        <p:nvSpPr>
          <p:cNvPr id="19" name="TextBox 18"/>
          <p:cNvSpPr txBox="1"/>
          <p:nvPr/>
        </p:nvSpPr>
        <p:spPr>
          <a:xfrm>
            <a:off x="548640"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法人マーケ実績</a:t>
            </a:r>
          </a:p>
        </p:txBody>
      </p:sp>
      <p:sp>
        <p:nvSpPr>
          <p:cNvPr id="20" name="TextBox 19"/>
          <p:cNvSpPr txBox="1"/>
          <p:nvPr/>
        </p:nvSpPr>
        <p:spPr>
          <a:xfrm>
            <a:off x="2766974"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C7C3C"/>
                </a:solidFill>
                <a:latin typeface="Georgia"/>
                <a:ea typeface="游ゴシック"/>
              </a:rPr>
              <a:t>4.4倍</a:t>
            </a:r>
          </a:p>
        </p:txBody>
      </p:sp>
      <p:sp>
        <p:nvSpPr>
          <p:cNvPr id="21" name="TextBox 20"/>
          <p:cNvSpPr txBox="1"/>
          <p:nvPr/>
        </p:nvSpPr>
        <p:spPr>
          <a:xfrm>
            <a:off x="2766974"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AI経由MQL成約率</a:t>
            </a:r>
          </a:p>
        </p:txBody>
      </p:sp>
      <p:sp>
        <p:nvSpPr>
          <p:cNvPr id="22" name="Rectangle 21"/>
          <p:cNvSpPr/>
          <p:nvPr/>
        </p:nvSpPr>
        <p:spPr>
          <a:xfrm>
            <a:off x="2766974" y="5212080"/>
            <a:ext cx="7315" cy="822960"/>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5308"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C7C3C"/>
                </a:solidFill>
                <a:latin typeface="Georgia"/>
                <a:ea typeface="游ゴシック"/>
              </a:rPr>
              <a:t>+26.9pt</a:t>
            </a:r>
          </a:p>
        </p:txBody>
      </p:sp>
      <p:sp>
        <p:nvSpPr>
          <p:cNvPr id="24" name="TextBox 23"/>
          <p:cNvSpPr txBox="1"/>
          <p:nvPr/>
        </p:nvSpPr>
        <p:spPr>
          <a:xfrm>
            <a:off x="4985308"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AICSスコア改善</a:t>
            </a:r>
          </a:p>
        </p:txBody>
      </p:sp>
      <p:sp>
        <p:nvSpPr>
          <p:cNvPr id="25" name="Rectangle 24"/>
          <p:cNvSpPr/>
          <p:nvPr/>
        </p:nvSpPr>
        <p:spPr>
          <a:xfrm>
            <a:off x="4985308" y="5212080"/>
            <a:ext cx="7315" cy="822960"/>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03643"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C7C3C"/>
                </a:solidFill>
                <a:latin typeface="Georgia"/>
                <a:ea typeface="游ゴシック"/>
              </a:rPr>
              <a:t>8名</a:t>
            </a:r>
          </a:p>
        </p:txBody>
      </p:sp>
      <p:sp>
        <p:nvSpPr>
          <p:cNvPr id="27" name="TextBox 26"/>
          <p:cNvSpPr txBox="1"/>
          <p:nvPr/>
        </p:nvSpPr>
        <p:spPr>
          <a:xfrm>
            <a:off x="7203643"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外部顧問</a:t>
            </a:r>
          </a:p>
        </p:txBody>
      </p:sp>
      <p:sp>
        <p:nvSpPr>
          <p:cNvPr id="28" name="Rectangle 27"/>
          <p:cNvSpPr/>
          <p:nvPr/>
        </p:nvSpPr>
        <p:spPr>
          <a:xfrm>
            <a:off x="7203643" y="5212080"/>
            <a:ext cx="7315" cy="822960"/>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21977"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C7C3C"/>
                </a:solidFill>
                <a:latin typeface="Georgia"/>
                <a:ea typeface="游ゴシック"/>
              </a:rPr>
              <a:t>特許出願中</a:t>
            </a:r>
          </a:p>
        </p:txBody>
      </p:sp>
      <p:sp>
        <p:nvSpPr>
          <p:cNvPr id="30" name="TextBox 29"/>
          <p:cNvSpPr txBox="1"/>
          <p:nvPr/>
        </p:nvSpPr>
        <p:spPr>
          <a:xfrm>
            <a:off x="9421977"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動的更新エンジン</a:t>
            </a:r>
          </a:p>
        </p:txBody>
      </p:sp>
      <p:sp>
        <p:nvSpPr>
          <p:cNvPr id="31" name="Rectangle 30"/>
          <p:cNvSpPr/>
          <p:nvPr/>
        </p:nvSpPr>
        <p:spPr>
          <a:xfrm>
            <a:off x="9421977" y="5212080"/>
            <a:ext cx="7315" cy="822960"/>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33" name="TextBox 32"/>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WHAT WE DO</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AI検索に特化したマーケティング &amp; デジタルPRグループ</a:t>
            </a:r>
          </a:p>
        </p:txBody>
      </p:sp>
      <p:sp>
        <p:nvSpPr>
          <p:cNvPr id="5" name="TextBox 4"/>
          <p:cNvSpPr txBox="1"/>
          <p:nvPr/>
        </p:nvSpPr>
        <p:spPr>
          <a:xfrm>
            <a:off x="548640" y="1554480"/>
            <a:ext cx="11064240" cy="457200"/>
          </a:xfrm>
          <a:prstGeom prst="rect">
            <a:avLst/>
          </a:prstGeom>
          <a:noFill/>
        </p:spPr>
        <p:txBody>
          <a:bodyPr wrap="square" anchor="t" lIns="0" rIns="0" tIns="0" bIns="0">
            <a:spAutoFit/>
          </a:bodyPr>
          <a:lstStyle/>
          <a:p>
            <a:pPr algn="l">
              <a:lnSpc>
                <a:spcPct val="106000"/>
              </a:lnSpc>
              <a:spcBef>
                <a:spcPts val="0"/>
              </a:spcBef>
              <a:spcAft>
                <a:spcPts val="400"/>
              </a:spcAft>
            </a:pPr>
            <a:r>
              <a:rPr sz="1250" b="0">
                <a:solidFill>
                  <a:srgbClr val="767470"/>
                </a:solidFill>
                <a:latin typeface="游ゴシック"/>
                <a:ea typeface="游ゴシック"/>
              </a:rPr>
              <a:t>「見えないブランド価値を、AI時代の定量資産へ」</a:t>
            </a:r>
          </a:p>
        </p:txBody>
      </p:sp>
      <p:sp>
        <p:nvSpPr>
          <p:cNvPr id="6" name="Rectangle 5"/>
          <p:cNvSpPr/>
          <p:nvPr/>
        </p:nvSpPr>
        <p:spPr>
          <a:xfrm>
            <a:off x="548640" y="2148840"/>
            <a:ext cx="82296" cy="123444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76272"/>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600" b="1">
                <a:solidFill>
                  <a:srgbClr val="1C1C1E"/>
                </a:solidFill>
                <a:latin typeface="游ゴシック"/>
                <a:ea typeface="游ゴシック"/>
              </a:rPr>
              <a:t>御社は、AIに選ばれているか。</a:t>
            </a:r>
          </a:p>
        </p:txBody>
      </p:sp>
      <p:sp>
        <p:nvSpPr>
          <p:cNvPr id="8" name="TextBox 7"/>
          <p:cNvSpPr txBox="1"/>
          <p:nvPr/>
        </p:nvSpPr>
        <p:spPr>
          <a:xfrm>
            <a:off x="868680" y="2651760"/>
            <a:ext cx="10515600" cy="731520"/>
          </a:xfrm>
          <a:prstGeom prst="rect">
            <a:avLst/>
          </a:prstGeom>
          <a:noFill/>
        </p:spPr>
        <p:txBody>
          <a:bodyPr wrap="square" anchor="t" lIns="0" rIns="0" tIns="0" bIns="0">
            <a:spAutoFit/>
          </a:bodyPr>
          <a:lstStyle/>
          <a:p>
            <a:pPr algn="l">
              <a:lnSpc>
                <a:spcPct val="130000"/>
              </a:lnSpc>
              <a:spcBef>
                <a:spcPts val="0"/>
              </a:spcBef>
              <a:spcAft>
                <a:spcPts val="400"/>
              </a:spcAft>
            </a:pPr>
            <a:r>
              <a:rPr sz="1200" b="0">
                <a:solidFill>
                  <a:srgbClr val="444240"/>
                </a:solidFill>
                <a:latin typeface="游ゴシック"/>
                <a:ea typeface="游ゴシック"/>
              </a:rPr>
              <a:t>ChatGPT・Claude・Gemini・Perplexityが「業界で信頼できる会社は？」と聞かれたとき、御社が引用されるかどうか。それが次の10年の集客を左右する。</a:t>
            </a:r>
          </a:p>
        </p:txBody>
      </p:sp>
      <p:sp>
        <p:nvSpPr>
          <p:cNvPr id="9" name="Rectangle 8"/>
          <p:cNvSpPr/>
          <p:nvPr/>
        </p:nvSpPr>
        <p:spPr>
          <a:xfrm>
            <a:off x="548640" y="3566160"/>
            <a:ext cx="82296" cy="123444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593592"/>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600" b="1">
                <a:solidFill>
                  <a:srgbClr val="1C1C1E"/>
                </a:solidFill>
                <a:latin typeface="游ゴシック"/>
                <a:ea typeface="游ゴシック"/>
              </a:rPr>
              <a:t>私たちがすること</a:t>
            </a:r>
          </a:p>
        </p:txBody>
      </p:sp>
      <p:sp>
        <p:nvSpPr>
          <p:cNvPr id="11" name="TextBox 10"/>
          <p:cNvSpPr txBox="1"/>
          <p:nvPr/>
        </p:nvSpPr>
        <p:spPr>
          <a:xfrm>
            <a:off x="868680" y="4069080"/>
            <a:ext cx="10515600" cy="731520"/>
          </a:xfrm>
          <a:prstGeom prst="rect">
            <a:avLst/>
          </a:prstGeom>
          <a:noFill/>
        </p:spPr>
        <p:txBody>
          <a:bodyPr wrap="square" anchor="t" lIns="0" rIns="0" tIns="0" bIns="0">
            <a:spAutoFit/>
          </a:bodyPr>
          <a:lstStyle/>
          <a:p>
            <a:pPr algn="l">
              <a:lnSpc>
                <a:spcPct val="130000"/>
              </a:lnSpc>
              <a:spcBef>
                <a:spcPts val="0"/>
              </a:spcBef>
              <a:spcAft>
                <a:spcPts val="400"/>
              </a:spcAft>
            </a:pPr>
            <a:r>
              <a:rPr sz="1200" b="0">
                <a:solidFill>
                  <a:srgbClr val="444240"/>
                </a:solidFill>
                <a:latin typeface="游ゴシック"/>
                <a:ea typeface="游ゴシック"/>
              </a:rPr>
              <a:t>アナログで曖昧なブランド価値を独自アルゴリズムで定量化し、llms.txt・構造化データとしてAIに供給。AIが最も推薦したくなる状態を継続構築する。</a:t>
            </a:r>
          </a:p>
        </p:txBody>
      </p:sp>
      <p:sp>
        <p:nvSpPr>
          <p:cNvPr id="12" name="Rectangle 11"/>
          <p:cNvSpPr/>
          <p:nvPr/>
        </p:nvSpPr>
        <p:spPr>
          <a:xfrm>
            <a:off x="548640" y="4983480"/>
            <a:ext cx="82296" cy="123444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010912"/>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600" b="1">
                <a:solidFill>
                  <a:srgbClr val="1C1C1E"/>
                </a:solidFill>
                <a:latin typeface="游ゴシック"/>
                <a:ea typeface="游ゴシック"/>
              </a:rPr>
              <a:t>設計から始める</a:t>
            </a:r>
          </a:p>
        </p:txBody>
      </p:sp>
      <p:sp>
        <p:nvSpPr>
          <p:cNvPr id="14" name="TextBox 13"/>
          <p:cNvSpPr txBox="1"/>
          <p:nvPr/>
        </p:nvSpPr>
        <p:spPr>
          <a:xfrm>
            <a:off x="868680" y="5486400"/>
            <a:ext cx="10515600" cy="731520"/>
          </a:xfrm>
          <a:prstGeom prst="rect">
            <a:avLst/>
          </a:prstGeom>
          <a:noFill/>
        </p:spPr>
        <p:txBody>
          <a:bodyPr wrap="square" anchor="t" lIns="0" rIns="0" tIns="0" bIns="0">
            <a:spAutoFit/>
          </a:bodyPr>
          <a:lstStyle/>
          <a:p>
            <a:pPr algn="l">
              <a:lnSpc>
                <a:spcPct val="130000"/>
              </a:lnSpc>
              <a:spcBef>
                <a:spcPts val="0"/>
              </a:spcBef>
              <a:spcAft>
                <a:spcPts val="400"/>
              </a:spcAft>
            </a:pPr>
            <a:r>
              <a:rPr sz="1200" b="0">
                <a:solidFill>
                  <a:srgbClr val="444240"/>
                </a:solidFill>
                <a:latin typeface="游ゴシック"/>
                <a:ea typeface="游ゴシック"/>
              </a:rPr>
              <a:t>「とりあえずツール導入」ではなく、代表の設計思想を軸に、計測→情報供給→商談化までを一気通貫で設計する。</a:t>
            </a:r>
          </a:p>
        </p:txBody>
      </p:sp>
      <p:sp>
        <p:nvSpPr>
          <p:cNvPr id="15" name="TextBox 14"/>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16" name="TextBox 15"/>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MARKET OPPORTUNITY</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検索の主役がAIに移る「今」が、市場を取りに行く唯一のタイミング</a:t>
            </a:r>
          </a:p>
        </p:txBody>
      </p:sp>
      <p:sp>
        <p:nvSpPr>
          <p:cNvPr id="5" name="Rectangle 4"/>
          <p:cNvSpPr/>
          <p:nvPr/>
        </p:nvSpPr>
        <p:spPr>
          <a:xfrm>
            <a:off x="548640" y="1965960"/>
            <a:ext cx="5212080" cy="1298448"/>
          </a:xfrm>
          <a:prstGeom prst="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12264"/>
            <a:ext cx="2011680" cy="1005840"/>
          </a:xfrm>
          <a:prstGeom prst="rect">
            <a:avLst/>
          </a:prstGeom>
          <a:noFill/>
        </p:spPr>
        <p:txBody>
          <a:bodyPr wrap="square" anchor="ctr" lIns="0" rIns="0" tIns="0" bIns="0">
            <a:spAutoFit/>
          </a:bodyPr>
          <a:lstStyle/>
          <a:p>
            <a:pPr algn="l">
              <a:lnSpc>
                <a:spcPct val="106000"/>
              </a:lnSpc>
              <a:spcBef>
                <a:spcPts val="0"/>
              </a:spcBef>
              <a:spcAft>
                <a:spcPts val="400"/>
              </a:spcAft>
            </a:pPr>
            <a:r>
              <a:rPr sz="3000" b="1">
                <a:solidFill>
                  <a:srgbClr val="9C7C3C"/>
                </a:solidFill>
                <a:latin typeface="Georgia"/>
                <a:ea typeface="游ゴシック"/>
              </a:rPr>
              <a:t>50%+</a:t>
            </a:r>
          </a:p>
        </p:txBody>
      </p:sp>
      <p:sp>
        <p:nvSpPr>
          <p:cNvPr id="7" name="TextBox 6"/>
          <p:cNvSpPr txBox="1"/>
          <p:nvPr/>
        </p:nvSpPr>
        <p:spPr>
          <a:xfrm>
            <a:off x="2514600" y="2112264"/>
            <a:ext cx="3108960" cy="1051560"/>
          </a:xfrm>
          <a:prstGeom prst="rect">
            <a:avLst/>
          </a:prstGeom>
          <a:noFill/>
        </p:spPr>
        <p:txBody>
          <a:bodyPr wrap="square" anchor="ctr" lIns="0" rIns="0" tIns="0" bIns="0">
            <a:spAutoFit/>
          </a:bodyPr>
          <a:lstStyle/>
          <a:p>
            <a:pPr algn="l">
              <a:lnSpc>
                <a:spcPct val="124000"/>
              </a:lnSpc>
              <a:spcBef>
                <a:spcPts val="0"/>
              </a:spcBef>
              <a:spcAft>
                <a:spcPts val="400"/>
              </a:spcAft>
            </a:pPr>
            <a:r>
              <a:rPr sz="1100" b="0">
                <a:solidFill>
                  <a:srgbClr val="1C1C1E"/>
                </a:solidFill>
                <a:latin typeface="游ゴシック"/>
                <a:ea typeface="游ゴシック"/>
              </a:rPr>
              <a:t>検索する人のうちAI検索を利用する割合（2026年前後推定）</a:t>
            </a:r>
          </a:p>
        </p:txBody>
      </p:sp>
      <p:sp>
        <p:nvSpPr>
          <p:cNvPr id="8" name="Rectangle 7"/>
          <p:cNvSpPr/>
          <p:nvPr/>
        </p:nvSpPr>
        <p:spPr>
          <a:xfrm>
            <a:off x="548640" y="3429000"/>
            <a:ext cx="5212080" cy="1298448"/>
          </a:xfrm>
          <a:prstGeom prst="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75304"/>
            <a:ext cx="2011680" cy="1005840"/>
          </a:xfrm>
          <a:prstGeom prst="rect">
            <a:avLst/>
          </a:prstGeom>
          <a:noFill/>
        </p:spPr>
        <p:txBody>
          <a:bodyPr wrap="square" anchor="ctr" lIns="0" rIns="0" tIns="0" bIns="0">
            <a:spAutoFit/>
          </a:bodyPr>
          <a:lstStyle/>
          <a:p>
            <a:pPr algn="l">
              <a:lnSpc>
                <a:spcPct val="106000"/>
              </a:lnSpc>
              <a:spcBef>
                <a:spcPts val="0"/>
              </a:spcBef>
              <a:spcAft>
                <a:spcPts val="400"/>
              </a:spcAft>
            </a:pPr>
            <a:r>
              <a:rPr sz="3000" b="1">
                <a:solidFill>
                  <a:srgbClr val="9C7C3C"/>
                </a:solidFill>
                <a:latin typeface="Georgia"/>
                <a:ea typeface="游ゴシック"/>
              </a:rPr>
              <a:t>90%+</a:t>
            </a:r>
          </a:p>
        </p:txBody>
      </p:sp>
      <p:sp>
        <p:nvSpPr>
          <p:cNvPr id="10" name="TextBox 9"/>
          <p:cNvSpPr txBox="1"/>
          <p:nvPr/>
        </p:nvSpPr>
        <p:spPr>
          <a:xfrm>
            <a:off x="2514600" y="3575304"/>
            <a:ext cx="3108960" cy="1051560"/>
          </a:xfrm>
          <a:prstGeom prst="rect">
            <a:avLst/>
          </a:prstGeom>
          <a:noFill/>
        </p:spPr>
        <p:txBody>
          <a:bodyPr wrap="square" anchor="ctr" lIns="0" rIns="0" tIns="0" bIns="0">
            <a:spAutoFit/>
          </a:bodyPr>
          <a:lstStyle/>
          <a:p>
            <a:pPr algn="l">
              <a:lnSpc>
                <a:spcPct val="124000"/>
              </a:lnSpc>
              <a:spcBef>
                <a:spcPts val="0"/>
              </a:spcBef>
              <a:spcAft>
                <a:spcPts val="400"/>
              </a:spcAft>
            </a:pPr>
            <a:r>
              <a:rPr sz="1100" b="0">
                <a:solidFill>
                  <a:srgbClr val="1C1C1E"/>
                </a:solidFill>
                <a:latin typeface="游ゴシック"/>
                <a:ea typeface="游ゴシック"/>
              </a:rPr>
              <a:t>日本語圏サイトのAI検索未対策率（Search Engine Journal調査）</a:t>
            </a:r>
          </a:p>
        </p:txBody>
      </p:sp>
      <p:sp>
        <p:nvSpPr>
          <p:cNvPr id="11" name="Rectangle 10"/>
          <p:cNvSpPr/>
          <p:nvPr/>
        </p:nvSpPr>
        <p:spPr>
          <a:xfrm>
            <a:off x="548640" y="4892040"/>
            <a:ext cx="5212080" cy="1298448"/>
          </a:xfrm>
          <a:prstGeom prst="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038344"/>
            <a:ext cx="2011680" cy="1005840"/>
          </a:xfrm>
          <a:prstGeom prst="rect">
            <a:avLst/>
          </a:prstGeom>
          <a:noFill/>
        </p:spPr>
        <p:txBody>
          <a:bodyPr wrap="square" anchor="ctr" lIns="0" rIns="0" tIns="0" bIns="0">
            <a:spAutoFit/>
          </a:bodyPr>
          <a:lstStyle/>
          <a:p>
            <a:pPr algn="l">
              <a:lnSpc>
                <a:spcPct val="106000"/>
              </a:lnSpc>
              <a:spcBef>
                <a:spcPts val="0"/>
              </a:spcBef>
              <a:spcAft>
                <a:spcPts val="400"/>
              </a:spcAft>
            </a:pPr>
            <a:r>
              <a:rPr sz="3000" b="1">
                <a:solidFill>
                  <a:srgbClr val="9C7C3C"/>
                </a:solidFill>
                <a:latin typeface="Georgia"/>
                <a:ea typeface="游ゴシック"/>
              </a:rPr>
              <a:t>70%</a:t>
            </a:r>
          </a:p>
        </p:txBody>
      </p:sp>
      <p:sp>
        <p:nvSpPr>
          <p:cNvPr id="13" name="TextBox 12"/>
          <p:cNvSpPr txBox="1"/>
          <p:nvPr/>
        </p:nvSpPr>
        <p:spPr>
          <a:xfrm>
            <a:off x="2514600" y="5038344"/>
            <a:ext cx="3108960" cy="1051560"/>
          </a:xfrm>
          <a:prstGeom prst="rect">
            <a:avLst/>
          </a:prstGeom>
          <a:noFill/>
        </p:spPr>
        <p:txBody>
          <a:bodyPr wrap="square" anchor="ctr" lIns="0" rIns="0" tIns="0" bIns="0">
            <a:spAutoFit/>
          </a:bodyPr>
          <a:lstStyle/>
          <a:p>
            <a:pPr algn="l">
              <a:lnSpc>
                <a:spcPct val="124000"/>
              </a:lnSpc>
              <a:spcBef>
                <a:spcPts val="0"/>
              </a:spcBef>
              <a:spcAft>
                <a:spcPts val="400"/>
              </a:spcAft>
            </a:pPr>
            <a:r>
              <a:rPr sz="1100" b="0">
                <a:solidFill>
                  <a:srgbClr val="1C1C1E"/>
                </a:solidFill>
                <a:latin typeface="游ゴシック"/>
                <a:ea typeface="游ゴシック"/>
              </a:rPr>
              <a:t>BtoB購買決定がセールス接触前にデジタルで完結（Gartner調査）</a:t>
            </a:r>
          </a:p>
        </p:txBody>
      </p:sp>
      <p:sp>
        <p:nvSpPr>
          <p:cNvPr id="14" name="Rounded Rectangle 13"/>
          <p:cNvSpPr/>
          <p:nvPr/>
        </p:nvSpPr>
        <p:spPr>
          <a:xfrm>
            <a:off x="6126480" y="1874519"/>
            <a:ext cx="5513832" cy="411480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05740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市場規模（想定レンジ）</a:t>
            </a:r>
          </a:p>
        </p:txBody>
      </p:sp>
      <p:sp>
        <p:nvSpPr>
          <p:cNvPr id="16" name="Rounded Rectangle 15"/>
          <p:cNvSpPr/>
          <p:nvPr/>
        </p:nvSpPr>
        <p:spPr>
          <a:xfrm>
            <a:off x="6400800" y="2606040"/>
            <a:ext cx="5029200" cy="841248"/>
          </a:xfrm>
          <a:prstGeom prst="roundRect">
            <a:avLst/>
          </a:prstGeom>
          <a:solidFill>
            <a:srgbClr val="EFEADE"/>
          </a:solidFill>
          <a:ln w="15240">
            <a:solidFill>
              <a:srgbClr val="C5A0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679192"/>
            <a:ext cx="475488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C5A059"/>
                </a:solidFill>
                <a:latin typeface="Georgia"/>
                <a:ea typeface="游ゴシック"/>
              </a:rPr>
              <a:t>TAM　</a:t>
            </a:r>
            <a:r>
              <a:rPr sz="1200" b="1">
                <a:solidFill>
                  <a:srgbClr val="1C1C1E"/>
                </a:solidFill>
                <a:latin typeface="游ゴシック"/>
                <a:ea typeface="游ゴシック"/>
              </a:rPr>
              <a:t>約 3兆円規模</a:t>
            </a:r>
          </a:p>
        </p:txBody>
      </p:sp>
      <p:sp>
        <p:nvSpPr>
          <p:cNvPr id="18" name="TextBox 17"/>
          <p:cNvSpPr txBox="1"/>
          <p:nvPr/>
        </p:nvSpPr>
        <p:spPr>
          <a:xfrm>
            <a:off x="6583680" y="3063240"/>
            <a:ext cx="4754880" cy="320040"/>
          </a:xfrm>
          <a:prstGeom prst="rect">
            <a:avLst/>
          </a:prstGeom>
          <a:noFill/>
        </p:spPr>
        <p:txBody>
          <a:bodyPr wrap="square" anchor="t" lIns="0" rIns="0" tIns="0" bIns="0">
            <a:spAutoFit/>
          </a:bodyPr>
          <a:lstStyle/>
          <a:p>
            <a:pPr algn="l">
              <a:lnSpc>
                <a:spcPct val="106000"/>
              </a:lnSpc>
              <a:spcBef>
                <a:spcPts val="0"/>
              </a:spcBef>
              <a:spcAft>
                <a:spcPts val="400"/>
              </a:spcAft>
            </a:pPr>
            <a:r>
              <a:rPr sz="950" b="0">
                <a:solidFill>
                  <a:srgbClr val="767470"/>
                </a:solidFill>
                <a:latin typeface="游ゴシック"/>
                <a:ea typeface="游ゴシック"/>
              </a:rPr>
              <a:t>国内デジタルマーケティング市場</a:t>
            </a:r>
          </a:p>
        </p:txBody>
      </p:sp>
      <p:sp>
        <p:nvSpPr>
          <p:cNvPr id="19" name="Rounded Rectangle 18"/>
          <p:cNvSpPr/>
          <p:nvPr/>
        </p:nvSpPr>
        <p:spPr>
          <a:xfrm>
            <a:off x="6400800" y="3575304"/>
            <a:ext cx="3840480" cy="841248"/>
          </a:xfrm>
          <a:prstGeom prst="roundRect">
            <a:avLst/>
          </a:prstGeom>
          <a:solidFill>
            <a:srgbClr val="EFEADE"/>
          </a:solidFill>
          <a:ln w="15240">
            <a:solidFill>
              <a:srgbClr val="9C7C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648456"/>
            <a:ext cx="356616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9C7C3C"/>
                </a:solidFill>
                <a:latin typeface="Georgia"/>
                <a:ea typeface="游ゴシック"/>
              </a:rPr>
              <a:t>SAM　</a:t>
            </a:r>
            <a:r>
              <a:rPr sz="1200" b="1">
                <a:solidFill>
                  <a:srgbClr val="1C1C1E"/>
                </a:solidFill>
                <a:latin typeface="游ゴシック"/>
                <a:ea typeface="游ゴシック"/>
              </a:rPr>
              <a:t>2028年 数千億円へ</a:t>
            </a:r>
          </a:p>
        </p:txBody>
      </p:sp>
      <p:sp>
        <p:nvSpPr>
          <p:cNvPr id="21" name="TextBox 20"/>
          <p:cNvSpPr txBox="1"/>
          <p:nvPr/>
        </p:nvSpPr>
        <p:spPr>
          <a:xfrm>
            <a:off x="6583680" y="4032504"/>
            <a:ext cx="3566160" cy="320040"/>
          </a:xfrm>
          <a:prstGeom prst="rect">
            <a:avLst/>
          </a:prstGeom>
          <a:noFill/>
        </p:spPr>
        <p:txBody>
          <a:bodyPr wrap="square" anchor="t" lIns="0" rIns="0" tIns="0" bIns="0">
            <a:spAutoFit/>
          </a:bodyPr>
          <a:lstStyle/>
          <a:p>
            <a:pPr algn="l">
              <a:lnSpc>
                <a:spcPct val="106000"/>
              </a:lnSpc>
              <a:spcBef>
                <a:spcPts val="0"/>
              </a:spcBef>
              <a:spcAft>
                <a:spcPts val="400"/>
              </a:spcAft>
            </a:pPr>
            <a:r>
              <a:rPr sz="950" b="0">
                <a:solidFill>
                  <a:srgbClr val="767470"/>
                </a:solidFill>
                <a:latin typeface="游ゴシック"/>
                <a:ea typeface="游ゴシック"/>
              </a:rPr>
              <a:t>SEO/コンテンツ＋AI最適化領域</a:t>
            </a:r>
          </a:p>
        </p:txBody>
      </p:sp>
      <p:sp>
        <p:nvSpPr>
          <p:cNvPr id="22" name="Rounded Rectangle 21"/>
          <p:cNvSpPr/>
          <p:nvPr/>
        </p:nvSpPr>
        <p:spPr>
          <a:xfrm>
            <a:off x="6400800" y="4544568"/>
            <a:ext cx="2651760" cy="841248"/>
          </a:xfrm>
          <a:prstGeom prst="roundRect">
            <a:avLst/>
          </a:prstGeom>
          <a:solidFill>
            <a:srgbClr val="F7F3EB"/>
          </a:solidFill>
          <a:ln w="15240">
            <a:solidFill>
              <a:srgbClr val="1C1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617720"/>
            <a:ext cx="237744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Georgia"/>
                <a:ea typeface="游ゴシック"/>
              </a:rPr>
              <a:t>SOM　</a:t>
            </a:r>
            <a:r>
              <a:rPr sz="1200" b="1">
                <a:solidFill>
                  <a:srgbClr val="1C1C1E"/>
                </a:solidFill>
                <a:latin typeface="游ゴシック"/>
                <a:ea typeface="游ゴシック"/>
              </a:rPr>
              <a:t>数十〜数百億円</a:t>
            </a:r>
          </a:p>
        </p:txBody>
      </p:sp>
      <p:sp>
        <p:nvSpPr>
          <p:cNvPr id="24" name="TextBox 23"/>
          <p:cNvSpPr txBox="1"/>
          <p:nvPr/>
        </p:nvSpPr>
        <p:spPr>
          <a:xfrm>
            <a:off x="6583680" y="5001768"/>
            <a:ext cx="2377440" cy="320040"/>
          </a:xfrm>
          <a:prstGeom prst="rect">
            <a:avLst/>
          </a:prstGeom>
          <a:noFill/>
        </p:spPr>
        <p:txBody>
          <a:bodyPr wrap="square" anchor="t" lIns="0" rIns="0" tIns="0" bIns="0">
            <a:spAutoFit/>
          </a:bodyPr>
          <a:lstStyle/>
          <a:p>
            <a:pPr algn="l">
              <a:lnSpc>
                <a:spcPct val="106000"/>
              </a:lnSpc>
              <a:spcBef>
                <a:spcPts val="0"/>
              </a:spcBef>
              <a:spcAft>
                <a:spcPts val="400"/>
              </a:spcAft>
            </a:pPr>
            <a:r>
              <a:rPr sz="950" b="0">
                <a:solidFill>
                  <a:srgbClr val="767470"/>
                </a:solidFill>
                <a:latin typeface="游ゴシック"/>
                <a:ea typeface="游ゴシック"/>
              </a:rPr>
              <a:t>AI検索最適化・初期獲得可能市場</a:t>
            </a:r>
          </a:p>
        </p:txBody>
      </p:sp>
      <p:sp>
        <p:nvSpPr>
          <p:cNvPr id="25" name="TextBox 24"/>
          <p:cNvSpPr txBox="1"/>
          <p:nvPr/>
        </p:nvSpPr>
        <p:spPr>
          <a:xfrm>
            <a:off x="6400800" y="5532120"/>
            <a:ext cx="5120640" cy="36576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 各種公開統計を基にした想定レンジ。実数は一次情報での確認が必要。</a:t>
            </a:r>
          </a:p>
        </p:txBody>
      </p:sp>
      <p:sp>
        <p:nvSpPr>
          <p:cNvPr id="26" name="TextBox 25"/>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27" name="TextBox 26"/>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PROBLEM</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AI検索時代の勝敗は「引用されるか」で決まるのに、打ち手がない</a:t>
            </a:r>
          </a:p>
        </p:txBody>
      </p:sp>
      <p:sp>
        <p:nvSpPr>
          <p:cNvPr id="5" name="Rounded Rectangle 4"/>
          <p:cNvSpPr/>
          <p:nvPr/>
        </p:nvSpPr>
        <p:spPr>
          <a:xfrm>
            <a:off x="548640" y="1965960"/>
            <a:ext cx="5486400" cy="17373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6712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IR・情報の誤引用リスク</a:t>
            </a:r>
          </a:p>
        </p:txBody>
      </p:sp>
      <p:sp>
        <p:nvSpPr>
          <p:cNvPr id="8" name="TextBox 7"/>
          <p:cNvSpPr txBox="1"/>
          <p:nvPr/>
        </p:nvSpPr>
        <p:spPr>
          <a:xfrm>
            <a:off x="822959" y="2679191"/>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AIが公式資料ではなく競合PRや古い記事を根拠に回答。投資家・取引先に誤情報が拡散する「IR情報逆転現象」。</a:t>
            </a:r>
          </a:p>
        </p:txBody>
      </p:sp>
      <p:sp>
        <p:nvSpPr>
          <p:cNvPr id="9" name="Rounded Rectangle 8"/>
          <p:cNvSpPr/>
          <p:nvPr/>
        </p:nvSpPr>
        <p:spPr>
          <a:xfrm>
            <a:off x="6153912" y="1965960"/>
            <a:ext cx="5486400" cy="17373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3912" y="196596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216712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計測ツールで止まる既存策</a:t>
            </a:r>
          </a:p>
        </p:txBody>
      </p:sp>
      <p:sp>
        <p:nvSpPr>
          <p:cNvPr id="12" name="TextBox 11"/>
          <p:cNvSpPr txBox="1"/>
          <p:nvPr/>
        </p:nvSpPr>
        <p:spPr>
          <a:xfrm>
            <a:off x="6428231" y="2679191"/>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otterly等の海外ツールは引用状況を後追いで「可視化」するだけ。Google AI Overview偏重で日本語精度に課題。</a:t>
            </a:r>
          </a:p>
        </p:txBody>
      </p:sp>
      <p:sp>
        <p:nvSpPr>
          <p:cNvPr id="13" name="Rounded Rectangle 12"/>
          <p:cNvSpPr/>
          <p:nvPr/>
        </p:nvSpPr>
        <p:spPr>
          <a:xfrm>
            <a:off x="548640" y="3886200"/>
            <a:ext cx="5486400" cy="17373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88620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機械可読でない情報資産</a:t>
            </a:r>
          </a:p>
        </p:txBody>
      </p:sp>
      <p:sp>
        <p:nvSpPr>
          <p:cNvPr id="16" name="TextBox 15"/>
          <p:cNvSpPr txBox="1"/>
          <p:nvPr/>
        </p:nvSpPr>
        <p:spPr>
          <a:xfrm>
            <a:off x="822959" y="4599432"/>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IR・製品情報はPDF・スライド中心で、AIが取得できない。価値ある情報ほどAIに届いていない。</a:t>
            </a:r>
          </a:p>
        </p:txBody>
      </p:sp>
      <p:sp>
        <p:nvSpPr>
          <p:cNvPr id="17" name="Rounded Rectangle 16"/>
          <p:cNvSpPr/>
          <p:nvPr/>
        </p:nvSpPr>
        <p:spPr>
          <a:xfrm>
            <a:off x="6153912" y="3886200"/>
            <a:ext cx="5486400" cy="17373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3912" y="388620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1" y="408736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属人的で継続できない</a:t>
            </a:r>
          </a:p>
        </p:txBody>
      </p:sp>
      <p:sp>
        <p:nvSpPr>
          <p:cNvPr id="20" name="TextBox 19"/>
          <p:cNvSpPr txBox="1"/>
          <p:nvPr/>
        </p:nvSpPr>
        <p:spPr>
          <a:xfrm>
            <a:off x="6428231" y="4599432"/>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AIモデルもアルゴリズムも高速に変化。人手での対応は追従できず、一度作って終わりになりがち。</a:t>
            </a:r>
          </a:p>
        </p:txBody>
      </p:sp>
      <p:sp>
        <p:nvSpPr>
          <p:cNvPr id="21" name="TextBox 20"/>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22" name="TextBox 2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SOLUTION — HackⅡ</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タグ1行で導入、AIへの引用を全自動で作り続けるインフラ「HackⅡ」</a:t>
            </a:r>
          </a:p>
        </p:txBody>
      </p:sp>
      <p:sp>
        <p:nvSpPr>
          <p:cNvPr id="5" name="TextBox 4"/>
          <p:cNvSpPr txBox="1"/>
          <p:nvPr/>
        </p:nvSpPr>
        <p:spPr>
          <a:xfrm>
            <a:off x="548640" y="1554480"/>
            <a:ext cx="11064240" cy="457200"/>
          </a:xfrm>
          <a:prstGeom prst="rect">
            <a:avLst/>
          </a:prstGeom>
          <a:noFill/>
        </p:spPr>
        <p:txBody>
          <a:bodyPr wrap="square" anchor="t" lIns="0" rIns="0" tIns="0" bIns="0">
            <a:spAutoFit/>
          </a:bodyPr>
          <a:lstStyle/>
          <a:p>
            <a:pPr algn="l">
              <a:lnSpc>
                <a:spcPct val="106000"/>
              </a:lnSpc>
              <a:spcBef>
                <a:spcPts val="0"/>
              </a:spcBef>
              <a:spcAft>
                <a:spcPts val="400"/>
              </a:spcAft>
            </a:pPr>
            <a:r>
              <a:rPr sz="1250" b="0">
                <a:solidFill>
                  <a:srgbClr val="767470"/>
                </a:solidFill>
                <a:latin typeface="游ゴシック"/>
                <a:ea typeface="游ゴシック"/>
              </a:rPr>
              <a:t>「御社の情報を、AIの脳内に直接叩き込む」</a:t>
            </a:r>
          </a:p>
        </p:txBody>
      </p:sp>
      <p:sp>
        <p:nvSpPr>
          <p:cNvPr id="6" name="Rounded Rectangle 5"/>
          <p:cNvSpPr/>
          <p:nvPr/>
        </p:nvSpPr>
        <p:spPr>
          <a:xfrm>
            <a:off x="548640" y="2286000"/>
            <a:ext cx="3611880" cy="3383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86000"/>
            <a:ext cx="3611880" cy="64008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95728"/>
            <a:ext cx="3611880" cy="457200"/>
          </a:xfrm>
          <a:prstGeom prst="rect">
            <a:avLst/>
          </a:prstGeom>
          <a:noFill/>
        </p:spPr>
        <p:txBody>
          <a:bodyPr wrap="square" anchor="t" lIns="0" rIns="0" tIns="0" bIns="0">
            <a:spAutoFit/>
          </a:bodyPr>
          <a:lstStyle/>
          <a:p>
            <a:pPr algn="ctr">
              <a:lnSpc>
                <a:spcPct val="106000"/>
              </a:lnSpc>
              <a:spcBef>
                <a:spcPts val="0"/>
              </a:spcBef>
              <a:spcAft>
                <a:spcPts val="400"/>
              </a:spcAft>
            </a:pPr>
            <a:r>
              <a:rPr sz="2000" b="1">
                <a:solidFill>
                  <a:srgbClr val="C5A059"/>
                </a:solidFill>
                <a:latin typeface="游ゴシック"/>
                <a:ea typeface="游ゴシック"/>
              </a:rPr>
              <a:t>ハカル</a:t>
            </a:r>
            <a:r>
              <a:rPr sz="1200" b="0">
                <a:solidFill>
                  <a:srgbClr val="FFFFFF"/>
                </a:solidFill>
                <a:latin typeface="游ゴシック"/>
                <a:ea typeface="游ゴシック"/>
              </a:rPr>
              <a:t>（測る）</a:t>
            </a:r>
          </a:p>
        </p:txBody>
      </p:sp>
      <p:sp>
        <p:nvSpPr>
          <p:cNvPr id="9" name="TextBox 8"/>
          <p:cNvSpPr txBox="1"/>
          <p:nvPr/>
        </p:nvSpPr>
        <p:spPr>
          <a:xfrm>
            <a:off x="804672" y="3127248"/>
            <a:ext cx="3099816" cy="54864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1C1C1E"/>
                </a:solidFill>
                <a:latin typeface="游ゴシック"/>
                <a:ea typeface="游ゴシック"/>
              </a:rPr>
              <a:t>AI引用モニタリング</a:t>
            </a:r>
          </a:p>
        </p:txBody>
      </p:sp>
      <p:sp>
        <p:nvSpPr>
          <p:cNvPr id="10" name="Rectangle 9"/>
          <p:cNvSpPr/>
          <p:nvPr/>
        </p:nvSpPr>
        <p:spPr>
          <a:xfrm>
            <a:off x="1645919" y="3730752"/>
            <a:ext cx="1417320" cy="18288"/>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886200"/>
            <a:ext cx="3099816" cy="1554480"/>
          </a:xfrm>
          <a:prstGeom prst="rect">
            <a:avLst/>
          </a:prstGeom>
          <a:noFill/>
        </p:spPr>
        <p:txBody>
          <a:bodyPr wrap="square" anchor="t" lIns="0" rIns="0" tIns="0" bIns="0">
            <a:spAutoFit/>
          </a:bodyPr>
          <a:lstStyle/>
          <a:p>
            <a:pPr algn="ctr">
              <a:lnSpc>
                <a:spcPct val="130000"/>
              </a:lnSpc>
              <a:spcBef>
                <a:spcPts val="0"/>
              </a:spcBef>
              <a:spcAft>
                <a:spcPts val="400"/>
              </a:spcAft>
            </a:pPr>
            <a:r>
              <a:rPr sz="1150" b="0">
                <a:solidFill>
                  <a:srgbClr val="444240"/>
                </a:solidFill>
                <a:latin typeface="游ゴシック"/>
                <a:ea typeface="游ゴシック"/>
              </a:rPr>
              <a:t>5モデル横断で引用シェアを可視化。100クエリを約30分で処理し、競合との相対シェアを数値化。</a:t>
            </a:r>
          </a:p>
        </p:txBody>
      </p:sp>
      <p:sp>
        <p:nvSpPr>
          <p:cNvPr id="12" name="Rounded Rectangle 11"/>
          <p:cNvSpPr/>
          <p:nvPr/>
        </p:nvSpPr>
        <p:spPr>
          <a:xfrm>
            <a:off x="4334256" y="2286000"/>
            <a:ext cx="3611880" cy="3383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4256" y="2286000"/>
            <a:ext cx="3611880" cy="64008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6" y="2395728"/>
            <a:ext cx="3611880" cy="457200"/>
          </a:xfrm>
          <a:prstGeom prst="rect">
            <a:avLst/>
          </a:prstGeom>
          <a:noFill/>
        </p:spPr>
        <p:txBody>
          <a:bodyPr wrap="square" anchor="t" lIns="0" rIns="0" tIns="0" bIns="0">
            <a:spAutoFit/>
          </a:bodyPr>
          <a:lstStyle/>
          <a:p>
            <a:pPr algn="ctr">
              <a:lnSpc>
                <a:spcPct val="106000"/>
              </a:lnSpc>
              <a:spcBef>
                <a:spcPts val="0"/>
              </a:spcBef>
              <a:spcAft>
                <a:spcPts val="400"/>
              </a:spcAft>
            </a:pPr>
            <a:r>
              <a:rPr sz="2000" b="1">
                <a:solidFill>
                  <a:srgbClr val="C5A059"/>
                </a:solidFill>
                <a:latin typeface="游ゴシック"/>
                <a:ea typeface="游ゴシック"/>
              </a:rPr>
              <a:t>ツクル</a:t>
            </a:r>
            <a:r>
              <a:rPr sz="1200" b="0">
                <a:solidFill>
                  <a:srgbClr val="FFFFFF"/>
                </a:solidFill>
                <a:latin typeface="游ゴシック"/>
                <a:ea typeface="游ゴシック"/>
              </a:rPr>
              <a:t>（創る）</a:t>
            </a:r>
          </a:p>
        </p:txBody>
      </p:sp>
      <p:sp>
        <p:nvSpPr>
          <p:cNvPr id="15" name="TextBox 14"/>
          <p:cNvSpPr txBox="1"/>
          <p:nvPr/>
        </p:nvSpPr>
        <p:spPr>
          <a:xfrm>
            <a:off x="4590288" y="3127248"/>
            <a:ext cx="3099816" cy="54864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1C1C1E"/>
                </a:solidFill>
                <a:latin typeface="游ゴシック"/>
                <a:ea typeface="游ゴシック"/>
              </a:rPr>
              <a:t>情報供給インフラ（特許出願中）</a:t>
            </a:r>
          </a:p>
        </p:txBody>
      </p:sp>
      <p:sp>
        <p:nvSpPr>
          <p:cNvPr id="16" name="Rectangle 15"/>
          <p:cNvSpPr/>
          <p:nvPr/>
        </p:nvSpPr>
        <p:spPr>
          <a:xfrm>
            <a:off x="5431536" y="3730752"/>
            <a:ext cx="1417320" cy="18288"/>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3886200"/>
            <a:ext cx="3099816" cy="1554480"/>
          </a:xfrm>
          <a:prstGeom prst="rect">
            <a:avLst/>
          </a:prstGeom>
          <a:noFill/>
        </p:spPr>
        <p:txBody>
          <a:bodyPr wrap="square" anchor="t" lIns="0" rIns="0" tIns="0" bIns="0">
            <a:spAutoFit/>
          </a:bodyPr>
          <a:lstStyle/>
          <a:p>
            <a:pPr algn="ctr">
              <a:lnSpc>
                <a:spcPct val="130000"/>
              </a:lnSpc>
              <a:spcBef>
                <a:spcPts val="0"/>
              </a:spcBef>
              <a:spcAft>
                <a:spcPts val="400"/>
              </a:spcAft>
            </a:pPr>
            <a:r>
              <a:rPr sz="1150" b="0">
                <a:solidFill>
                  <a:srgbClr val="444240"/>
                </a:solidFill>
                <a:latin typeface="游ゴシック"/>
                <a:ea typeface="游ゴシック"/>
              </a:rPr>
              <a:t>llms.txt・構造化データを自動生成・自動更新。AIに届く情報を継続的に整備し続ける。</a:t>
            </a:r>
          </a:p>
        </p:txBody>
      </p:sp>
      <p:sp>
        <p:nvSpPr>
          <p:cNvPr id="18" name="Rounded Rectangle 17"/>
          <p:cNvSpPr/>
          <p:nvPr/>
        </p:nvSpPr>
        <p:spPr>
          <a:xfrm>
            <a:off x="8119872" y="2286000"/>
            <a:ext cx="3611880" cy="3383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2286000"/>
            <a:ext cx="3611880" cy="64008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2" y="2395728"/>
            <a:ext cx="3611880" cy="457200"/>
          </a:xfrm>
          <a:prstGeom prst="rect">
            <a:avLst/>
          </a:prstGeom>
          <a:noFill/>
        </p:spPr>
        <p:txBody>
          <a:bodyPr wrap="square" anchor="t" lIns="0" rIns="0" tIns="0" bIns="0">
            <a:spAutoFit/>
          </a:bodyPr>
          <a:lstStyle/>
          <a:p>
            <a:pPr algn="ctr">
              <a:lnSpc>
                <a:spcPct val="106000"/>
              </a:lnSpc>
              <a:spcBef>
                <a:spcPts val="0"/>
              </a:spcBef>
              <a:spcAft>
                <a:spcPts val="400"/>
              </a:spcAft>
            </a:pPr>
            <a:r>
              <a:rPr sz="2000" b="1">
                <a:solidFill>
                  <a:srgbClr val="C5A059"/>
                </a:solidFill>
                <a:latin typeface="游ゴシック"/>
                <a:ea typeface="游ゴシック"/>
              </a:rPr>
              <a:t>ツナグ</a:t>
            </a:r>
            <a:r>
              <a:rPr sz="1200" b="0">
                <a:solidFill>
                  <a:srgbClr val="FFFFFF"/>
                </a:solidFill>
                <a:latin typeface="游ゴシック"/>
                <a:ea typeface="游ゴシック"/>
              </a:rPr>
              <a:t>（繋ぐ）</a:t>
            </a:r>
          </a:p>
        </p:txBody>
      </p:sp>
      <p:sp>
        <p:nvSpPr>
          <p:cNvPr id="21" name="TextBox 20"/>
          <p:cNvSpPr txBox="1"/>
          <p:nvPr/>
        </p:nvSpPr>
        <p:spPr>
          <a:xfrm>
            <a:off x="8375904" y="3127248"/>
            <a:ext cx="3099816" cy="54864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1C1C1E"/>
                </a:solidFill>
                <a:latin typeface="游ゴシック"/>
                <a:ea typeface="游ゴシック"/>
              </a:rPr>
              <a:t>MQL顧客アプローチ</a:t>
            </a:r>
          </a:p>
        </p:txBody>
      </p:sp>
      <p:sp>
        <p:nvSpPr>
          <p:cNvPr id="22" name="Rectangle 21"/>
          <p:cNvSpPr/>
          <p:nvPr/>
        </p:nvSpPr>
        <p:spPr>
          <a:xfrm>
            <a:off x="9217152" y="3730752"/>
            <a:ext cx="1417320" cy="18288"/>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4" y="3886200"/>
            <a:ext cx="3099816" cy="1554480"/>
          </a:xfrm>
          <a:prstGeom prst="rect">
            <a:avLst/>
          </a:prstGeom>
          <a:noFill/>
        </p:spPr>
        <p:txBody>
          <a:bodyPr wrap="square" anchor="t" lIns="0" rIns="0" tIns="0" bIns="0">
            <a:spAutoFit/>
          </a:bodyPr>
          <a:lstStyle/>
          <a:p>
            <a:pPr algn="ctr">
              <a:lnSpc>
                <a:spcPct val="130000"/>
              </a:lnSpc>
              <a:spcBef>
                <a:spcPts val="0"/>
              </a:spcBef>
              <a:spcAft>
                <a:spcPts val="400"/>
              </a:spcAft>
            </a:pPr>
            <a:r>
              <a:rPr sz="1150" b="0">
                <a:solidFill>
                  <a:srgbClr val="444240"/>
                </a:solidFill>
                <a:latin typeface="游ゴシック"/>
                <a:ea typeface="游ゴシック"/>
              </a:rPr>
              <a:t>引用で終わらせず商談へ。AI経由リードの成約率は通常流入比4.4倍。</a:t>
            </a:r>
          </a:p>
        </p:txBody>
      </p:sp>
      <p:sp>
        <p:nvSpPr>
          <p:cNvPr id="24" name="TextBox 23"/>
          <p:cNvSpPr txBox="1"/>
          <p:nvPr/>
        </p:nvSpPr>
        <p:spPr>
          <a:xfrm>
            <a:off x="548640" y="5897880"/>
            <a:ext cx="10972800" cy="365760"/>
          </a:xfrm>
          <a:prstGeom prst="rect">
            <a:avLst/>
          </a:prstGeom>
          <a:noFill/>
        </p:spPr>
        <p:txBody>
          <a:bodyPr wrap="square" anchor="t" lIns="0" rIns="0" tIns="0" bIns="0">
            <a:spAutoFit/>
          </a:bodyPr>
          <a:lstStyle/>
          <a:p>
            <a:pPr algn="l">
              <a:lnSpc>
                <a:spcPct val="106000"/>
              </a:lnSpc>
              <a:spcBef>
                <a:spcPts val="0"/>
              </a:spcBef>
              <a:spcAft>
                <a:spcPts val="400"/>
              </a:spcAft>
            </a:pPr>
            <a:r>
              <a:rPr sz="1050" b="0">
                <a:solidFill>
                  <a:srgbClr val="767470"/>
                </a:solidFill>
                <a:latin typeface="游ゴシック"/>
                <a:ea typeface="游ゴシック"/>
              </a:rPr>
              <a:t>料金：Starter ¥9,800〜／Pro ¥29,800〜／Enterprise ¥98,000〜／Platform ¥1,500,000〜（月額・税込）　初期Web開発費 無料（6ヶ月契約前提）</a:t>
            </a:r>
          </a:p>
        </p:txBody>
      </p:sp>
      <p:sp>
        <p:nvSpPr>
          <p:cNvPr id="25" name="TextBox 24"/>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26" name="TextBox 25"/>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TECHNOLOGY &amp; MOAT</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3層アーキテクチャと「動的更新エンジン」が模倣困難な堀をつくる</a:t>
            </a:r>
          </a:p>
        </p:txBody>
      </p:sp>
      <p:sp>
        <p:nvSpPr>
          <p:cNvPr id="5" name="Rounded Rectangle 4"/>
          <p:cNvSpPr/>
          <p:nvPr/>
        </p:nvSpPr>
        <p:spPr>
          <a:xfrm>
            <a:off x="548640" y="2011680"/>
            <a:ext cx="11091672" cy="1207008"/>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1737360" cy="822960"/>
          </a:xfrm>
          <a:prstGeom prst="rect">
            <a:avLst/>
          </a:prstGeom>
          <a:noFill/>
        </p:spPr>
        <p:txBody>
          <a:bodyPr wrap="square" anchor="ctr" lIns="0" rIns="0" tIns="0" bIns="0">
            <a:spAutoFit/>
          </a:bodyPr>
          <a:lstStyle/>
          <a:p>
            <a:pPr algn="l">
              <a:lnSpc>
                <a:spcPct val="106000"/>
              </a:lnSpc>
              <a:spcBef>
                <a:spcPts val="0"/>
              </a:spcBef>
              <a:spcAft>
                <a:spcPts val="400"/>
              </a:spcAft>
            </a:pPr>
            <a:r>
              <a:rPr sz="1500" b="1">
                <a:solidFill>
                  <a:srgbClr val="9C7C3C"/>
                </a:solidFill>
                <a:latin typeface="Georgia"/>
                <a:ea typeface="游ゴシック"/>
              </a:rPr>
              <a:t>Layer 01</a:t>
            </a:r>
          </a:p>
        </p:txBody>
      </p:sp>
      <p:sp>
        <p:nvSpPr>
          <p:cNvPr id="7" name="TextBox 6"/>
          <p:cNvSpPr txBox="1"/>
          <p:nvPr/>
        </p:nvSpPr>
        <p:spPr>
          <a:xfrm>
            <a:off x="2651760" y="2157984"/>
            <a:ext cx="3017520" cy="914400"/>
          </a:xfrm>
          <a:prstGeom prst="rect">
            <a:avLst/>
          </a:prstGeom>
          <a:noFill/>
        </p:spPr>
        <p:txBody>
          <a:bodyPr wrap="square" anchor="ctr"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データ取得</a:t>
            </a:r>
          </a:p>
        </p:txBody>
      </p:sp>
      <p:sp>
        <p:nvSpPr>
          <p:cNvPr id="8" name="TextBox 7"/>
          <p:cNvSpPr txBox="1"/>
          <p:nvPr/>
        </p:nvSpPr>
        <p:spPr>
          <a:xfrm>
            <a:off x="5760720" y="2157984"/>
            <a:ext cx="5623560" cy="914400"/>
          </a:xfrm>
          <a:prstGeom prst="rect">
            <a:avLst/>
          </a:prstGeom>
          <a:noFill/>
        </p:spPr>
        <p:txBody>
          <a:bodyPr wrap="square" anchor="ctr" lIns="0" rIns="0" tIns="0" bIns="0">
            <a:spAutoFit/>
          </a:bodyPr>
          <a:lstStyle/>
          <a:p>
            <a:pPr algn="l">
              <a:lnSpc>
                <a:spcPct val="124000"/>
              </a:lnSpc>
              <a:spcBef>
                <a:spcPts val="0"/>
              </a:spcBef>
              <a:spcAft>
                <a:spcPts val="400"/>
              </a:spcAft>
            </a:pPr>
            <a:r>
              <a:rPr sz="1150" b="0">
                <a:solidFill>
                  <a:srgbClr val="444240"/>
                </a:solidFill>
                <a:latin typeface="游ゴシック"/>
                <a:ea typeface="游ゴシック"/>
              </a:rPr>
              <a:t>6層マルチネットワーク。Google検索等の外部API群からAI検索動態データを収集。</a:t>
            </a:r>
          </a:p>
        </p:txBody>
      </p:sp>
      <p:sp>
        <p:nvSpPr>
          <p:cNvPr id="9" name="Rounded Rectangle 8"/>
          <p:cNvSpPr/>
          <p:nvPr/>
        </p:nvSpPr>
        <p:spPr>
          <a:xfrm>
            <a:off x="548640" y="3383280"/>
            <a:ext cx="11091672" cy="1207008"/>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66160"/>
            <a:ext cx="1737360" cy="822960"/>
          </a:xfrm>
          <a:prstGeom prst="rect">
            <a:avLst/>
          </a:prstGeom>
          <a:noFill/>
        </p:spPr>
        <p:txBody>
          <a:bodyPr wrap="square" anchor="ctr" lIns="0" rIns="0" tIns="0" bIns="0">
            <a:spAutoFit/>
          </a:bodyPr>
          <a:lstStyle/>
          <a:p>
            <a:pPr algn="l">
              <a:lnSpc>
                <a:spcPct val="106000"/>
              </a:lnSpc>
              <a:spcBef>
                <a:spcPts val="0"/>
              </a:spcBef>
              <a:spcAft>
                <a:spcPts val="400"/>
              </a:spcAft>
            </a:pPr>
            <a:r>
              <a:rPr sz="1500" b="1">
                <a:solidFill>
                  <a:srgbClr val="9C7C3C"/>
                </a:solidFill>
                <a:latin typeface="Georgia"/>
                <a:ea typeface="游ゴシック"/>
              </a:rPr>
              <a:t>Layer 02</a:t>
            </a:r>
          </a:p>
        </p:txBody>
      </p:sp>
      <p:sp>
        <p:nvSpPr>
          <p:cNvPr id="11" name="TextBox 10"/>
          <p:cNvSpPr txBox="1"/>
          <p:nvPr/>
        </p:nvSpPr>
        <p:spPr>
          <a:xfrm>
            <a:off x="2651760" y="3529584"/>
            <a:ext cx="3017520" cy="914400"/>
          </a:xfrm>
          <a:prstGeom prst="rect">
            <a:avLst/>
          </a:prstGeom>
          <a:noFill/>
        </p:spPr>
        <p:txBody>
          <a:bodyPr wrap="square" anchor="ctr"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処理エンジン</a:t>
            </a:r>
          </a:p>
        </p:txBody>
      </p:sp>
      <p:sp>
        <p:nvSpPr>
          <p:cNvPr id="12" name="TextBox 11"/>
          <p:cNvSpPr txBox="1"/>
          <p:nvPr/>
        </p:nvSpPr>
        <p:spPr>
          <a:xfrm>
            <a:off x="5760720" y="3529584"/>
            <a:ext cx="5623560" cy="914400"/>
          </a:xfrm>
          <a:prstGeom prst="rect">
            <a:avLst/>
          </a:prstGeom>
          <a:noFill/>
        </p:spPr>
        <p:txBody>
          <a:bodyPr wrap="square" anchor="ctr" lIns="0" rIns="0" tIns="0" bIns="0">
            <a:spAutoFit/>
          </a:bodyPr>
          <a:lstStyle/>
          <a:p>
            <a:pPr algn="l">
              <a:lnSpc>
                <a:spcPct val="124000"/>
              </a:lnSpc>
              <a:spcBef>
                <a:spcPts val="0"/>
              </a:spcBef>
              <a:spcAft>
                <a:spcPts val="400"/>
              </a:spcAft>
            </a:pPr>
            <a:r>
              <a:rPr sz="1150" b="0">
                <a:solidFill>
                  <a:srgbClr val="444240"/>
                </a:solidFill>
                <a:latin typeface="游ゴシック"/>
                <a:ea typeface="游ゴシック"/>
              </a:rPr>
              <a:t>独自アルゴリズムで5つの主要AIモデルへ非同期APIクエリを同時発行し最適化。</a:t>
            </a:r>
          </a:p>
        </p:txBody>
      </p:sp>
      <p:sp>
        <p:nvSpPr>
          <p:cNvPr id="13" name="Rounded Rectangle 12"/>
          <p:cNvSpPr/>
          <p:nvPr/>
        </p:nvSpPr>
        <p:spPr>
          <a:xfrm>
            <a:off x="548640" y="4754880"/>
            <a:ext cx="11091672" cy="1207008"/>
          </a:xfrm>
          <a:prstGeom prst="roundRect">
            <a:avLst/>
          </a:prstGeom>
          <a:solidFill>
            <a:srgbClr val="101012"/>
          </a:solidFill>
          <a:ln w="17780">
            <a:solidFill>
              <a:srgbClr val="C5A0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37760"/>
            <a:ext cx="1737360" cy="822960"/>
          </a:xfrm>
          <a:prstGeom prst="rect">
            <a:avLst/>
          </a:prstGeom>
          <a:noFill/>
        </p:spPr>
        <p:txBody>
          <a:bodyPr wrap="square" anchor="ctr" lIns="0" rIns="0" tIns="0" bIns="0">
            <a:spAutoFit/>
          </a:bodyPr>
          <a:lstStyle/>
          <a:p>
            <a:pPr algn="l">
              <a:lnSpc>
                <a:spcPct val="106000"/>
              </a:lnSpc>
              <a:spcBef>
                <a:spcPts val="0"/>
              </a:spcBef>
              <a:spcAft>
                <a:spcPts val="400"/>
              </a:spcAft>
            </a:pPr>
            <a:r>
              <a:rPr sz="1500" b="1">
                <a:solidFill>
                  <a:srgbClr val="C5A059"/>
                </a:solidFill>
                <a:latin typeface="Georgia"/>
                <a:ea typeface="游ゴシック"/>
              </a:rPr>
              <a:t>Layer 03</a:t>
            </a:r>
          </a:p>
        </p:txBody>
      </p:sp>
      <p:sp>
        <p:nvSpPr>
          <p:cNvPr id="15" name="TextBox 14"/>
          <p:cNvSpPr txBox="1"/>
          <p:nvPr/>
        </p:nvSpPr>
        <p:spPr>
          <a:xfrm>
            <a:off x="2651760" y="4901184"/>
            <a:ext cx="3017520" cy="914400"/>
          </a:xfrm>
          <a:prstGeom prst="rect">
            <a:avLst/>
          </a:prstGeom>
          <a:noFill/>
        </p:spPr>
        <p:txBody>
          <a:bodyPr wrap="square" anchor="ctr" lIns="0" rIns="0" tIns="0" bIns="0">
            <a:spAutoFit/>
          </a:bodyPr>
          <a:lstStyle/>
          <a:p>
            <a:pPr algn="l">
              <a:lnSpc>
                <a:spcPct val="110000"/>
              </a:lnSpc>
              <a:spcBef>
                <a:spcPts val="0"/>
              </a:spcBef>
              <a:spcAft>
                <a:spcPts val="400"/>
              </a:spcAft>
            </a:pPr>
            <a:r>
              <a:rPr sz="1450" b="1">
                <a:solidFill>
                  <a:srgbClr val="FFFFFF"/>
                </a:solidFill>
                <a:latin typeface="游ゴシック"/>
                <a:ea typeface="游ゴシック"/>
              </a:rPr>
              <a:t>動的更新エンジン（特許出願中）</a:t>
            </a:r>
          </a:p>
        </p:txBody>
      </p:sp>
      <p:sp>
        <p:nvSpPr>
          <p:cNvPr id="16" name="TextBox 15"/>
          <p:cNvSpPr txBox="1"/>
          <p:nvPr/>
        </p:nvSpPr>
        <p:spPr>
          <a:xfrm>
            <a:off x="5760720" y="4901184"/>
            <a:ext cx="5623560" cy="914400"/>
          </a:xfrm>
          <a:prstGeom prst="rect">
            <a:avLst/>
          </a:prstGeom>
          <a:noFill/>
        </p:spPr>
        <p:txBody>
          <a:bodyPr wrap="square" anchor="ctr" lIns="0" rIns="0" tIns="0" bIns="0">
            <a:spAutoFit/>
          </a:bodyPr>
          <a:lstStyle/>
          <a:p>
            <a:pPr algn="l">
              <a:lnSpc>
                <a:spcPct val="124000"/>
              </a:lnSpc>
              <a:spcBef>
                <a:spcPts val="0"/>
              </a:spcBef>
              <a:spcAft>
                <a:spcPts val="400"/>
              </a:spcAft>
            </a:pPr>
            <a:r>
              <a:rPr sz="1150" b="0">
                <a:solidFill>
                  <a:srgbClr val="D8D3C8"/>
                </a:solidFill>
                <a:latin typeface="游ゴシック"/>
                <a:ea typeface="游ゴシック"/>
              </a:rPr>
              <a:t>AIクローラーのトラフィック動態変化を自動検知し、llms.txtを自動再構成。LLMOを完全自動で継続実装する世界初の動的最適化アーキテクチャ。</a:t>
            </a:r>
          </a:p>
        </p:txBody>
      </p:sp>
      <p:sp>
        <p:nvSpPr>
          <p:cNvPr id="17" name="TextBox 16"/>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18" name="TextBox 17"/>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WHY REGALIS</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「可視化」する競合と違い、私たちは「推薦される状態」をつくり収益化する</a:t>
            </a:r>
          </a:p>
        </p:txBody>
      </p:sp>
      <p:sp>
        <p:nvSpPr>
          <p:cNvPr id="5" name="Rounded Rectangle 4"/>
          <p:cNvSpPr/>
          <p:nvPr/>
        </p:nvSpPr>
        <p:spPr>
          <a:xfrm>
            <a:off x="548640" y="2011680"/>
            <a:ext cx="3611880" cy="21945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240280"/>
            <a:ext cx="822960" cy="548640"/>
          </a:xfrm>
          <a:prstGeom prst="rect">
            <a:avLst/>
          </a:prstGeom>
          <a:noFill/>
        </p:spPr>
        <p:txBody>
          <a:bodyPr wrap="square" anchor="t" lIns="0" rIns="0" tIns="0" bIns="0">
            <a:spAutoFit/>
          </a:bodyPr>
          <a:lstStyle/>
          <a:p>
            <a:pPr algn="l">
              <a:lnSpc>
                <a:spcPct val="106000"/>
              </a:lnSpc>
              <a:spcBef>
                <a:spcPts val="0"/>
              </a:spcBef>
              <a:spcAft>
                <a:spcPts val="400"/>
              </a:spcAft>
            </a:pPr>
            <a:r>
              <a:rPr sz="2400" b="1">
                <a:solidFill>
                  <a:srgbClr val="C5A059"/>
                </a:solidFill>
                <a:latin typeface="Georgia"/>
                <a:ea typeface="游ゴシック"/>
              </a:rPr>
              <a:t>01</a:t>
            </a:r>
          </a:p>
        </p:txBody>
      </p:sp>
      <p:sp>
        <p:nvSpPr>
          <p:cNvPr id="7" name="TextBox 6"/>
          <p:cNvSpPr txBox="1"/>
          <p:nvPr/>
        </p:nvSpPr>
        <p:spPr>
          <a:xfrm>
            <a:off x="804672" y="2788920"/>
            <a:ext cx="3099816" cy="548640"/>
          </a:xfrm>
          <a:prstGeom prst="rect">
            <a:avLst/>
          </a:prstGeom>
          <a:noFill/>
        </p:spPr>
        <p:txBody>
          <a:bodyPr wrap="square" anchor="t"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資産の定量化</a:t>
            </a:r>
          </a:p>
        </p:txBody>
      </p:sp>
      <p:sp>
        <p:nvSpPr>
          <p:cNvPr id="8" name="TextBox 7"/>
          <p:cNvSpPr txBox="1"/>
          <p:nvPr/>
        </p:nvSpPr>
        <p:spPr>
          <a:xfrm>
            <a:off x="804672" y="3383280"/>
            <a:ext cx="3099816" cy="82296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曖昧なブランド価値を独自アルゴリズムで定量化し、AIが推薦したくなる構造化データに変換。</a:t>
            </a:r>
          </a:p>
        </p:txBody>
      </p:sp>
      <p:sp>
        <p:nvSpPr>
          <p:cNvPr id="9" name="Rounded Rectangle 8"/>
          <p:cNvSpPr/>
          <p:nvPr/>
        </p:nvSpPr>
        <p:spPr>
          <a:xfrm>
            <a:off x="4334256" y="2011680"/>
            <a:ext cx="3611880" cy="21945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240280"/>
            <a:ext cx="822960" cy="548640"/>
          </a:xfrm>
          <a:prstGeom prst="rect">
            <a:avLst/>
          </a:prstGeom>
          <a:noFill/>
        </p:spPr>
        <p:txBody>
          <a:bodyPr wrap="square" anchor="t" lIns="0" rIns="0" tIns="0" bIns="0">
            <a:spAutoFit/>
          </a:bodyPr>
          <a:lstStyle/>
          <a:p>
            <a:pPr algn="l">
              <a:lnSpc>
                <a:spcPct val="106000"/>
              </a:lnSpc>
              <a:spcBef>
                <a:spcPts val="0"/>
              </a:spcBef>
              <a:spcAft>
                <a:spcPts val="400"/>
              </a:spcAft>
            </a:pPr>
            <a:r>
              <a:rPr sz="2400" b="1">
                <a:solidFill>
                  <a:srgbClr val="C5A059"/>
                </a:solidFill>
                <a:latin typeface="Georgia"/>
                <a:ea typeface="游ゴシック"/>
              </a:rPr>
              <a:t>02</a:t>
            </a:r>
          </a:p>
        </p:txBody>
      </p:sp>
      <p:sp>
        <p:nvSpPr>
          <p:cNvPr id="11" name="TextBox 10"/>
          <p:cNvSpPr txBox="1"/>
          <p:nvPr/>
        </p:nvSpPr>
        <p:spPr>
          <a:xfrm>
            <a:off x="4590288" y="2788920"/>
            <a:ext cx="3099816" cy="548640"/>
          </a:xfrm>
          <a:prstGeom prst="rect">
            <a:avLst/>
          </a:prstGeom>
          <a:noFill/>
        </p:spPr>
        <p:txBody>
          <a:bodyPr wrap="square" anchor="t"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中央集権型APIインフラ</a:t>
            </a:r>
          </a:p>
        </p:txBody>
      </p:sp>
      <p:sp>
        <p:nvSpPr>
          <p:cNvPr id="12" name="TextBox 11"/>
          <p:cNvSpPr txBox="1"/>
          <p:nvPr/>
        </p:nvSpPr>
        <p:spPr>
          <a:xfrm>
            <a:off x="4590288" y="3383280"/>
            <a:ext cx="3099816" cy="82296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SaaSダッシュボードの代理店モデルではなく、タグ1行で即日導入できるAPI駆動の直接ハック。</a:t>
            </a:r>
          </a:p>
        </p:txBody>
      </p:sp>
      <p:sp>
        <p:nvSpPr>
          <p:cNvPr id="13" name="Rounded Rectangle 12"/>
          <p:cNvSpPr/>
          <p:nvPr/>
        </p:nvSpPr>
        <p:spPr>
          <a:xfrm>
            <a:off x="8119872" y="2011680"/>
            <a:ext cx="3611880" cy="21945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75904" y="2240280"/>
            <a:ext cx="822960" cy="548640"/>
          </a:xfrm>
          <a:prstGeom prst="rect">
            <a:avLst/>
          </a:prstGeom>
          <a:noFill/>
        </p:spPr>
        <p:txBody>
          <a:bodyPr wrap="square" anchor="t" lIns="0" rIns="0" tIns="0" bIns="0">
            <a:spAutoFit/>
          </a:bodyPr>
          <a:lstStyle/>
          <a:p>
            <a:pPr algn="l">
              <a:lnSpc>
                <a:spcPct val="106000"/>
              </a:lnSpc>
              <a:spcBef>
                <a:spcPts val="0"/>
              </a:spcBef>
              <a:spcAft>
                <a:spcPts val="400"/>
              </a:spcAft>
            </a:pPr>
            <a:r>
              <a:rPr sz="2400" b="1">
                <a:solidFill>
                  <a:srgbClr val="C5A059"/>
                </a:solidFill>
                <a:latin typeface="Georgia"/>
                <a:ea typeface="游ゴシック"/>
              </a:rPr>
              <a:t>03</a:t>
            </a:r>
          </a:p>
        </p:txBody>
      </p:sp>
      <p:sp>
        <p:nvSpPr>
          <p:cNvPr id="15" name="TextBox 14"/>
          <p:cNvSpPr txBox="1"/>
          <p:nvPr/>
        </p:nvSpPr>
        <p:spPr>
          <a:xfrm>
            <a:off x="8375904" y="2788920"/>
            <a:ext cx="3099816" cy="548640"/>
          </a:xfrm>
          <a:prstGeom prst="rect">
            <a:avLst/>
          </a:prstGeom>
          <a:noFill/>
        </p:spPr>
        <p:txBody>
          <a:bodyPr wrap="square" anchor="t"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収益に直結</a:t>
            </a:r>
          </a:p>
        </p:txBody>
      </p:sp>
      <p:sp>
        <p:nvSpPr>
          <p:cNvPr id="16" name="TextBox 15"/>
          <p:cNvSpPr txBox="1"/>
          <p:nvPr/>
        </p:nvSpPr>
        <p:spPr>
          <a:xfrm>
            <a:off x="8375904" y="3383280"/>
            <a:ext cx="3099816" cy="82296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ブランド言及率レポートではなく、AI経由の高単価送客＋データライセンスという新しいキャッシュフロー。</a:t>
            </a:r>
          </a:p>
        </p:txBody>
      </p:sp>
      <p:sp>
        <p:nvSpPr>
          <p:cNvPr id="17" name="Rectangle 16"/>
          <p:cNvSpPr/>
          <p:nvPr/>
        </p:nvSpPr>
        <p:spPr>
          <a:xfrm>
            <a:off x="548640" y="4434840"/>
            <a:ext cx="2743200" cy="475488"/>
          </a:xfrm>
          <a:prstGeom prst="rect">
            <a:avLst/>
          </a:prstGeom>
          <a:solidFill>
            <a:srgbClr val="1010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434840"/>
            <a:ext cx="2560320" cy="475488"/>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FFFFFF"/>
                </a:solidFill>
                <a:latin typeface="游ゴシック"/>
                <a:ea typeface="游ゴシック"/>
              </a:rPr>
              <a:t>比較項目</a:t>
            </a:r>
          </a:p>
        </p:txBody>
      </p:sp>
      <p:sp>
        <p:nvSpPr>
          <p:cNvPr id="19" name="Rectangle 18"/>
          <p:cNvSpPr/>
          <p:nvPr/>
        </p:nvSpPr>
        <p:spPr>
          <a:xfrm>
            <a:off x="3291840" y="4434840"/>
            <a:ext cx="4114800" cy="475488"/>
          </a:xfrm>
          <a:prstGeom prst="rect">
            <a:avLst/>
          </a:prstGeom>
          <a:solidFill>
            <a:srgbClr val="1010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1568" y="4434840"/>
            <a:ext cx="3931920" cy="475488"/>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FFFFFF"/>
                </a:solidFill>
                <a:latin typeface="游ゴシック"/>
                <a:ea typeface="游ゴシック"/>
              </a:rPr>
              <a:t>既存のLLMO/AIO計測ツール</a:t>
            </a:r>
          </a:p>
        </p:txBody>
      </p:sp>
      <p:sp>
        <p:nvSpPr>
          <p:cNvPr id="21" name="Rectangle 20"/>
          <p:cNvSpPr/>
          <p:nvPr/>
        </p:nvSpPr>
        <p:spPr>
          <a:xfrm>
            <a:off x="7406640" y="4434840"/>
            <a:ext cx="4233672" cy="475488"/>
          </a:xfrm>
          <a:prstGeom prst="rect">
            <a:avLst/>
          </a:prstGeom>
          <a:solidFill>
            <a:srgbClr val="10101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6367" y="4434840"/>
            <a:ext cx="4050791" cy="475488"/>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C5A059"/>
                </a:solidFill>
                <a:latin typeface="游ゴシック"/>
                <a:ea typeface="游ゴシック"/>
              </a:rPr>
              <a:t>Regalis AIO Intelligence</a:t>
            </a:r>
          </a:p>
        </p:txBody>
      </p:sp>
      <p:sp>
        <p:nvSpPr>
          <p:cNvPr id="23" name="Rectangle 22"/>
          <p:cNvSpPr/>
          <p:nvPr/>
        </p:nvSpPr>
        <p:spPr>
          <a:xfrm>
            <a:off x="548640" y="4910327"/>
            <a:ext cx="2743200" cy="475488"/>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10327"/>
            <a:ext cx="25603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提供価値の核</a:t>
            </a:r>
          </a:p>
        </p:txBody>
      </p:sp>
      <p:sp>
        <p:nvSpPr>
          <p:cNvPr id="25" name="Rectangle 24"/>
          <p:cNvSpPr/>
          <p:nvPr/>
        </p:nvSpPr>
        <p:spPr>
          <a:xfrm>
            <a:off x="3291840" y="4910327"/>
            <a:ext cx="4114800" cy="475488"/>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01568" y="4910327"/>
            <a:ext cx="39319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引用状況を後追いで可視化</a:t>
            </a:r>
          </a:p>
        </p:txBody>
      </p:sp>
      <p:sp>
        <p:nvSpPr>
          <p:cNvPr id="27" name="Rectangle 26"/>
          <p:cNvSpPr/>
          <p:nvPr/>
        </p:nvSpPr>
        <p:spPr>
          <a:xfrm>
            <a:off x="7406640" y="4910327"/>
            <a:ext cx="4233672" cy="475488"/>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16367" y="4910327"/>
            <a:ext cx="4050791"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1">
                <a:solidFill>
                  <a:srgbClr val="9C7C3C"/>
                </a:solidFill>
                <a:latin typeface="游ゴシック"/>
                <a:ea typeface="游ゴシック"/>
              </a:rPr>
              <a:t>データを定量化・最適化し推薦される状態を作る</a:t>
            </a:r>
          </a:p>
        </p:txBody>
      </p:sp>
      <p:sp>
        <p:nvSpPr>
          <p:cNvPr id="29" name="Rectangle 28"/>
          <p:cNvSpPr/>
          <p:nvPr/>
        </p:nvSpPr>
        <p:spPr>
          <a:xfrm>
            <a:off x="548640" y="5385816"/>
            <a:ext cx="2743200" cy="475488"/>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85816"/>
            <a:ext cx="25603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対応範囲</a:t>
            </a:r>
          </a:p>
        </p:txBody>
      </p:sp>
      <p:sp>
        <p:nvSpPr>
          <p:cNvPr id="31" name="Rectangle 30"/>
          <p:cNvSpPr/>
          <p:nvPr/>
        </p:nvSpPr>
        <p:spPr>
          <a:xfrm>
            <a:off x="3291840" y="5385816"/>
            <a:ext cx="4114800" cy="475488"/>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01568" y="5385816"/>
            <a:ext cx="39319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AI Overview偏重／日本語精度に課題</a:t>
            </a:r>
          </a:p>
        </p:txBody>
      </p:sp>
      <p:sp>
        <p:nvSpPr>
          <p:cNvPr id="33" name="Rectangle 32"/>
          <p:cNvSpPr/>
          <p:nvPr/>
        </p:nvSpPr>
        <p:spPr>
          <a:xfrm>
            <a:off x="7406640" y="5385816"/>
            <a:ext cx="4233672" cy="475488"/>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16367" y="5385816"/>
            <a:ext cx="4050791"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1">
                <a:solidFill>
                  <a:srgbClr val="9C7C3C"/>
                </a:solidFill>
                <a:latin typeface="游ゴシック"/>
                <a:ea typeface="游ゴシック"/>
              </a:rPr>
              <a:t>日本語特化・ChatGPT/Claude/Perplexity網羅</a:t>
            </a:r>
          </a:p>
        </p:txBody>
      </p:sp>
      <p:sp>
        <p:nvSpPr>
          <p:cNvPr id="35" name="Rectangle 34"/>
          <p:cNvSpPr/>
          <p:nvPr/>
        </p:nvSpPr>
        <p:spPr>
          <a:xfrm>
            <a:off x="548640" y="5861304"/>
            <a:ext cx="2743200" cy="475488"/>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861304"/>
            <a:ext cx="25603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ROI地点</a:t>
            </a:r>
          </a:p>
        </p:txBody>
      </p:sp>
      <p:sp>
        <p:nvSpPr>
          <p:cNvPr id="37" name="Rectangle 36"/>
          <p:cNvSpPr/>
          <p:nvPr/>
        </p:nvSpPr>
        <p:spPr>
          <a:xfrm>
            <a:off x="3291840" y="5861304"/>
            <a:ext cx="4114800" cy="475488"/>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01568" y="5861304"/>
            <a:ext cx="39319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ブランド言及率レポート提出</a:t>
            </a:r>
          </a:p>
        </p:txBody>
      </p:sp>
      <p:sp>
        <p:nvSpPr>
          <p:cNvPr id="39" name="Rectangle 38"/>
          <p:cNvSpPr/>
          <p:nvPr/>
        </p:nvSpPr>
        <p:spPr>
          <a:xfrm>
            <a:off x="7406640" y="5861304"/>
            <a:ext cx="4233672" cy="475488"/>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16367" y="5861304"/>
            <a:ext cx="4050791"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1">
                <a:solidFill>
                  <a:srgbClr val="9C7C3C"/>
                </a:solidFill>
                <a:latin typeface="游ゴシック"/>
                <a:ea typeface="游ゴシック"/>
              </a:rPr>
              <a:t>AI経由の送客＋データ販売収益</a:t>
            </a:r>
          </a:p>
        </p:txBody>
      </p:sp>
      <p:sp>
        <p:nvSpPr>
          <p:cNvPr id="41" name="TextBox 40"/>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42" name="TextBox 4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BUSINESS MODEL</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ストック型SaaS × 高単価サービス × データ収益の3層マネタイズ</a:t>
            </a:r>
          </a:p>
        </p:txBody>
      </p:sp>
      <p:sp>
        <p:nvSpPr>
          <p:cNvPr id="5" name="Rounded Rectangle 4"/>
          <p:cNvSpPr/>
          <p:nvPr/>
        </p:nvSpPr>
        <p:spPr>
          <a:xfrm>
            <a:off x="548640" y="1965960"/>
            <a:ext cx="5486400" cy="40233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4884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収益の3層構造</a:t>
            </a:r>
          </a:p>
        </p:txBody>
      </p:sp>
      <p:sp>
        <p:nvSpPr>
          <p:cNvPr id="7" name="Rectangle 6"/>
          <p:cNvSpPr/>
          <p:nvPr/>
        </p:nvSpPr>
        <p:spPr>
          <a:xfrm>
            <a:off x="777240" y="2651760"/>
            <a:ext cx="73152" cy="96012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51760"/>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1C1C1E"/>
                </a:solidFill>
                <a:latin typeface="游ゴシック"/>
                <a:ea typeface="游ゴシック"/>
              </a:rPr>
              <a:t>① SaaS（ストック）</a:t>
            </a:r>
          </a:p>
        </p:txBody>
      </p:sp>
      <p:sp>
        <p:nvSpPr>
          <p:cNvPr id="9" name="TextBox 8"/>
          <p:cNvSpPr txBox="1"/>
          <p:nvPr/>
        </p:nvSpPr>
        <p:spPr>
          <a:xfrm>
            <a:off x="960120" y="3017520"/>
            <a:ext cx="4846320" cy="640080"/>
          </a:xfrm>
          <a:prstGeom prst="rect">
            <a:avLst/>
          </a:prstGeom>
          <a:noFill/>
        </p:spPr>
        <p:txBody>
          <a:bodyPr wrap="square" anchor="t" lIns="0" rIns="0" tIns="0" bIns="0">
            <a:spAutoFit/>
          </a:bodyPr>
          <a:lstStyle/>
          <a:p>
            <a:pPr algn="l">
              <a:lnSpc>
                <a:spcPct val="122000"/>
              </a:lnSpc>
              <a:spcBef>
                <a:spcPts val="0"/>
              </a:spcBef>
              <a:spcAft>
                <a:spcPts val="400"/>
              </a:spcAft>
            </a:pPr>
            <a:r>
              <a:rPr sz="1050" b="0">
                <a:solidFill>
                  <a:srgbClr val="444240"/>
                </a:solidFill>
                <a:latin typeface="游ゴシック"/>
                <a:ea typeface="游ゴシック"/>
              </a:rPr>
              <a:t>HackⅡ 月額課金。Starter〜Platformの階層。低churn・高粗利のリカーリング収益。</a:t>
            </a:r>
          </a:p>
        </p:txBody>
      </p:sp>
      <p:sp>
        <p:nvSpPr>
          <p:cNvPr id="10" name="Rectangle 9"/>
          <p:cNvSpPr/>
          <p:nvPr/>
        </p:nvSpPr>
        <p:spPr>
          <a:xfrm>
            <a:off x="777240" y="3712463"/>
            <a:ext cx="73152" cy="960120"/>
          </a:xfrm>
          <a:prstGeom prst="rect">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712463"/>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1C1C1E"/>
                </a:solidFill>
                <a:latin typeface="游ゴシック"/>
                <a:ea typeface="游ゴシック"/>
              </a:rPr>
              <a:t>② 運用・コンサル（フロー→ストック化）</a:t>
            </a:r>
          </a:p>
        </p:txBody>
      </p:sp>
      <p:sp>
        <p:nvSpPr>
          <p:cNvPr id="12" name="TextBox 11"/>
          <p:cNvSpPr txBox="1"/>
          <p:nvPr/>
        </p:nvSpPr>
        <p:spPr>
          <a:xfrm>
            <a:off x="960120" y="4078224"/>
            <a:ext cx="4846320" cy="640080"/>
          </a:xfrm>
          <a:prstGeom prst="rect">
            <a:avLst/>
          </a:prstGeom>
          <a:noFill/>
        </p:spPr>
        <p:txBody>
          <a:bodyPr wrap="square" anchor="t" lIns="0" rIns="0" tIns="0" bIns="0">
            <a:spAutoFit/>
          </a:bodyPr>
          <a:lstStyle/>
          <a:p>
            <a:pPr algn="l">
              <a:lnSpc>
                <a:spcPct val="122000"/>
              </a:lnSpc>
              <a:spcBef>
                <a:spcPts val="0"/>
              </a:spcBef>
              <a:spcAft>
                <a:spcPts val="400"/>
              </a:spcAft>
            </a:pPr>
            <a:r>
              <a:rPr sz="1050" b="0">
                <a:solidFill>
                  <a:srgbClr val="444240"/>
                </a:solidFill>
                <a:latin typeface="游ゴシック"/>
                <a:ea typeface="游ゴシック"/>
              </a:rPr>
              <a:t>AIOメディア運営代行 ¥98,000〜/月（6ヶ月契約）、DX・Web開発。</a:t>
            </a:r>
          </a:p>
        </p:txBody>
      </p:sp>
      <p:sp>
        <p:nvSpPr>
          <p:cNvPr id="13" name="Rectangle 12"/>
          <p:cNvSpPr/>
          <p:nvPr/>
        </p:nvSpPr>
        <p:spPr>
          <a:xfrm>
            <a:off x="777240" y="4773168"/>
            <a:ext cx="73152" cy="96012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773168"/>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1C1C1E"/>
                </a:solidFill>
                <a:latin typeface="游ゴシック"/>
                <a:ea typeface="游ゴシック"/>
              </a:rPr>
              <a:t>③ データ・アドセンス型収益</a:t>
            </a:r>
          </a:p>
        </p:txBody>
      </p:sp>
      <p:sp>
        <p:nvSpPr>
          <p:cNvPr id="15" name="TextBox 14"/>
          <p:cNvSpPr txBox="1"/>
          <p:nvPr/>
        </p:nvSpPr>
        <p:spPr>
          <a:xfrm>
            <a:off x="960120" y="5138928"/>
            <a:ext cx="4846320" cy="640080"/>
          </a:xfrm>
          <a:prstGeom prst="rect">
            <a:avLst/>
          </a:prstGeom>
          <a:noFill/>
        </p:spPr>
        <p:txBody>
          <a:bodyPr wrap="square" anchor="t" lIns="0" rIns="0" tIns="0" bIns="0">
            <a:spAutoFit/>
          </a:bodyPr>
          <a:lstStyle/>
          <a:p>
            <a:pPr algn="l">
              <a:lnSpc>
                <a:spcPct val="122000"/>
              </a:lnSpc>
              <a:spcBef>
                <a:spcPts val="0"/>
              </a:spcBef>
              <a:spcAft>
                <a:spcPts val="400"/>
              </a:spcAft>
            </a:pPr>
            <a:r>
              <a:rPr sz="1050" b="0">
                <a:solidFill>
                  <a:srgbClr val="444240"/>
                </a:solidFill>
                <a:latin typeface="游ゴシック"/>
                <a:ea typeface="游ゴシック"/>
              </a:rPr>
              <a:t>AI検索クローラー収益化（AI Exclusive™）、データライセンス販売。</a:t>
            </a:r>
          </a:p>
        </p:txBody>
      </p:sp>
      <p:sp>
        <p:nvSpPr>
          <p:cNvPr id="16" name="Rounded Rectangle 15"/>
          <p:cNvSpPr/>
          <p:nvPr/>
        </p:nvSpPr>
        <p:spPr>
          <a:xfrm>
            <a:off x="6153912" y="1965960"/>
            <a:ext cx="5486400" cy="402336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14884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ユニットエコノミクス（想定・HackⅡ SaaS）</a:t>
            </a:r>
          </a:p>
        </p:txBody>
      </p:sp>
      <p:sp>
        <p:nvSpPr>
          <p:cNvPr id="18" name="TextBox 17"/>
          <p:cNvSpPr txBox="1"/>
          <p:nvPr/>
        </p:nvSpPr>
        <p:spPr>
          <a:xfrm>
            <a:off x="6382512" y="26974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平均月次単価 ARPA</a:t>
            </a:r>
          </a:p>
        </p:txBody>
      </p:sp>
      <p:sp>
        <p:nvSpPr>
          <p:cNvPr id="19" name="TextBox 18"/>
          <p:cNvSpPr txBox="1"/>
          <p:nvPr/>
        </p:nvSpPr>
        <p:spPr>
          <a:xfrm>
            <a:off x="9418320" y="26974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¥38,000</a:t>
            </a:r>
          </a:p>
        </p:txBody>
      </p:sp>
      <p:sp>
        <p:nvSpPr>
          <p:cNvPr id="20" name="Rectangle 19"/>
          <p:cNvSpPr/>
          <p:nvPr/>
        </p:nvSpPr>
        <p:spPr>
          <a:xfrm>
            <a:off x="6382512" y="30998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1546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粗利率</a:t>
            </a:r>
          </a:p>
        </p:txBody>
      </p:sp>
      <p:sp>
        <p:nvSpPr>
          <p:cNvPr id="22" name="TextBox 21"/>
          <p:cNvSpPr txBox="1"/>
          <p:nvPr/>
        </p:nvSpPr>
        <p:spPr>
          <a:xfrm>
            <a:off x="9418320" y="31546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約 82%</a:t>
            </a:r>
          </a:p>
        </p:txBody>
      </p:sp>
      <p:sp>
        <p:nvSpPr>
          <p:cNvPr id="23" name="Rectangle 22"/>
          <p:cNvSpPr/>
          <p:nvPr/>
        </p:nvSpPr>
        <p:spPr>
          <a:xfrm>
            <a:off x="6382512" y="35570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36118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月次解約率（churn）</a:t>
            </a:r>
          </a:p>
        </p:txBody>
      </p:sp>
      <p:sp>
        <p:nvSpPr>
          <p:cNvPr id="25" name="TextBox 24"/>
          <p:cNvSpPr txBox="1"/>
          <p:nvPr/>
        </p:nvSpPr>
        <p:spPr>
          <a:xfrm>
            <a:off x="9418320" y="36118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2.0%</a:t>
            </a:r>
          </a:p>
        </p:txBody>
      </p:sp>
      <p:sp>
        <p:nvSpPr>
          <p:cNvPr id="26" name="Rectangle 25"/>
          <p:cNvSpPr/>
          <p:nvPr/>
        </p:nvSpPr>
        <p:spPr>
          <a:xfrm>
            <a:off x="6382512" y="40142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40690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顧客生涯価値 LTV</a:t>
            </a:r>
          </a:p>
        </p:txBody>
      </p:sp>
      <p:sp>
        <p:nvSpPr>
          <p:cNvPr id="28" name="TextBox 27"/>
          <p:cNvSpPr txBox="1"/>
          <p:nvPr/>
        </p:nvSpPr>
        <p:spPr>
          <a:xfrm>
            <a:off x="9418320" y="40690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約 156万円</a:t>
            </a:r>
          </a:p>
        </p:txBody>
      </p:sp>
      <p:sp>
        <p:nvSpPr>
          <p:cNvPr id="29" name="Rectangle 28"/>
          <p:cNvSpPr/>
          <p:nvPr/>
        </p:nvSpPr>
        <p:spPr>
          <a:xfrm>
            <a:off x="6382512" y="44714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5262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顧客獲得コスト CAC</a:t>
            </a:r>
          </a:p>
        </p:txBody>
      </p:sp>
      <p:sp>
        <p:nvSpPr>
          <p:cNvPr id="31" name="TextBox 30"/>
          <p:cNvSpPr txBox="1"/>
          <p:nvPr/>
        </p:nvSpPr>
        <p:spPr>
          <a:xfrm>
            <a:off x="9418320" y="45262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約 12万円</a:t>
            </a:r>
          </a:p>
        </p:txBody>
      </p:sp>
      <p:sp>
        <p:nvSpPr>
          <p:cNvPr id="32" name="Rectangle 31"/>
          <p:cNvSpPr/>
          <p:nvPr/>
        </p:nvSpPr>
        <p:spPr>
          <a:xfrm>
            <a:off x="6382512" y="49286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2512" y="49834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1">
                <a:solidFill>
                  <a:srgbClr val="1C1C1E"/>
                </a:solidFill>
                <a:latin typeface="游ゴシック"/>
                <a:ea typeface="游ゴシック"/>
              </a:rPr>
              <a:t>LTV / CAC</a:t>
            </a:r>
          </a:p>
        </p:txBody>
      </p:sp>
      <p:sp>
        <p:nvSpPr>
          <p:cNvPr id="34" name="TextBox 33"/>
          <p:cNvSpPr txBox="1"/>
          <p:nvPr/>
        </p:nvSpPr>
        <p:spPr>
          <a:xfrm>
            <a:off x="9418320" y="49834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300" b="1">
                <a:solidFill>
                  <a:srgbClr val="9C7C3C"/>
                </a:solidFill>
                <a:latin typeface="Georgia"/>
                <a:ea typeface="游ゴシック"/>
              </a:rPr>
              <a:t>約 13x</a:t>
            </a:r>
          </a:p>
        </p:txBody>
      </p:sp>
      <p:sp>
        <p:nvSpPr>
          <p:cNvPr id="35" name="Rectangle 34"/>
          <p:cNvSpPr/>
          <p:nvPr/>
        </p:nvSpPr>
        <p:spPr>
          <a:xfrm>
            <a:off x="6382512" y="53858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2512" y="54406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1">
                <a:solidFill>
                  <a:srgbClr val="1C1C1E"/>
                </a:solidFill>
                <a:latin typeface="游ゴシック"/>
                <a:ea typeface="游ゴシック"/>
              </a:rPr>
              <a:t>CAC回収期間</a:t>
            </a:r>
          </a:p>
        </p:txBody>
      </p:sp>
      <p:sp>
        <p:nvSpPr>
          <p:cNvPr id="37" name="TextBox 36"/>
          <p:cNvSpPr txBox="1"/>
          <p:nvPr/>
        </p:nvSpPr>
        <p:spPr>
          <a:xfrm>
            <a:off x="9418320" y="54406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300" b="1">
                <a:solidFill>
                  <a:srgbClr val="9C7C3C"/>
                </a:solidFill>
                <a:latin typeface="Georgia"/>
                <a:ea typeface="游ゴシック"/>
              </a:rPr>
              <a:t>約 4ヶ月</a:t>
            </a:r>
          </a:p>
        </p:txBody>
      </p:sp>
      <p:sp>
        <p:nvSpPr>
          <p:cNvPr id="38" name="Rectangle 37"/>
          <p:cNvSpPr/>
          <p:nvPr/>
        </p:nvSpPr>
        <p:spPr>
          <a:xfrm>
            <a:off x="6382512" y="5843016"/>
            <a:ext cx="502920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5742432"/>
            <a:ext cx="50292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 前提に基づく想定値。詳細は「前提条件」スライド参照。</a:t>
            </a:r>
          </a:p>
        </p:txBody>
      </p:sp>
      <p:sp>
        <p:nvSpPr>
          <p:cNvPr id="40" name="TextBox 39"/>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41" name="TextBox 40"/>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TRACTION</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自社実証で成果を出し、信頼できる顧問陣と実績を積み上げている</a:t>
            </a:r>
          </a:p>
        </p:txBody>
      </p:sp>
      <p:sp>
        <p:nvSpPr>
          <p:cNvPr id="5" name="Rounded Rectangle 4"/>
          <p:cNvSpPr/>
          <p:nvPr/>
        </p:nvSpPr>
        <p:spPr>
          <a:xfrm>
            <a:off x="548640" y="2011680"/>
            <a:ext cx="3611880" cy="169164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11680"/>
            <a:ext cx="3611880" cy="73152"/>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267712"/>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C7C3C"/>
                </a:solidFill>
                <a:latin typeface="Georgia"/>
                <a:ea typeface="游ゴシック"/>
              </a:rPr>
              <a:t>134件+</a:t>
            </a:r>
          </a:p>
        </p:txBody>
      </p:sp>
      <p:sp>
        <p:nvSpPr>
          <p:cNvPr id="8" name="TextBox 7"/>
          <p:cNvSpPr txBox="1"/>
          <p:nvPr/>
        </p:nvSpPr>
        <p:spPr>
          <a:xfrm>
            <a:off x="804672" y="2944368"/>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法人向けウェブマーケ実績</a:t>
            </a:r>
          </a:p>
        </p:txBody>
      </p:sp>
      <p:sp>
        <p:nvSpPr>
          <p:cNvPr id="9" name="Rounded Rectangle 8"/>
          <p:cNvSpPr/>
          <p:nvPr/>
        </p:nvSpPr>
        <p:spPr>
          <a:xfrm>
            <a:off x="4334256" y="2011680"/>
            <a:ext cx="3611880" cy="169164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6" y="2011680"/>
            <a:ext cx="3611880" cy="73152"/>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267712"/>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C7C3C"/>
                </a:solidFill>
                <a:latin typeface="Georgia"/>
                <a:ea typeface="游ゴシック"/>
              </a:rPr>
              <a:t>4.4倍</a:t>
            </a:r>
          </a:p>
        </p:txBody>
      </p:sp>
      <p:sp>
        <p:nvSpPr>
          <p:cNvPr id="12" name="TextBox 11"/>
          <p:cNvSpPr txBox="1"/>
          <p:nvPr/>
        </p:nvSpPr>
        <p:spPr>
          <a:xfrm>
            <a:off x="4590288" y="2944368"/>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AI経由MQLの成約率（通常流入比）</a:t>
            </a:r>
          </a:p>
        </p:txBody>
      </p:sp>
      <p:sp>
        <p:nvSpPr>
          <p:cNvPr id="13" name="Rounded Rectangle 12"/>
          <p:cNvSpPr/>
          <p:nvPr/>
        </p:nvSpPr>
        <p:spPr>
          <a:xfrm>
            <a:off x="8119872" y="2011680"/>
            <a:ext cx="3611880" cy="169164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2011680"/>
            <a:ext cx="3611880" cy="73152"/>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2267712"/>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C7C3C"/>
                </a:solidFill>
                <a:latin typeface="Georgia"/>
                <a:ea typeface="游ゴシック"/>
              </a:rPr>
              <a:t>51→77.9pt</a:t>
            </a:r>
          </a:p>
        </p:txBody>
      </p:sp>
      <p:sp>
        <p:nvSpPr>
          <p:cNvPr id="16" name="TextBox 15"/>
          <p:cNvSpPr txBox="1"/>
          <p:nvPr/>
        </p:nvSpPr>
        <p:spPr>
          <a:xfrm>
            <a:off x="8375904" y="2944368"/>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全143記事の平均AICSスコア改善（+26.9pt）</a:t>
            </a:r>
          </a:p>
        </p:txBody>
      </p:sp>
      <p:sp>
        <p:nvSpPr>
          <p:cNvPr id="17" name="Rounded Rectangle 16"/>
          <p:cNvSpPr/>
          <p:nvPr/>
        </p:nvSpPr>
        <p:spPr>
          <a:xfrm>
            <a:off x="548640" y="3904488"/>
            <a:ext cx="3611880" cy="169164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04488"/>
            <a:ext cx="3611880" cy="73152"/>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160520"/>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C7C3C"/>
                </a:solidFill>
                <a:latin typeface="Georgia"/>
                <a:ea typeface="游ゴシック"/>
              </a:rPr>
              <a:t>8名</a:t>
            </a:r>
          </a:p>
        </p:txBody>
      </p:sp>
      <p:sp>
        <p:nvSpPr>
          <p:cNvPr id="20" name="TextBox 19"/>
          <p:cNvSpPr txBox="1"/>
          <p:nvPr/>
        </p:nvSpPr>
        <p:spPr>
          <a:xfrm>
            <a:off x="804672" y="4837176"/>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外部顧問（住友商事G・SBIグループ・Vector Group等）</a:t>
            </a:r>
          </a:p>
        </p:txBody>
      </p:sp>
      <p:sp>
        <p:nvSpPr>
          <p:cNvPr id="21" name="Rounded Rectangle 20"/>
          <p:cNvSpPr/>
          <p:nvPr/>
        </p:nvSpPr>
        <p:spPr>
          <a:xfrm>
            <a:off x="4334256" y="3904488"/>
            <a:ext cx="3611880" cy="169164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34256" y="3904488"/>
            <a:ext cx="3611880" cy="73152"/>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4160520"/>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C7C3C"/>
                </a:solidFill>
                <a:latin typeface="Georgia"/>
                <a:ea typeface="游ゴシック"/>
              </a:rPr>
              <a:t>100クエリ/30分</a:t>
            </a:r>
          </a:p>
        </p:txBody>
      </p:sp>
      <p:sp>
        <p:nvSpPr>
          <p:cNvPr id="24" name="TextBox 23"/>
          <p:cNvSpPr txBox="1"/>
          <p:nvPr/>
        </p:nvSpPr>
        <p:spPr>
          <a:xfrm>
            <a:off x="4590288" y="4837176"/>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AI引用モニタリング処理速度</a:t>
            </a:r>
          </a:p>
        </p:txBody>
      </p:sp>
      <p:sp>
        <p:nvSpPr>
          <p:cNvPr id="25" name="Rounded Rectangle 24"/>
          <p:cNvSpPr/>
          <p:nvPr/>
        </p:nvSpPr>
        <p:spPr>
          <a:xfrm>
            <a:off x="8119872" y="3904488"/>
            <a:ext cx="3611880" cy="169164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19872" y="3904488"/>
            <a:ext cx="3611880" cy="73152"/>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4160520"/>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C7C3C"/>
                </a:solidFill>
                <a:latin typeface="Georgia"/>
                <a:ea typeface="游ゴシック"/>
              </a:rPr>
              <a:t>5モデル</a:t>
            </a:r>
          </a:p>
        </p:txBody>
      </p:sp>
      <p:sp>
        <p:nvSpPr>
          <p:cNvPr id="28" name="TextBox 27"/>
          <p:cNvSpPr txBox="1"/>
          <p:nvPr/>
        </p:nvSpPr>
        <p:spPr>
          <a:xfrm>
            <a:off x="8375904" y="4837176"/>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対応AI（ChatGPT/Perplexity/AI Overview/Claude/Gemini）</a:t>
            </a:r>
          </a:p>
        </p:txBody>
      </p:sp>
      <p:sp>
        <p:nvSpPr>
          <p:cNvPr id="29" name="TextBox 28"/>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30" name="TextBox 29"/>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BUSINESS PORTFOLIO</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Core AI 4事業を主軸に、展開事業でブランドと人材基盤を広げる</a:t>
            </a:r>
          </a:p>
        </p:txBody>
      </p:sp>
      <p:sp>
        <p:nvSpPr>
          <p:cNvPr id="5" name="TextBox 4"/>
          <p:cNvSpPr txBox="1"/>
          <p:nvPr/>
        </p:nvSpPr>
        <p:spPr>
          <a:xfrm>
            <a:off x="548640" y="1783080"/>
            <a:ext cx="10972800" cy="32004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9C7C3C"/>
                </a:solidFill>
                <a:latin typeface="游ゴシック"/>
                <a:ea typeface="游ゴシック"/>
              </a:rPr>
              <a:t>■ Core AI 4事業（主軸）</a:t>
            </a:r>
          </a:p>
        </p:txBody>
      </p:sp>
      <p:sp>
        <p:nvSpPr>
          <p:cNvPr id="6" name="Rounded Rectangle 5"/>
          <p:cNvSpPr/>
          <p:nvPr/>
        </p:nvSpPr>
        <p:spPr>
          <a:xfrm>
            <a:off x="548640" y="2148840"/>
            <a:ext cx="2706624" cy="137160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SEO・AIOメディア運営</a:t>
            </a:r>
          </a:p>
        </p:txBody>
      </p:sp>
      <p:sp>
        <p:nvSpPr>
          <p:cNvPr id="8" name="TextBox 7"/>
          <p:cNvSpPr txBox="1"/>
          <p:nvPr/>
        </p:nvSpPr>
        <p:spPr>
          <a:xfrm>
            <a:off x="749808"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★メイン事業／月額¥98,000〜</a:t>
            </a:r>
          </a:p>
        </p:txBody>
      </p:sp>
      <p:sp>
        <p:nvSpPr>
          <p:cNvPr id="9" name="Rounded Rectangle 8"/>
          <p:cNvSpPr/>
          <p:nvPr/>
        </p:nvSpPr>
        <p:spPr>
          <a:xfrm>
            <a:off x="3374136" y="2148840"/>
            <a:ext cx="2706624" cy="137160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AI検索ツール（HackⅡ）</a:t>
            </a:r>
          </a:p>
        </p:txBody>
      </p:sp>
      <p:sp>
        <p:nvSpPr>
          <p:cNvPr id="11" name="TextBox 10"/>
          <p:cNvSpPr txBox="1"/>
          <p:nvPr/>
        </p:nvSpPr>
        <p:spPr>
          <a:xfrm>
            <a:off x="3575304"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AI引用モニタリング・自動最適化</a:t>
            </a:r>
          </a:p>
        </p:txBody>
      </p:sp>
      <p:sp>
        <p:nvSpPr>
          <p:cNvPr id="12" name="Rounded Rectangle 11"/>
          <p:cNvSpPr/>
          <p:nvPr/>
        </p:nvSpPr>
        <p:spPr>
          <a:xfrm>
            <a:off x="6199631" y="2148840"/>
            <a:ext cx="2706624" cy="137160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799"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AI検索クローラー収益化</a:t>
            </a:r>
          </a:p>
        </p:txBody>
      </p:sp>
      <p:sp>
        <p:nvSpPr>
          <p:cNvPr id="14" name="TextBox 13"/>
          <p:cNvSpPr txBox="1"/>
          <p:nvPr/>
        </p:nvSpPr>
        <p:spPr>
          <a:xfrm>
            <a:off x="6400799"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アドセンス型（AI Exclusive™）</a:t>
            </a:r>
          </a:p>
        </p:txBody>
      </p:sp>
      <p:sp>
        <p:nvSpPr>
          <p:cNvPr id="15" name="Rounded Rectangle 14"/>
          <p:cNvSpPr/>
          <p:nvPr/>
        </p:nvSpPr>
        <p:spPr>
          <a:xfrm>
            <a:off x="9025128" y="2148840"/>
            <a:ext cx="2706624" cy="137160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26296"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AI・DX戦略コンサル</a:t>
            </a:r>
          </a:p>
        </p:txBody>
      </p:sp>
      <p:sp>
        <p:nvSpPr>
          <p:cNvPr id="17" name="TextBox 16"/>
          <p:cNvSpPr txBox="1"/>
          <p:nvPr/>
        </p:nvSpPr>
        <p:spPr>
          <a:xfrm>
            <a:off x="9226296"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設計から始める伴走支援</a:t>
            </a:r>
          </a:p>
        </p:txBody>
      </p:sp>
      <p:sp>
        <p:nvSpPr>
          <p:cNvPr id="18" name="TextBox 17"/>
          <p:cNvSpPr txBox="1"/>
          <p:nvPr/>
        </p:nvSpPr>
        <p:spPr>
          <a:xfrm>
            <a:off x="548640" y="3794760"/>
            <a:ext cx="10972800" cy="32004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9C7C3C"/>
                </a:solidFill>
                <a:latin typeface="游ゴシック"/>
                <a:ea typeface="游ゴシック"/>
              </a:rPr>
              <a:t>■ 展開事業</a:t>
            </a:r>
          </a:p>
        </p:txBody>
      </p:sp>
      <p:sp>
        <p:nvSpPr>
          <p:cNvPr id="19" name="Rounded Rectangle 18"/>
          <p:cNvSpPr/>
          <p:nvPr/>
        </p:nvSpPr>
        <p:spPr>
          <a:xfrm>
            <a:off x="548640" y="4160520"/>
            <a:ext cx="2706624" cy="1097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Web・システム開発</a:t>
            </a:r>
          </a:p>
        </p:txBody>
      </p:sp>
      <p:sp>
        <p:nvSpPr>
          <p:cNvPr id="21" name="Rounded Rectangle 20"/>
          <p:cNvSpPr/>
          <p:nvPr/>
        </p:nvSpPr>
        <p:spPr>
          <a:xfrm>
            <a:off x="3374136" y="4160520"/>
            <a:ext cx="2706624" cy="1097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75304"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日本学生アンバサダー協会</a:t>
            </a:r>
          </a:p>
        </p:txBody>
      </p:sp>
      <p:sp>
        <p:nvSpPr>
          <p:cNvPr id="23" name="Rounded Rectangle 22"/>
          <p:cNvSpPr/>
          <p:nvPr/>
        </p:nvSpPr>
        <p:spPr>
          <a:xfrm>
            <a:off x="6199631" y="4160520"/>
            <a:ext cx="2706624" cy="1097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799"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代表タレント活動・講演</a:t>
            </a:r>
          </a:p>
        </p:txBody>
      </p:sp>
      <p:sp>
        <p:nvSpPr>
          <p:cNvPr id="25" name="Rounded Rectangle 24"/>
          <p:cNvSpPr/>
          <p:nvPr/>
        </p:nvSpPr>
        <p:spPr>
          <a:xfrm>
            <a:off x="9025128" y="4160520"/>
            <a:ext cx="2706624" cy="10972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販売促進・営業代行</a:t>
            </a:r>
          </a:p>
        </p:txBody>
      </p:sp>
      <p:sp>
        <p:nvSpPr>
          <p:cNvPr id="27" name="TextBox 26"/>
          <p:cNvSpPr txBox="1"/>
          <p:nvPr/>
        </p:nvSpPr>
        <p:spPr>
          <a:xfrm>
            <a:off x="548640" y="5440680"/>
            <a:ext cx="10972800" cy="457200"/>
          </a:xfrm>
          <a:prstGeom prst="rect">
            <a:avLst/>
          </a:prstGeom>
          <a:noFill/>
        </p:spPr>
        <p:txBody>
          <a:bodyPr wrap="square" anchor="t" lIns="0" rIns="0" tIns="0" bIns="0">
            <a:spAutoFit/>
          </a:bodyPr>
          <a:lstStyle/>
          <a:p>
            <a:pPr algn="l">
              <a:lnSpc>
                <a:spcPct val="120000"/>
              </a:lnSpc>
              <a:spcBef>
                <a:spcPts val="0"/>
              </a:spcBef>
              <a:spcAft>
                <a:spcPts val="400"/>
              </a:spcAft>
            </a:pPr>
            <a:r>
              <a:rPr sz="1100" b="0">
                <a:solidFill>
                  <a:srgbClr val="767470"/>
                </a:solidFill>
                <a:latin typeface="游ゴシック"/>
                <a:ea typeface="游ゴシック"/>
              </a:rPr>
              <a:t>「機会が届いていない場所に、機会を設計し直す」— 展開事業は次世代人材の獲得とブランド接点を生み、Core事業に還流する。</a:t>
            </a:r>
          </a:p>
        </p:txBody>
      </p:sp>
      <p:sp>
        <p:nvSpPr>
          <p:cNvPr id="28" name="TextBox 27"/>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29" name="TextBox 28"/>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GO-TO-MARKET</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「無料AI引用診断」を入口に、SaaSとデータ収益へ引き上げる導線設計</a:t>
            </a:r>
          </a:p>
        </p:txBody>
      </p:sp>
      <p:sp>
        <p:nvSpPr>
          <p:cNvPr id="5" name="Rounded Rectangle 4"/>
          <p:cNvSpPr/>
          <p:nvPr/>
        </p:nvSpPr>
        <p:spPr>
          <a:xfrm>
            <a:off x="548640" y="2057400"/>
            <a:ext cx="11091672" cy="932688"/>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57400"/>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① 認知・発見</a:t>
            </a:r>
          </a:p>
        </p:txBody>
      </p:sp>
      <p:sp>
        <p:nvSpPr>
          <p:cNvPr id="7" name="TextBox 6"/>
          <p:cNvSpPr txBox="1"/>
          <p:nvPr/>
        </p:nvSpPr>
        <p:spPr>
          <a:xfrm>
            <a:off x="4480560" y="2057400"/>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自社メディアのAIO実証・記事資産でAI検索・SNS経由の流入を獲得。代表のタレント活動が信頼を補強。</a:t>
            </a:r>
          </a:p>
        </p:txBody>
      </p:sp>
      <p:sp>
        <p:nvSpPr>
          <p:cNvPr id="8" name="Rounded Rectangle 7"/>
          <p:cNvSpPr/>
          <p:nvPr/>
        </p:nvSpPr>
        <p:spPr>
          <a:xfrm>
            <a:off x="548640" y="3136391"/>
            <a:ext cx="11091672" cy="93268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36391"/>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② 無料AI引用診断（30分）</a:t>
            </a:r>
          </a:p>
        </p:txBody>
      </p:sp>
      <p:sp>
        <p:nvSpPr>
          <p:cNvPr id="10" name="TextBox 9"/>
          <p:cNvSpPr txBox="1"/>
          <p:nvPr/>
        </p:nvSpPr>
        <p:spPr>
          <a:xfrm>
            <a:off x="4480560" y="3136391"/>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業界内AI引用シェアと機会損失額を可視化。摩擦最小の第一CTAで商談化。</a:t>
            </a:r>
          </a:p>
        </p:txBody>
      </p:sp>
      <p:sp>
        <p:nvSpPr>
          <p:cNvPr id="11" name="Rounded Rectangle 10"/>
          <p:cNvSpPr/>
          <p:nvPr/>
        </p:nvSpPr>
        <p:spPr>
          <a:xfrm>
            <a:off x="548640" y="4215383"/>
            <a:ext cx="11091672" cy="932688"/>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215383"/>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③ 導入・運用</a:t>
            </a:r>
          </a:p>
        </p:txBody>
      </p:sp>
      <p:sp>
        <p:nvSpPr>
          <p:cNvPr id="13" name="TextBox 12"/>
          <p:cNvSpPr txBox="1"/>
          <p:nvPr/>
        </p:nvSpPr>
        <p:spPr>
          <a:xfrm>
            <a:off x="4480560" y="4215383"/>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HackⅡ／AIOメディア運営で6ヶ月コミット。タグ1行で即日計測、成果を積み上げる。</a:t>
            </a:r>
          </a:p>
        </p:txBody>
      </p:sp>
      <p:sp>
        <p:nvSpPr>
          <p:cNvPr id="14" name="Rounded Rectangle 13"/>
          <p:cNvSpPr/>
          <p:nvPr/>
        </p:nvSpPr>
        <p:spPr>
          <a:xfrm>
            <a:off x="548640" y="5294375"/>
            <a:ext cx="11091672" cy="93268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294375"/>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④ 拡張・アップセル</a:t>
            </a:r>
          </a:p>
        </p:txBody>
      </p:sp>
      <p:sp>
        <p:nvSpPr>
          <p:cNvPr id="16" name="TextBox 15"/>
          <p:cNvSpPr txBox="1"/>
          <p:nvPr/>
        </p:nvSpPr>
        <p:spPr>
          <a:xfrm>
            <a:off x="4480560" y="5294375"/>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Enterprise（IR/ESG連携）・Platform・データライセンスへ。NRR向上で1顧客あたり収益を拡大。</a:t>
            </a:r>
          </a:p>
        </p:txBody>
      </p:sp>
      <p:sp>
        <p:nvSpPr>
          <p:cNvPr id="17" name="TextBox 16"/>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18" name="TextBox 17"/>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FINANCIAL PLAN（想定・ベースシナリオ）</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先行投資でFY26は赤字も、FY27に黒字転換しFY28に営業利益率20%超へ</a:t>
            </a:r>
          </a:p>
        </p:txBody>
      </p:sp>
      <p:graphicFrame>
        <p:nvGraphicFramePr>
          <p:cNvPr id="5" name="Chart 4"/>
          <p:cNvGraphicFramePr>
            <a:graphicFrameLocks noGrp="1"/>
          </p:cNvGraphicFramePr>
          <p:nvPr/>
        </p:nvGraphicFramePr>
        <p:xfrm>
          <a:off x="548640" y="1920240"/>
          <a:ext cx="5760720" cy="3931920"/>
        </p:xfrm>
        <a:graphic>
          <a:graphicData uri="http://schemas.openxmlformats.org/drawingml/2006/chart">
            <c:chart xmlns:c="http://schemas.openxmlformats.org/drawingml/2006/chart" r:id="rId2"/>
          </a:graphicData>
        </a:graphic>
      </p:graphicFrame>
      <p:sp>
        <p:nvSpPr>
          <p:cNvPr id="6" name="Rectangle 5"/>
          <p:cNvSpPr/>
          <p:nvPr/>
        </p:nvSpPr>
        <p:spPr>
          <a:xfrm>
            <a:off x="6355080" y="2057400"/>
            <a:ext cx="2194560" cy="45720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574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1000" b="1">
                <a:solidFill>
                  <a:srgbClr val="FFFFFF"/>
                </a:solidFill>
                <a:latin typeface="游ゴシック"/>
                <a:ea typeface="游ゴシック"/>
              </a:rPr>
              <a:t>百万円 / FY</a:t>
            </a:r>
          </a:p>
        </p:txBody>
      </p:sp>
      <p:sp>
        <p:nvSpPr>
          <p:cNvPr id="8" name="Rectangle 7"/>
          <p:cNvSpPr/>
          <p:nvPr/>
        </p:nvSpPr>
        <p:spPr>
          <a:xfrm>
            <a:off x="8549640" y="2057400"/>
            <a:ext cx="1005840" cy="45720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2057400"/>
            <a:ext cx="822960"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1">
                <a:solidFill>
                  <a:srgbClr val="FFFFFF"/>
                </a:solidFill>
                <a:latin typeface="Georgia"/>
                <a:ea typeface="游ゴシック"/>
              </a:rPr>
              <a:t>2026</a:t>
            </a:r>
          </a:p>
        </p:txBody>
      </p:sp>
      <p:sp>
        <p:nvSpPr>
          <p:cNvPr id="10" name="Rectangle 9"/>
          <p:cNvSpPr/>
          <p:nvPr/>
        </p:nvSpPr>
        <p:spPr>
          <a:xfrm>
            <a:off x="9555480" y="2057400"/>
            <a:ext cx="1005840" cy="45720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46919" y="2057400"/>
            <a:ext cx="822960"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1">
                <a:solidFill>
                  <a:srgbClr val="FFFFFF"/>
                </a:solidFill>
                <a:latin typeface="Georgia"/>
                <a:ea typeface="游ゴシック"/>
              </a:rPr>
              <a:t>2027</a:t>
            </a:r>
          </a:p>
        </p:txBody>
      </p:sp>
      <p:sp>
        <p:nvSpPr>
          <p:cNvPr id="12" name="Rectangle 11"/>
          <p:cNvSpPr/>
          <p:nvPr/>
        </p:nvSpPr>
        <p:spPr>
          <a:xfrm>
            <a:off x="10561320" y="2057400"/>
            <a:ext cx="1078992" cy="45720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52760" y="20574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1">
                <a:solidFill>
                  <a:srgbClr val="FFFFFF"/>
                </a:solidFill>
                <a:latin typeface="Georgia"/>
                <a:ea typeface="游ゴシック"/>
              </a:rPr>
              <a:t>2028</a:t>
            </a:r>
          </a:p>
        </p:txBody>
      </p:sp>
      <p:sp>
        <p:nvSpPr>
          <p:cNvPr id="14" name="Rectangle 13"/>
          <p:cNvSpPr/>
          <p:nvPr/>
        </p:nvSpPr>
        <p:spPr>
          <a:xfrm>
            <a:off x="6355080" y="2514600"/>
            <a:ext cx="219456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5146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売上高</a:t>
            </a:r>
          </a:p>
        </p:txBody>
      </p:sp>
      <p:sp>
        <p:nvSpPr>
          <p:cNvPr id="16" name="Rectangle 15"/>
          <p:cNvSpPr/>
          <p:nvPr/>
        </p:nvSpPr>
        <p:spPr>
          <a:xfrm>
            <a:off x="8549640" y="25146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514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52</a:t>
            </a:r>
          </a:p>
        </p:txBody>
      </p:sp>
      <p:sp>
        <p:nvSpPr>
          <p:cNvPr id="18" name="Rectangle 17"/>
          <p:cNvSpPr/>
          <p:nvPr/>
        </p:nvSpPr>
        <p:spPr>
          <a:xfrm>
            <a:off x="9555480" y="25146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2514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156</a:t>
            </a:r>
          </a:p>
        </p:txBody>
      </p:sp>
      <p:sp>
        <p:nvSpPr>
          <p:cNvPr id="20" name="Rectangle 19"/>
          <p:cNvSpPr/>
          <p:nvPr/>
        </p:nvSpPr>
        <p:spPr>
          <a:xfrm>
            <a:off x="10561320" y="2514600"/>
            <a:ext cx="1078992"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25146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365</a:t>
            </a:r>
          </a:p>
        </p:txBody>
      </p:sp>
      <p:sp>
        <p:nvSpPr>
          <p:cNvPr id="22" name="Rectangle 21"/>
          <p:cNvSpPr/>
          <p:nvPr/>
        </p:nvSpPr>
        <p:spPr>
          <a:xfrm>
            <a:off x="6355080" y="2971800"/>
            <a:ext cx="219456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9718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売上総利益</a:t>
            </a:r>
          </a:p>
        </p:txBody>
      </p:sp>
      <p:sp>
        <p:nvSpPr>
          <p:cNvPr id="24" name="Rectangle 23"/>
          <p:cNvSpPr/>
          <p:nvPr/>
        </p:nvSpPr>
        <p:spPr>
          <a:xfrm>
            <a:off x="8549640" y="29718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2971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32</a:t>
            </a:r>
          </a:p>
        </p:txBody>
      </p:sp>
      <p:sp>
        <p:nvSpPr>
          <p:cNvPr id="26" name="Rectangle 25"/>
          <p:cNvSpPr/>
          <p:nvPr/>
        </p:nvSpPr>
        <p:spPr>
          <a:xfrm>
            <a:off x="9555480" y="29718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2971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103</a:t>
            </a:r>
          </a:p>
        </p:txBody>
      </p:sp>
      <p:sp>
        <p:nvSpPr>
          <p:cNvPr id="28" name="Rectangle 27"/>
          <p:cNvSpPr/>
          <p:nvPr/>
        </p:nvSpPr>
        <p:spPr>
          <a:xfrm>
            <a:off x="10561320" y="2971800"/>
            <a:ext cx="1078992"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0" y="29718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254</a:t>
            </a:r>
          </a:p>
        </p:txBody>
      </p:sp>
      <p:sp>
        <p:nvSpPr>
          <p:cNvPr id="30" name="Rectangle 29"/>
          <p:cNvSpPr/>
          <p:nvPr/>
        </p:nvSpPr>
        <p:spPr>
          <a:xfrm>
            <a:off x="6355080" y="3429000"/>
            <a:ext cx="219456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34290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767470"/>
                </a:solidFill>
                <a:latin typeface="游ゴシック"/>
                <a:ea typeface="游ゴシック"/>
              </a:rPr>
              <a:t>（粗利率）</a:t>
            </a:r>
          </a:p>
        </p:txBody>
      </p:sp>
      <p:sp>
        <p:nvSpPr>
          <p:cNvPr id="32" name="Rectangle 31"/>
          <p:cNvSpPr/>
          <p:nvPr/>
        </p:nvSpPr>
        <p:spPr>
          <a:xfrm>
            <a:off x="8549640" y="34290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0" y="34290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61%</a:t>
            </a:r>
          </a:p>
        </p:txBody>
      </p:sp>
      <p:sp>
        <p:nvSpPr>
          <p:cNvPr id="34" name="Rectangle 33"/>
          <p:cNvSpPr/>
          <p:nvPr/>
        </p:nvSpPr>
        <p:spPr>
          <a:xfrm>
            <a:off x="9555480" y="34290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0" y="34290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66%</a:t>
            </a:r>
          </a:p>
        </p:txBody>
      </p:sp>
      <p:sp>
        <p:nvSpPr>
          <p:cNvPr id="36" name="Rectangle 35"/>
          <p:cNvSpPr/>
          <p:nvPr/>
        </p:nvSpPr>
        <p:spPr>
          <a:xfrm>
            <a:off x="10561320" y="3429000"/>
            <a:ext cx="1078992"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07040" y="34290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69%</a:t>
            </a:r>
          </a:p>
        </p:txBody>
      </p:sp>
      <p:sp>
        <p:nvSpPr>
          <p:cNvPr id="38" name="Rectangle 37"/>
          <p:cNvSpPr/>
          <p:nvPr/>
        </p:nvSpPr>
        <p:spPr>
          <a:xfrm>
            <a:off x="6355080" y="3886200"/>
            <a:ext cx="219456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38862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販管費</a:t>
            </a:r>
          </a:p>
        </p:txBody>
      </p:sp>
      <p:sp>
        <p:nvSpPr>
          <p:cNvPr id="40" name="Rectangle 39"/>
          <p:cNvSpPr/>
          <p:nvPr/>
        </p:nvSpPr>
        <p:spPr>
          <a:xfrm>
            <a:off x="8549640" y="38862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0" y="38862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42</a:t>
            </a:r>
          </a:p>
        </p:txBody>
      </p:sp>
      <p:sp>
        <p:nvSpPr>
          <p:cNvPr id="42" name="Rectangle 41"/>
          <p:cNvSpPr/>
          <p:nvPr/>
        </p:nvSpPr>
        <p:spPr>
          <a:xfrm>
            <a:off x="9555480" y="38862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0" y="38862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88</a:t>
            </a:r>
          </a:p>
        </p:txBody>
      </p:sp>
      <p:sp>
        <p:nvSpPr>
          <p:cNvPr id="44" name="Rectangle 43"/>
          <p:cNvSpPr/>
          <p:nvPr/>
        </p:nvSpPr>
        <p:spPr>
          <a:xfrm>
            <a:off x="10561320" y="3886200"/>
            <a:ext cx="1078992"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07040" y="38862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175</a:t>
            </a:r>
          </a:p>
        </p:txBody>
      </p:sp>
      <p:sp>
        <p:nvSpPr>
          <p:cNvPr id="46" name="Rectangle 45"/>
          <p:cNvSpPr/>
          <p:nvPr/>
        </p:nvSpPr>
        <p:spPr>
          <a:xfrm>
            <a:off x="6355080" y="4343400"/>
            <a:ext cx="2194560" cy="45720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43434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1">
                <a:solidFill>
                  <a:srgbClr val="1C1C1E"/>
                </a:solidFill>
                <a:latin typeface="游ゴシック"/>
                <a:ea typeface="游ゴシック"/>
              </a:rPr>
              <a:t>営業利益</a:t>
            </a:r>
          </a:p>
        </p:txBody>
      </p:sp>
      <p:sp>
        <p:nvSpPr>
          <p:cNvPr id="48" name="Rectangle 47"/>
          <p:cNvSpPr/>
          <p:nvPr/>
        </p:nvSpPr>
        <p:spPr>
          <a:xfrm>
            <a:off x="8549640" y="4343400"/>
            <a:ext cx="1005840" cy="45720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95360" y="43434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50" b="1">
                <a:solidFill>
                  <a:srgbClr val="B0442F"/>
                </a:solidFill>
                <a:latin typeface="Georgia"/>
                <a:ea typeface="游ゴシック"/>
              </a:rPr>
              <a:t>△10</a:t>
            </a:r>
          </a:p>
        </p:txBody>
      </p:sp>
      <p:sp>
        <p:nvSpPr>
          <p:cNvPr id="50" name="Rectangle 49"/>
          <p:cNvSpPr/>
          <p:nvPr/>
        </p:nvSpPr>
        <p:spPr>
          <a:xfrm>
            <a:off x="9555480" y="4343400"/>
            <a:ext cx="1005840" cy="45720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3434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50" b="1">
                <a:solidFill>
                  <a:srgbClr val="3B7A57"/>
                </a:solidFill>
                <a:latin typeface="Georgia"/>
                <a:ea typeface="游ゴシック"/>
              </a:rPr>
              <a:t>15</a:t>
            </a:r>
          </a:p>
        </p:txBody>
      </p:sp>
      <p:sp>
        <p:nvSpPr>
          <p:cNvPr id="52" name="Rectangle 51"/>
          <p:cNvSpPr/>
          <p:nvPr/>
        </p:nvSpPr>
        <p:spPr>
          <a:xfrm>
            <a:off x="10561320" y="4343400"/>
            <a:ext cx="1078992" cy="45720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07040" y="43434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50" b="1">
                <a:solidFill>
                  <a:srgbClr val="3B7A57"/>
                </a:solidFill>
                <a:latin typeface="Georgia"/>
                <a:ea typeface="游ゴシック"/>
              </a:rPr>
              <a:t>79</a:t>
            </a:r>
          </a:p>
        </p:txBody>
      </p:sp>
      <p:sp>
        <p:nvSpPr>
          <p:cNvPr id="54" name="Rectangle 53"/>
          <p:cNvSpPr/>
          <p:nvPr/>
        </p:nvSpPr>
        <p:spPr>
          <a:xfrm>
            <a:off x="6355080" y="4800600"/>
            <a:ext cx="219456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6520" y="48006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767470"/>
                </a:solidFill>
                <a:latin typeface="游ゴシック"/>
                <a:ea typeface="游ゴシック"/>
              </a:rPr>
              <a:t>（営業利益率）</a:t>
            </a:r>
          </a:p>
        </p:txBody>
      </p:sp>
      <p:sp>
        <p:nvSpPr>
          <p:cNvPr id="56" name="Rectangle 55"/>
          <p:cNvSpPr/>
          <p:nvPr/>
        </p:nvSpPr>
        <p:spPr>
          <a:xfrm>
            <a:off x="8549640" y="48006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95360" y="4800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B0442F"/>
                </a:solidFill>
                <a:latin typeface="Georgia"/>
                <a:ea typeface="游ゴシック"/>
              </a:rPr>
              <a:t>△20%</a:t>
            </a:r>
          </a:p>
        </p:txBody>
      </p:sp>
      <p:sp>
        <p:nvSpPr>
          <p:cNvPr id="58" name="Rectangle 57"/>
          <p:cNvSpPr/>
          <p:nvPr/>
        </p:nvSpPr>
        <p:spPr>
          <a:xfrm>
            <a:off x="9555480" y="48006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01200" y="4800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10%</a:t>
            </a:r>
          </a:p>
        </p:txBody>
      </p:sp>
      <p:sp>
        <p:nvSpPr>
          <p:cNvPr id="60" name="Rectangle 59"/>
          <p:cNvSpPr/>
          <p:nvPr/>
        </p:nvSpPr>
        <p:spPr>
          <a:xfrm>
            <a:off x="10561320" y="4800600"/>
            <a:ext cx="1078992"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07040" y="48006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22%</a:t>
            </a:r>
          </a:p>
        </p:txBody>
      </p:sp>
      <p:sp>
        <p:nvSpPr>
          <p:cNvPr id="62" name="Rectangle 61"/>
          <p:cNvSpPr/>
          <p:nvPr/>
        </p:nvSpPr>
        <p:spPr>
          <a:xfrm>
            <a:off x="6355080" y="5257800"/>
            <a:ext cx="219456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46520" y="52578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従業員数（期末）</a:t>
            </a:r>
          </a:p>
        </p:txBody>
      </p:sp>
      <p:sp>
        <p:nvSpPr>
          <p:cNvPr id="64" name="Rectangle 63"/>
          <p:cNvSpPr/>
          <p:nvPr/>
        </p:nvSpPr>
        <p:spPr>
          <a:xfrm>
            <a:off x="8549640" y="52578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95360" y="5257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12</a:t>
            </a:r>
          </a:p>
        </p:txBody>
      </p:sp>
      <p:sp>
        <p:nvSpPr>
          <p:cNvPr id="66" name="Rectangle 65"/>
          <p:cNvSpPr/>
          <p:nvPr/>
        </p:nvSpPr>
        <p:spPr>
          <a:xfrm>
            <a:off x="9555480" y="5257800"/>
            <a:ext cx="1005840"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01200" y="5257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18</a:t>
            </a:r>
          </a:p>
        </p:txBody>
      </p:sp>
      <p:sp>
        <p:nvSpPr>
          <p:cNvPr id="68" name="Rectangle 67"/>
          <p:cNvSpPr/>
          <p:nvPr/>
        </p:nvSpPr>
        <p:spPr>
          <a:xfrm>
            <a:off x="10561320" y="5257800"/>
            <a:ext cx="1078992" cy="45720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607040" y="52578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32</a:t>
            </a:r>
          </a:p>
        </p:txBody>
      </p:sp>
      <p:sp>
        <p:nvSpPr>
          <p:cNvPr id="70" name="TextBox 69"/>
          <p:cNvSpPr txBox="1"/>
          <p:nvPr/>
        </p:nvSpPr>
        <p:spPr>
          <a:xfrm>
            <a:off x="6355080" y="5806440"/>
            <a:ext cx="5303520" cy="457200"/>
          </a:xfrm>
          <a:prstGeom prst="rect">
            <a:avLst/>
          </a:prstGeom>
          <a:noFill/>
        </p:spPr>
        <p:txBody>
          <a:bodyPr wrap="square" anchor="t" lIns="0" rIns="0" tIns="0" bIns="0">
            <a:spAutoFit/>
          </a:bodyPr>
          <a:lstStyle/>
          <a:p>
            <a:pPr algn="l">
              <a:lnSpc>
                <a:spcPct val="115000"/>
              </a:lnSpc>
              <a:spcBef>
                <a:spcPts val="0"/>
              </a:spcBef>
              <a:spcAft>
                <a:spcPts val="400"/>
              </a:spcAft>
            </a:pPr>
            <a:r>
              <a:rPr sz="800" b="0">
                <a:solidFill>
                  <a:srgbClr val="767470"/>
                </a:solidFill>
                <a:latin typeface="游ゴシック"/>
                <a:ea typeface="游ゴシック"/>
              </a:rPr>
              <a:t>※ 前提を明示した想定モデル（ベースシナリオ）。実績値ではありません。単位：百万円、△＝マイナス。</a:t>
            </a:r>
          </a:p>
        </p:txBody>
      </p:sp>
      <p:sp>
        <p:nvSpPr>
          <p:cNvPr id="71" name="TextBox 70"/>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72" name="TextBox 7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KEY ASSUMPTIONS</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財務計画の前提（すべて想定値・変更可能なドライバーとして分離）</a:t>
            </a:r>
          </a:p>
        </p:txBody>
      </p:sp>
      <p:sp>
        <p:nvSpPr>
          <p:cNvPr id="5" name="Rounded Rectangle 4"/>
          <p:cNvSpPr/>
          <p:nvPr/>
        </p:nvSpPr>
        <p:spPr>
          <a:xfrm>
            <a:off x="548640" y="1965960"/>
            <a:ext cx="5486400" cy="393192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5486400" cy="54864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65960"/>
            <a:ext cx="5120640" cy="548640"/>
          </a:xfrm>
          <a:prstGeom prst="rect">
            <a:avLst/>
          </a:prstGeom>
          <a:noFill/>
        </p:spPr>
        <p:txBody>
          <a:bodyPr wrap="square" anchor="ctr" lIns="0" rIns="0" tIns="0" bIns="0">
            <a:spAutoFit/>
          </a:bodyPr>
          <a:lstStyle/>
          <a:p>
            <a:pPr algn="l">
              <a:lnSpc>
                <a:spcPct val="106000"/>
              </a:lnSpc>
              <a:spcBef>
                <a:spcPts val="0"/>
              </a:spcBef>
              <a:spcAft>
                <a:spcPts val="400"/>
              </a:spcAft>
            </a:pPr>
            <a:r>
              <a:rPr sz="1300" b="1">
                <a:solidFill>
                  <a:srgbClr val="C5A059"/>
                </a:solidFill>
                <a:latin typeface="游ゴシック"/>
                <a:ea typeface="游ゴシック"/>
              </a:rPr>
              <a:t>収益ドライバー</a:t>
            </a:r>
          </a:p>
        </p:txBody>
      </p:sp>
      <p:sp>
        <p:nvSpPr>
          <p:cNvPr id="8" name="Oval 7"/>
          <p:cNvSpPr/>
          <p:nvPr/>
        </p:nvSpPr>
        <p:spPr>
          <a:xfrm>
            <a:off x="804672" y="2816352"/>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HackⅡ有料アカウント（期末）：60→260→620</a:t>
            </a:r>
          </a:p>
        </p:txBody>
      </p:sp>
      <p:sp>
        <p:nvSpPr>
          <p:cNvPr id="10" name="Oval 9"/>
          <p:cNvSpPr/>
          <p:nvPr/>
        </p:nvSpPr>
        <p:spPr>
          <a:xfrm>
            <a:off x="804672" y="3419856"/>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300984"/>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AIOメディア運営クライアント（期末）：24→52→88</a:t>
            </a:r>
          </a:p>
        </p:txBody>
      </p:sp>
      <p:sp>
        <p:nvSpPr>
          <p:cNvPr id="12" name="Oval 11"/>
          <p:cNvSpPr/>
          <p:nvPr/>
        </p:nvSpPr>
        <p:spPr>
          <a:xfrm>
            <a:off x="804672" y="4023360"/>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904488"/>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HackⅡ平均単価 ARPA：¥38,000/月</a:t>
            </a:r>
          </a:p>
        </p:txBody>
      </p:sp>
      <p:sp>
        <p:nvSpPr>
          <p:cNvPr id="14" name="Oval 13"/>
          <p:cNvSpPr/>
          <p:nvPr/>
        </p:nvSpPr>
        <p:spPr>
          <a:xfrm>
            <a:off x="804672" y="4626864"/>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07992"/>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メディア運営単価：¥110,000/月（本体＋オプション）</a:t>
            </a:r>
          </a:p>
        </p:txBody>
      </p:sp>
      <p:sp>
        <p:nvSpPr>
          <p:cNvPr id="16" name="Oval 15"/>
          <p:cNvSpPr/>
          <p:nvPr/>
        </p:nvSpPr>
        <p:spPr>
          <a:xfrm>
            <a:off x="804672" y="5230368"/>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11496"/>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DX・Web開発：プロジェクト収益 12→28→48百万円</a:t>
            </a:r>
          </a:p>
        </p:txBody>
      </p:sp>
      <p:sp>
        <p:nvSpPr>
          <p:cNvPr id="18" name="Rounded Rectangle 17"/>
          <p:cNvSpPr/>
          <p:nvPr/>
        </p:nvSpPr>
        <p:spPr>
          <a:xfrm>
            <a:off x="6153912" y="1965960"/>
            <a:ext cx="5486400" cy="393192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965960"/>
            <a:ext cx="5486400" cy="54864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1965960"/>
            <a:ext cx="5120640" cy="548640"/>
          </a:xfrm>
          <a:prstGeom prst="rect">
            <a:avLst/>
          </a:prstGeom>
          <a:noFill/>
        </p:spPr>
        <p:txBody>
          <a:bodyPr wrap="square" anchor="ctr" lIns="0" rIns="0" tIns="0" bIns="0">
            <a:spAutoFit/>
          </a:bodyPr>
          <a:lstStyle/>
          <a:p>
            <a:pPr algn="l">
              <a:lnSpc>
                <a:spcPct val="106000"/>
              </a:lnSpc>
              <a:spcBef>
                <a:spcPts val="0"/>
              </a:spcBef>
              <a:spcAft>
                <a:spcPts val="400"/>
              </a:spcAft>
            </a:pPr>
            <a:r>
              <a:rPr sz="1300" b="1">
                <a:solidFill>
                  <a:srgbClr val="C5A059"/>
                </a:solidFill>
                <a:latin typeface="游ゴシック"/>
                <a:ea typeface="游ゴシック"/>
              </a:rPr>
              <a:t>コスト・効率前提</a:t>
            </a:r>
          </a:p>
        </p:txBody>
      </p:sp>
      <p:sp>
        <p:nvSpPr>
          <p:cNvPr id="21" name="Oval 20"/>
          <p:cNvSpPr/>
          <p:nvPr/>
        </p:nvSpPr>
        <p:spPr>
          <a:xfrm>
            <a:off x="6409944" y="2816352"/>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1112" y="2697480"/>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粗利率：SaaS 82%／メディア 55%／開発 45%</a:t>
            </a:r>
          </a:p>
        </p:txBody>
      </p:sp>
      <p:sp>
        <p:nvSpPr>
          <p:cNvPr id="23" name="Oval 22"/>
          <p:cNvSpPr/>
          <p:nvPr/>
        </p:nvSpPr>
        <p:spPr>
          <a:xfrm>
            <a:off x="6409944" y="3419856"/>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3300984"/>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月次解約率（churn）：2.0%、NRR：115%想定</a:t>
            </a:r>
          </a:p>
        </p:txBody>
      </p:sp>
      <p:sp>
        <p:nvSpPr>
          <p:cNvPr id="25" name="Oval 24"/>
          <p:cNvSpPr/>
          <p:nvPr/>
        </p:nvSpPr>
        <p:spPr>
          <a:xfrm>
            <a:off x="6409944" y="4023360"/>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904488"/>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CAC：¥120,000／LTV：約156万円</a:t>
            </a:r>
          </a:p>
        </p:txBody>
      </p:sp>
      <p:sp>
        <p:nvSpPr>
          <p:cNvPr id="27" name="Oval 26"/>
          <p:cNvSpPr/>
          <p:nvPr/>
        </p:nvSpPr>
        <p:spPr>
          <a:xfrm>
            <a:off x="6409944" y="4626864"/>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11112" y="4507992"/>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従業員数：12→18→32名（採用先行）</a:t>
            </a:r>
          </a:p>
        </p:txBody>
      </p:sp>
      <p:sp>
        <p:nvSpPr>
          <p:cNvPr id="29" name="Oval 28"/>
          <p:cNvSpPr/>
          <p:nvPr/>
        </p:nvSpPr>
        <p:spPr>
          <a:xfrm>
            <a:off x="6409944" y="5230368"/>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11112" y="5111496"/>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販管費：人件費・採用・広告・R&amp;Dを含む</a:t>
            </a:r>
          </a:p>
        </p:txBody>
      </p:sp>
      <p:sp>
        <p:nvSpPr>
          <p:cNvPr id="31" name="TextBox 30"/>
          <p:cNvSpPr txBox="1"/>
          <p:nvPr/>
        </p:nvSpPr>
        <p:spPr>
          <a:xfrm>
            <a:off x="548640" y="6035040"/>
            <a:ext cx="10972800" cy="365760"/>
          </a:xfrm>
          <a:prstGeom prst="rect">
            <a:avLst/>
          </a:prstGeom>
          <a:noFill/>
        </p:spPr>
        <p:txBody>
          <a:bodyPr wrap="square" anchor="t" lIns="0" rIns="0" tIns="0" bIns="0">
            <a:spAutoFit/>
          </a:bodyPr>
          <a:lstStyle/>
          <a:p>
            <a:pPr algn="l">
              <a:lnSpc>
                <a:spcPct val="106000"/>
              </a:lnSpc>
              <a:spcBef>
                <a:spcPts val="0"/>
              </a:spcBef>
              <a:spcAft>
                <a:spcPts val="400"/>
              </a:spcAft>
            </a:pPr>
            <a:r>
              <a:rPr sz="850" b="0">
                <a:solidFill>
                  <a:srgbClr val="767470"/>
                </a:solidFill>
                <a:latin typeface="游ゴシック"/>
                <a:ea typeface="游ゴシック"/>
              </a:rPr>
              <a:t>※ 上記は将来の達成を保証するものではなく、事業設計上のベースシナリオ。市場環境・実績に応じて更新する。</a:t>
            </a:r>
          </a:p>
        </p:txBody>
      </p:sp>
      <p:sp>
        <p:nvSpPr>
          <p:cNvPr id="32" name="TextBox 31"/>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33" name="TextBox 32"/>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MILESTONES — ROADMAP</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基盤構築 → PMF → スケール → 多角化の4フェーズで段階的に拡大</a:t>
            </a:r>
          </a:p>
        </p:txBody>
      </p:sp>
      <p:sp>
        <p:nvSpPr>
          <p:cNvPr id="5" name="Rectangle 4"/>
          <p:cNvSpPr/>
          <p:nvPr/>
        </p:nvSpPr>
        <p:spPr>
          <a:xfrm>
            <a:off x="548640" y="1965960"/>
            <a:ext cx="11091672" cy="54864"/>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19656" y="1883664"/>
            <a:ext cx="164592" cy="164592"/>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240280"/>
            <a:ext cx="2706624" cy="36118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40280"/>
            <a:ext cx="2706624" cy="786384"/>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1</a:t>
            </a:r>
          </a:p>
        </p:txBody>
      </p:sp>
      <p:sp>
        <p:nvSpPr>
          <p:cNvPr id="10" name="TextBox 9"/>
          <p:cNvSpPr txBox="1"/>
          <p:nvPr/>
        </p:nvSpPr>
        <p:spPr>
          <a:xfrm>
            <a:off x="548640"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〜2026 H1　基盤構築</a:t>
            </a:r>
          </a:p>
        </p:txBody>
      </p:sp>
      <p:sp>
        <p:nvSpPr>
          <p:cNvPr id="11" name="Oval 10"/>
          <p:cNvSpPr/>
          <p:nvPr/>
        </p:nvSpPr>
        <p:spPr>
          <a:xfrm>
            <a:off x="731520" y="3291840"/>
            <a:ext cx="73152" cy="73152"/>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HackⅡ 正式リリース</a:t>
            </a:r>
          </a:p>
        </p:txBody>
      </p:sp>
      <p:sp>
        <p:nvSpPr>
          <p:cNvPr id="13" name="Oval 12"/>
          <p:cNvSpPr/>
          <p:nvPr/>
        </p:nvSpPr>
        <p:spPr>
          <a:xfrm>
            <a:off x="731520" y="3950207"/>
            <a:ext cx="73152" cy="73152"/>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動的更新エンジン 特許出願</a:t>
            </a:r>
          </a:p>
        </p:txBody>
      </p:sp>
      <p:sp>
        <p:nvSpPr>
          <p:cNvPr id="15" name="Oval 14"/>
          <p:cNvSpPr/>
          <p:nvPr/>
        </p:nvSpPr>
        <p:spPr>
          <a:xfrm>
            <a:off x="731520" y="4608575"/>
            <a:ext cx="73152" cy="73152"/>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llms.txt 5ファイル体制・ページ別最適化</a:t>
            </a:r>
          </a:p>
        </p:txBody>
      </p:sp>
      <p:sp>
        <p:nvSpPr>
          <p:cNvPr id="17" name="Oval 16"/>
          <p:cNvSpPr/>
          <p:nvPr/>
        </p:nvSpPr>
        <p:spPr>
          <a:xfrm>
            <a:off x="731520" y="5266943"/>
            <a:ext cx="73152" cy="73152"/>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法人マーケ実績 134件+ を基盤化</a:t>
            </a:r>
          </a:p>
        </p:txBody>
      </p:sp>
      <p:sp>
        <p:nvSpPr>
          <p:cNvPr id="19" name="Oval 18"/>
          <p:cNvSpPr/>
          <p:nvPr/>
        </p:nvSpPr>
        <p:spPr>
          <a:xfrm>
            <a:off x="4645152" y="1883664"/>
            <a:ext cx="164592" cy="164592"/>
          </a:xfrm>
          <a:prstGeom prst="ellipse">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374136" y="2240280"/>
            <a:ext cx="2706624" cy="36118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74136" y="2240280"/>
            <a:ext cx="2706624" cy="786384"/>
          </a:xfrm>
          <a:prstGeom prst="rect">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74136"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2</a:t>
            </a:r>
          </a:p>
        </p:txBody>
      </p:sp>
      <p:sp>
        <p:nvSpPr>
          <p:cNvPr id="23" name="TextBox 22"/>
          <p:cNvSpPr txBox="1"/>
          <p:nvPr/>
        </p:nvSpPr>
        <p:spPr>
          <a:xfrm>
            <a:off x="3374136"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2026 H2　製品化・PMF</a:t>
            </a:r>
          </a:p>
        </p:txBody>
      </p:sp>
      <p:sp>
        <p:nvSpPr>
          <p:cNvPr id="24" name="Oval 23"/>
          <p:cNvSpPr/>
          <p:nvPr/>
        </p:nvSpPr>
        <p:spPr>
          <a:xfrm>
            <a:off x="3557016" y="3291840"/>
            <a:ext cx="73152" cy="73152"/>
          </a:xfrm>
          <a:prstGeom prst="ellipse">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9896"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Starter/Pro/Enterprise 3プラン提供</a:t>
            </a:r>
          </a:p>
        </p:txBody>
      </p:sp>
      <p:sp>
        <p:nvSpPr>
          <p:cNvPr id="26" name="Oval 25"/>
          <p:cNvSpPr/>
          <p:nvPr/>
        </p:nvSpPr>
        <p:spPr>
          <a:xfrm>
            <a:off x="3557016" y="3950207"/>
            <a:ext cx="73152" cy="73152"/>
          </a:xfrm>
          <a:prstGeom prst="ellipse">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9896"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ハカル即日稼働ダッシュボード</a:t>
            </a:r>
          </a:p>
        </p:txBody>
      </p:sp>
      <p:sp>
        <p:nvSpPr>
          <p:cNvPr id="28" name="Oval 27"/>
          <p:cNvSpPr/>
          <p:nvPr/>
        </p:nvSpPr>
        <p:spPr>
          <a:xfrm>
            <a:off x="3557016" y="4608575"/>
            <a:ext cx="73152" cy="73152"/>
          </a:xfrm>
          <a:prstGeom prst="ellipse">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39896"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AICSスコア改善実証（51→77.9）</a:t>
            </a:r>
          </a:p>
        </p:txBody>
      </p:sp>
      <p:sp>
        <p:nvSpPr>
          <p:cNvPr id="30" name="Oval 29"/>
          <p:cNvSpPr/>
          <p:nvPr/>
        </p:nvSpPr>
        <p:spPr>
          <a:xfrm>
            <a:off x="3557016" y="5266943"/>
            <a:ext cx="73152" cy="73152"/>
          </a:xfrm>
          <a:prstGeom prst="ellipse">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39896"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有料アカウント 〜60</a:t>
            </a:r>
          </a:p>
        </p:txBody>
      </p:sp>
      <p:sp>
        <p:nvSpPr>
          <p:cNvPr id="32" name="Oval 31"/>
          <p:cNvSpPr/>
          <p:nvPr/>
        </p:nvSpPr>
        <p:spPr>
          <a:xfrm>
            <a:off x="7470648" y="1883664"/>
            <a:ext cx="164592" cy="16459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99631" y="2240280"/>
            <a:ext cx="2706624" cy="36118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99631" y="2240280"/>
            <a:ext cx="2706624" cy="786384"/>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9631"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3</a:t>
            </a:r>
          </a:p>
        </p:txBody>
      </p:sp>
      <p:sp>
        <p:nvSpPr>
          <p:cNvPr id="36" name="TextBox 35"/>
          <p:cNvSpPr txBox="1"/>
          <p:nvPr/>
        </p:nvSpPr>
        <p:spPr>
          <a:xfrm>
            <a:off x="6199631"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2027　スケール</a:t>
            </a:r>
          </a:p>
        </p:txBody>
      </p:sp>
      <p:sp>
        <p:nvSpPr>
          <p:cNvPr id="37" name="Oval 36"/>
          <p:cNvSpPr/>
          <p:nvPr/>
        </p:nvSpPr>
        <p:spPr>
          <a:xfrm>
            <a:off x="6382512" y="3291840"/>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Platform・API連携／IR・ESG Enterprise獲得</a:t>
            </a:r>
          </a:p>
        </p:txBody>
      </p:sp>
      <p:sp>
        <p:nvSpPr>
          <p:cNvPr id="39" name="Oval 38"/>
          <p:cNvSpPr/>
          <p:nvPr/>
        </p:nvSpPr>
        <p:spPr>
          <a:xfrm>
            <a:off x="6382512" y="3950207"/>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65392"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代理店・パートナー網構築</a:t>
            </a:r>
          </a:p>
        </p:txBody>
      </p:sp>
      <p:sp>
        <p:nvSpPr>
          <p:cNvPr id="41" name="Oval 40"/>
          <p:cNvSpPr/>
          <p:nvPr/>
        </p:nvSpPr>
        <p:spPr>
          <a:xfrm>
            <a:off x="6382512" y="4608575"/>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65392"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顧客数×3・営業CF黒字化</a:t>
            </a:r>
          </a:p>
        </p:txBody>
      </p:sp>
      <p:sp>
        <p:nvSpPr>
          <p:cNvPr id="43" name="Oval 42"/>
          <p:cNvSpPr/>
          <p:nvPr/>
        </p:nvSpPr>
        <p:spPr>
          <a:xfrm>
            <a:off x="6382512" y="5266943"/>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65392"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NRR 115%・アップセル本格化</a:t>
            </a:r>
          </a:p>
        </p:txBody>
      </p:sp>
      <p:sp>
        <p:nvSpPr>
          <p:cNvPr id="45" name="Oval 44"/>
          <p:cNvSpPr/>
          <p:nvPr/>
        </p:nvSpPr>
        <p:spPr>
          <a:xfrm>
            <a:off x="10296144" y="1883664"/>
            <a:ext cx="164592" cy="16459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025128" y="2240280"/>
            <a:ext cx="2706624" cy="361188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025128" y="2240280"/>
            <a:ext cx="2706624" cy="786384"/>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25128"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4</a:t>
            </a:r>
          </a:p>
        </p:txBody>
      </p:sp>
      <p:sp>
        <p:nvSpPr>
          <p:cNvPr id="49" name="TextBox 48"/>
          <p:cNvSpPr txBox="1"/>
          <p:nvPr/>
        </p:nvSpPr>
        <p:spPr>
          <a:xfrm>
            <a:off x="9025128"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2028　拡大・多角化</a:t>
            </a:r>
          </a:p>
        </p:txBody>
      </p:sp>
      <p:sp>
        <p:nvSpPr>
          <p:cNvPr id="50" name="Oval 49"/>
          <p:cNvSpPr/>
          <p:nvPr/>
        </p:nvSpPr>
        <p:spPr>
          <a:xfrm>
            <a:off x="9208007" y="3291840"/>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90888"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AI検索クローラー収益化（AI Exclusive™）</a:t>
            </a:r>
          </a:p>
        </p:txBody>
      </p:sp>
      <p:sp>
        <p:nvSpPr>
          <p:cNvPr id="52" name="Oval 51"/>
          <p:cNvSpPr/>
          <p:nvPr/>
        </p:nvSpPr>
        <p:spPr>
          <a:xfrm>
            <a:off x="9208007" y="3950207"/>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90888"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データライセンス収益の立ち上げ</a:t>
            </a:r>
          </a:p>
        </p:txBody>
      </p:sp>
      <p:sp>
        <p:nvSpPr>
          <p:cNvPr id="54" name="Oval 53"/>
          <p:cNvSpPr/>
          <p:nvPr/>
        </p:nvSpPr>
        <p:spPr>
          <a:xfrm>
            <a:off x="9208007" y="4608575"/>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90888"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営業利益率 20%超</a:t>
            </a:r>
          </a:p>
        </p:txBody>
      </p:sp>
      <p:sp>
        <p:nvSpPr>
          <p:cNvPr id="56" name="Oval 55"/>
          <p:cNvSpPr/>
          <p:nvPr/>
        </p:nvSpPr>
        <p:spPr>
          <a:xfrm>
            <a:off x="9208007" y="5266943"/>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90888"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展開事業（学生協会等）の拡張</a:t>
            </a:r>
          </a:p>
        </p:txBody>
      </p:sp>
      <p:sp>
        <p:nvSpPr>
          <p:cNvPr id="58" name="TextBox 57"/>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59" name="TextBox 58"/>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KPI MILESTONES（想定）</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各フェーズの到達目標をKPIで定義し、達成度で意思決定する</a:t>
            </a:r>
          </a:p>
        </p:txBody>
      </p:sp>
      <p:sp>
        <p:nvSpPr>
          <p:cNvPr id="5" name="Rectangle 4"/>
          <p:cNvSpPr/>
          <p:nvPr/>
        </p:nvSpPr>
        <p:spPr>
          <a:xfrm>
            <a:off x="548640" y="1965960"/>
            <a:ext cx="5029200" cy="50292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1">
                <a:solidFill>
                  <a:srgbClr val="FFFFFF"/>
                </a:solidFill>
                <a:latin typeface="游ゴシック"/>
                <a:ea typeface="游ゴシック"/>
              </a:rPr>
              <a:t>KPI</a:t>
            </a:r>
          </a:p>
        </p:txBody>
      </p:sp>
      <p:sp>
        <p:nvSpPr>
          <p:cNvPr id="7" name="Rectangle 6"/>
          <p:cNvSpPr/>
          <p:nvPr/>
        </p:nvSpPr>
        <p:spPr>
          <a:xfrm>
            <a:off x="5577840" y="1965960"/>
            <a:ext cx="2057400" cy="50292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1965960"/>
            <a:ext cx="178308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00" b="1">
                <a:solidFill>
                  <a:srgbClr val="C5A059"/>
                </a:solidFill>
                <a:latin typeface="Georgia"/>
                <a:ea typeface="游ゴシック"/>
              </a:rPr>
              <a:t>FY2026</a:t>
            </a:r>
          </a:p>
        </p:txBody>
      </p:sp>
      <p:sp>
        <p:nvSpPr>
          <p:cNvPr id="9" name="Rectangle 8"/>
          <p:cNvSpPr/>
          <p:nvPr/>
        </p:nvSpPr>
        <p:spPr>
          <a:xfrm>
            <a:off x="7635240" y="1965960"/>
            <a:ext cx="2057400" cy="50292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965960"/>
            <a:ext cx="178308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00" b="1">
                <a:solidFill>
                  <a:srgbClr val="C5A059"/>
                </a:solidFill>
                <a:latin typeface="Georgia"/>
                <a:ea typeface="游ゴシック"/>
              </a:rPr>
              <a:t>FY2027</a:t>
            </a:r>
          </a:p>
        </p:txBody>
      </p:sp>
      <p:sp>
        <p:nvSpPr>
          <p:cNvPr id="11" name="Rectangle 10"/>
          <p:cNvSpPr/>
          <p:nvPr/>
        </p:nvSpPr>
        <p:spPr>
          <a:xfrm>
            <a:off x="9692640" y="1965960"/>
            <a:ext cx="1947672" cy="50292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1965960"/>
            <a:ext cx="1673351" cy="502920"/>
          </a:xfrm>
          <a:prstGeom prst="rect">
            <a:avLst/>
          </a:prstGeom>
          <a:noFill/>
        </p:spPr>
        <p:txBody>
          <a:bodyPr wrap="square" anchor="ctr" lIns="0" rIns="0" tIns="0" bIns="0">
            <a:spAutoFit/>
          </a:bodyPr>
          <a:lstStyle/>
          <a:p>
            <a:pPr algn="r">
              <a:lnSpc>
                <a:spcPct val="106000"/>
              </a:lnSpc>
              <a:spcBef>
                <a:spcPts val="0"/>
              </a:spcBef>
              <a:spcAft>
                <a:spcPts val="400"/>
              </a:spcAft>
            </a:pPr>
            <a:r>
              <a:rPr sz="1100" b="1">
                <a:solidFill>
                  <a:srgbClr val="C5A059"/>
                </a:solidFill>
                <a:latin typeface="Georgia"/>
                <a:ea typeface="游ゴシック"/>
              </a:rPr>
              <a:t>FY2028</a:t>
            </a:r>
          </a:p>
        </p:txBody>
      </p:sp>
      <p:sp>
        <p:nvSpPr>
          <p:cNvPr id="13" name="Rectangle 12"/>
          <p:cNvSpPr/>
          <p:nvPr/>
        </p:nvSpPr>
        <p:spPr>
          <a:xfrm>
            <a:off x="548640" y="2468880"/>
            <a:ext cx="50292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6888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売上高（百万円）</a:t>
            </a:r>
          </a:p>
        </p:txBody>
      </p:sp>
      <p:sp>
        <p:nvSpPr>
          <p:cNvPr id="15" name="Rectangle 14"/>
          <p:cNvSpPr/>
          <p:nvPr/>
        </p:nvSpPr>
        <p:spPr>
          <a:xfrm>
            <a:off x="5577840" y="246888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79" y="24688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52</a:t>
            </a:r>
          </a:p>
        </p:txBody>
      </p:sp>
      <p:sp>
        <p:nvSpPr>
          <p:cNvPr id="17" name="Rectangle 16"/>
          <p:cNvSpPr/>
          <p:nvPr/>
        </p:nvSpPr>
        <p:spPr>
          <a:xfrm>
            <a:off x="7635240" y="246888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24688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156</a:t>
            </a:r>
          </a:p>
        </p:txBody>
      </p:sp>
      <p:sp>
        <p:nvSpPr>
          <p:cNvPr id="19" name="Rectangle 18"/>
          <p:cNvSpPr/>
          <p:nvPr/>
        </p:nvSpPr>
        <p:spPr>
          <a:xfrm>
            <a:off x="9692640" y="2468880"/>
            <a:ext cx="1947672"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246888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365</a:t>
            </a:r>
          </a:p>
        </p:txBody>
      </p:sp>
      <p:sp>
        <p:nvSpPr>
          <p:cNvPr id="21" name="Rectangle 20"/>
          <p:cNvSpPr/>
          <p:nvPr/>
        </p:nvSpPr>
        <p:spPr>
          <a:xfrm>
            <a:off x="548640" y="2971800"/>
            <a:ext cx="50292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7180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ARR ラン・レート（百万円）</a:t>
            </a:r>
          </a:p>
        </p:txBody>
      </p:sp>
      <p:sp>
        <p:nvSpPr>
          <p:cNvPr id="23" name="Rectangle 22"/>
          <p:cNvSpPr/>
          <p:nvPr/>
        </p:nvSpPr>
        <p:spPr>
          <a:xfrm>
            <a:off x="5577840" y="2971800"/>
            <a:ext cx="20574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79" y="29718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59</a:t>
            </a:r>
          </a:p>
        </p:txBody>
      </p:sp>
      <p:sp>
        <p:nvSpPr>
          <p:cNvPr id="25" name="Rectangle 24"/>
          <p:cNvSpPr/>
          <p:nvPr/>
        </p:nvSpPr>
        <p:spPr>
          <a:xfrm>
            <a:off x="7635240" y="2971800"/>
            <a:ext cx="20574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79" y="29718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187</a:t>
            </a:r>
          </a:p>
        </p:txBody>
      </p:sp>
      <p:sp>
        <p:nvSpPr>
          <p:cNvPr id="27" name="Rectangle 26"/>
          <p:cNvSpPr/>
          <p:nvPr/>
        </p:nvSpPr>
        <p:spPr>
          <a:xfrm>
            <a:off x="9692640" y="2971800"/>
            <a:ext cx="1947672"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0" y="297180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399</a:t>
            </a:r>
          </a:p>
        </p:txBody>
      </p:sp>
      <p:sp>
        <p:nvSpPr>
          <p:cNvPr id="29" name="Rectangle 28"/>
          <p:cNvSpPr/>
          <p:nvPr/>
        </p:nvSpPr>
        <p:spPr>
          <a:xfrm>
            <a:off x="548640" y="3474720"/>
            <a:ext cx="50292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7472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HackⅡ有料アカウント（期末）</a:t>
            </a:r>
          </a:p>
        </p:txBody>
      </p:sp>
      <p:sp>
        <p:nvSpPr>
          <p:cNvPr id="31" name="Rectangle 30"/>
          <p:cNvSpPr/>
          <p:nvPr/>
        </p:nvSpPr>
        <p:spPr>
          <a:xfrm>
            <a:off x="5577840" y="347472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79" y="347472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60</a:t>
            </a:r>
          </a:p>
        </p:txBody>
      </p:sp>
      <p:sp>
        <p:nvSpPr>
          <p:cNvPr id="33" name="Rectangle 32"/>
          <p:cNvSpPr/>
          <p:nvPr/>
        </p:nvSpPr>
        <p:spPr>
          <a:xfrm>
            <a:off x="7635240" y="347472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26679" y="347472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260</a:t>
            </a:r>
          </a:p>
        </p:txBody>
      </p:sp>
      <p:sp>
        <p:nvSpPr>
          <p:cNvPr id="35" name="Rectangle 34"/>
          <p:cNvSpPr/>
          <p:nvPr/>
        </p:nvSpPr>
        <p:spPr>
          <a:xfrm>
            <a:off x="9692640" y="3474720"/>
            <a:ext cx="1947672"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0" y="347472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620</a:t>
            </a:r>
          </a:p>
        </p:txBody>
      </p:sp>
      <p:sp>
        <p:nvSpPr>
          <p:cNvPr id="37" name="Rectangle 36"/>
          <p:cNvSpPr/>
          <p:nvPr/>
        </p:nvSpPr>
        <p:spPr>
          <a:xfrm>
            <a:off x="548640" y="3977639"/>
            <a:ext cx="50292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3977639"/>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メディア運営クライアント（期末）</a:t>
            </a:r>
          </a:p>
        </p:txBody>
      </p:sp>
      <p:sp>
        <p:nvSpPr>
          <p:cNvPr id="39" name="Rectangle 38"/>
          <p:cNvSpPr/>
          <p:nvPr/>
        </p:nvSpPr>
        <p:spPr>
          <a:xfrm>
            <a:off x="5577840" y="3977639"/>
            <a:ext cx="20574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79" y="3977639"/>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24</a:t>
            </a:r>
          </a:p>
        </p:txBody>
      </p:sp>
      <p:sp>
        <p:nvSpPr>
          <p:cNvPr id="41" name="Rectangle 40"/>
          <p:cNvSpPr/>
          <p:nvPr/>
        </p:nvSpPr>
        <p:spPr>
          <a:xfrm>
            <a:off x="7635240" y="3977639"/>
            <a:ext cx="20574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26679" y="3977639"/>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52</a:t>
            </a:r>
          </a:p>
        </p:txBody>
      </p:sp>
      <p:sp>
        <p:nvSpPr>
          <p:cNvPr id="43" name="Rectangle 42"/>
          <p:cNvSpPr/>
          <p:nvPr/>
        </p:nvSpPr>
        <p:spPr>
          <a:xfrm>
            <a:off x="9692640" y="3977639"/>
            <a:ext cx="1947672"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84080" y="3977639"/>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88</a:t>
            </a:r>
          </a:p>
        </p:txBody>
      </p:sp>
      <p:sp>
        <p:nvSpPr>
          <p:cNvPr id="45" name="Rectangle 44"/>
          <p:cNvSpPr/>
          <p:nvPr/>
        </p:nvSpPr>
        <p:spPr>
          <a:xfrm>
            <a:off x="548640" y="4480560"/>
            <a:ext cx="50292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48056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営業利益（百万円）</a:t>
            </a:r>
          </a:p>
        </p:txBody>
      </p:sp>
      <p:sp>
        <p:nvSpPr>
          <p:cNvPr id="47" name="Rectangle 46"/>
          <p:cNvSpPr/>
          <p:nvPr/>
        </p:nvSpPr>
        <p:spPr>
          <a:xfrm>
            <a:off x="5577840" y="448056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79" y="448056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B0442F"/>
                </a:solidFill>
                <a:latin typeface="Georgia"/>
                <a:ea typeface="游ゴシック"/>
              </a:rPr>
              <a:t>△10</a:t>
            </a:r>
          </a:p>
        </p:txBody>
      </p:sp>
      <p:sp>
        <p:nvSpPr>
          <p:cNvPr id="49" name="Rectangle 48"/>
          <p:cNvSpPr/>
          <p:nvPr/>
        </p:nvSpPr>
        <p:spPr>
          <a:xfrm>
            <a:off x="7635240" y="448056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26679" y="448056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15</a:t>
            </a:r>
          </a:p>
        </p:txBody>
      </p:sp>
      <p:sp>
        <p:nvSpPr>
          <p:cNvPr id="51" name="Rectangle 50"/>
          <p:cNvSpPr/>
          <p:nvPr/>
        </p:nvSpPr>
        <p:spPr>
          <a:xfrm>
            <a:off x="9692640" y="4480560"/>
            <a:ext cx="1947672"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84080" y="448056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79</a:t>
            </a:r>
          </a:p>
        </p:txBody>
      </p:sp>
      <p:sp>
        <p:nvSpPr>
          <p:cNvPr id="53" name="Rectangle 52"/>
          <p:cNvSpPr/>
          <p:nvPr/>
        </p:nvSpPr>
        <p:spPr>
          <a:xfrm>
            <a:off x="548640" y="4983480"/>
            <a:ext cx="50292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98348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営業利益率</a:t>
            </a:r>
          </a:p>
        </p:txBody>
      </p:sp>
      <p:sp>
        <p:nvSpPr>
          <p:cNvPr id="55" name="Rectangle 54"/>
          <p:cNvSpPr/>
          <p:nvPr/>
        </p:nvSpPr>
        <p:spPr>
          <a:xfrm>
            <a:off x="5577840" y="4983480"/>
            <a:ext cx="20574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79" y="49834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B0442F"/>
                </a:solidFill>
                <a:latin typeface="Georgia"/>
                <a:ea typeface="游ゴシック"/>
              </a:rPr>
              <a:t>△20%</a:t>
            </a:r>
          </a:p>
        </p:txBody>
      </p:sp>
      <p:sp>
        <p:nvSpPr>
          <p:cNvPr id="57" name="Rectangle 56"/>
          <p:cNvSpPr/>
          <p:nvPr/>
        </p:nvSpPr>
        <p:spPr>
          <a:xfrm>
            <a:off x="7635240" y="4983480"/>
            <a:ext cx="2057400"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26679" y="49834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10%</a:t>
            </a:r>
          </a:p>
        </p:txBody>
      </p:sp>
      <p:sp>
        <p:nvSpPr>
          <p:cNvPr id="59" name="Rectangle 58"/>
          <p:cNvSpPr/>
          <p:nvPr/>
        </p:nvSpPr>
        <p:spPr>
          <a:xfrm>
            <a:off x="9692640" y="4983480"/>
            <a:ext cx="1947672" cy="502920"/>
          </a:xfrm>
          <a:prstGeom prst="rect">
            <a:avLst/>
          </a:prstGeom>
          <a:solidFill>
            <a:srgbClr val="F7F3EB"/>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84080" y="498348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22%</a:t>
            </a:r>
          </a:p>
        </p:txBody>
      </p:sp>
      <p:sp>
        <p:nvSpPr>
          <p:cNvPr id="61" name="Rectangle 60"/>
          <p:cNvSpPr/>
          <p:nvPr/>
        </p:nvSpPr>
        <p:spPr>
          <a:xfrm>
            <a:off x="548640" y="5486400"/>
            <a:ext cx="50292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 y="548640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従業員数（期末）</a:t>
            </a:r>
          </a:p>
        </p:txBody>
      </p:sp>
      <p:sp>
        <p:nvSpPr>
          <p:cNvPr id="63" name="Rectangle 62"/>
          <p:cNvSpPr/>
          <p:nvPr/>
        </p:nvSpPr>
        <p:spPr>
          <a:xfrm>
            <a:off x="5577840" y="548640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69279" y="54864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12</a:t>
            </a:r>
          </a:p>
        </p:txBody>
      </p:sp>
      <p:sp>
        <p:nvSpPr>
          <p:cNvPr id="65" name="Rectangle 64"/>
          <p:cNvSpPr/>
          <p:nvPr/>
        </p:nvSpPr>
        <p:spPr>
          <a:xfrm>
            <a:off x="7635240" y="5486400"/>
            <a:ext cx="2057400"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26679" y="54864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18</a:t>
            </a:r>
          </a:p>
        </p:txBody>
      </p:sp>
      <p:sp>
        <p:nvSpPr>
          <p:cNvPr id="67" name="Rectangle 66"/>
          <p:cNvSpPr/>
          <p:nvPr/>
        </p:nvSpPr>
        <p:spPr>
          <a:xfrm>
            <a:off x="9692640" y="5486400"/>
            <a:ext cx="1947672" cy="502920"/>
          </a:xfrm>
          <a:prstGeom prst="rect">
            <a:avLst/>
          </a:prstGeom>
          <a:solidFill>
            <a:srgbClr val="FFFFFF"/>
          </a:solidFill>
          <a:ln w="635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784080" y="548640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32</a:t>
            </a:r>
          </a:p>
        </p:txBody>
      </p:sp>
      <p:sp>
        <p:nvSpPr>
          <p:cNvPr id="69" name="TextBox 68"/>
          <p:cNvSpPr txBox="1"/>
          <p:nvPr/>
        </p:nvSpPr>
        <p:spPr>
          <a:xfrm>
            <a:off x="548640" y="5989320"/>
            <a:ext cx="10972800" cy="365760"/>
          </a:xfrm>
          <a:prstGeom prst="rect">
            <a:avLst/>
          </a:prstGeom>
          <a:noFill/>
        </p:spPr>
        <p:txBody>
          <a:bodyPr wrap="square" anchor="t" lIns="0" rIns="0" tIns="0" bIns="0">
            <a:spAutoFit/>
          </a:bodyPr>
          <a:lstStyle/>
          <a:p>
            <a:pPr algn="l">
              <a:lnSpc>
                <a:spcPct val="106000"/>
              </a:lnSpc>
              <a:spcBef>
                <a:spcPts val="0"/>
              </a:spcBef>
              <a:spcAft>
                <a:spcPts val="400"/>
              </a:spcAft>
            </a:pPr>
            <a:r>
              <a:rPr sz="850" b="0">
                <a:solidFill>
                  <a:srgbClr val="767470"/>
                </a:solidFill>
                <a:latin typeface="游ゴシック"/>
                <a:ea typeface="游ゴシック"/>
              </a:rPr>
              <a:t>※ すべて前提に基づく想定値（ベースシナリオ）。単位・定義は財務計画スライドに準拠。</a:t>
            </a:r>
          </a:p>
        </p:txBody>
      </p:sp>
      <p:sp>
        <p:nvSpPr>
          <p:cNvPr id="70" name="TextBox 69"/>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71" name="TextBox 70"/>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TEAM</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「機会建築家」が率いる経営と、実力ある外部顧問8名の支援体制</a:t>
            </a:r>
          </a:p>
        </p:txBody>
      </p:sp>
      <p:sp>
        <p:nvSpPr>
          <p:cNvPr id="5" name="Rounded Rectangle 4"/>
          <p:cNvSpPr/>
          <p:nvPr/>
        </p:nvSpPr>
        <p:spPr>
          <a:xfrm>
            <a:off x="548640" y="1965960"/>
            <a:ext cx="5486400" cy="402336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5486400" cy="82296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84831"/>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700" b="1">
                <a:solidFill>
                  <a:srgbClr val="FFFFFF"/>
                </a:solidFill>
                <a:latin typeface="游ゴシック"/>
                <a:ea typeface="游ゴシック"/>
              </a:rPr>
              <a:t>井上 幹太　</a:t>
            </a:r>
            <a:r>
              <a:rPr sz="1100" b="0">
                <a:solidFill>
                  <a:srgbClr val="C5A059"/>
                </a:solidFill>
                <a:latin typeface="Georgia"/>
                <a:ea typeface="游ゴシック"/>
              </a:rPr>
              <a:t>Kanta Inoue</a:t>
            </a:r>
          </a:p>
        </p:txBody>
      </p:sp>
      <p:sp>
        <p:nvSpPr>
          <p:cNvPr id="8" name="TextBox 7"/>
          <p:cNvSpPr txBox="1"/>
          <p:nvPr/>
        </p:nvSpPr>
        <p:spPr>
          <a:xfrm>
            <a:off x="822960" y="2450592"/>
            <a:ext cx="5029200" cy="274320"/>
          </a:xfrm>
          <a:prstGeom prst="rect">
            <a:avLst/>
          </a:prstGeom>
          <a:noFill/>
        </p:spPr>
        <p:txBody>
          <a:bodyPr wrap="square" anchor="t" lIns="0" rIns="0" tIns="0" bIns="0">
            <a:spAutoFit/>
          </a:bodyPr>
          <a:lstStyle/>
          <a:p>
            <a:pPr algn="l">
              <a:lnSpc>
                <a:spcPct val="106000"/>
              </a:lnSpc>
              <a:spcBef>
                <a:spcPts val="0"/>
              </a:spcBef>
              <a:spcAft>
                <a:spcPts val="400"/>
              </a:spcAft>
            </a:pPr>
            <a:r>
              <a:rPr sz="1100" b="0">
                <a:solidFill>
                  <a:srgbClr val="C5A059"/>
                </a:solidFill>
                <a:latin typeface="游ゴシック"/>
                <a:ea typeface="游ゴシック"/>
              </a:rPr>
              <a:t>代表取締役CEO ／ 機会建築家</a:t>
            </a:r>
          </a:p>
        </p:txBody>
      </p:sp>
      <p:sp>
        <p:nvSpPr>
          <p:cNvPr id="9" name="TextBox 8"/>
          <p:cNvSpPr txBox="1"/>
          <p:nvPr/>
        </p:nvSpPr>
        <p:spPr>
          <a:xfrm>
            <a:off x="822960" y="2971800"/>
            <a:ext cx="4937760" cy="548640"/>
          </a:xfrm>
          <a:prstGeom prst="rect">
            <a:avLst/>
          </a:prstGeom>
          <a:noFill/>
        </p:spPr>
        <p:txBody>
          <a:bodyPr wrap="square" anchor="t" lIns="0" rIns="0" tIns="0" bIns="0">
            <a:spAutoFit/>
          </a:bodyPr>
          <a:lstStyle/>
          <a:p>
            <a:pPr algn="l">
              <a:lnSpc>
                <a:spcPct val="124000"/>
              </a:lnSpc>
              <a:spcBef>
                <a:spcPts val="0"/>
              </a:spcBef>
              <a:spcAft>
                <a:spcPts val="400"/>
              </a:spcAft>
            </a:pPr>
            <a:r>
              <a:rPr sz="1100" b="0">
                <a:solidFill>
                  <a:srgbClr val="444240"/>
                </a:solidFill>
                <a:latin typeface="游ゴシック"/>
                <a:ea typeface="游ゴシック"/>
              </a:rPr>
              <a:t>12歳から12年間の不登校を経て独学で起業。</a:t>
            </a:r>
          </a:p>
        </p:txBody>
      </p:sp>
      <p:sp>
        <p:nvSpPr>
          <p:cNvPr id="10" name="TextBox 9"/>
          <p:cNvSpPr txBox="1"/>
          <p:nvPr/>
        </p:nvSpPr>
        <p:spPr>
          <a:xfrm>
            <a:off x="822960" y="3538728"/>
            <a:ext cx="4937760" cy="548640"/>
          </a:xfrm>
          <a:prstGeom prst="rect">
            <a:avLst/>
          </a:prstGeom>
          <a:noFill/>
        </p:spPr>
        <p:txBody>
          <a:bodyPr wrap="square" anchor="t" lIns="0" rIns="0" tIns="0" bIns="0">
            <a:spAutoFit/>
          </a:bodyPr>
          <a:lstStyle/>
          <a:p>
            <a:pPr algn="l">
              <a:lnSpc>
                <a:spcPct val="124000"/>
              </a:lnSpc>
              <a:spcBef>
                <a:spcPts val="0"/>
              </a:spcBef>
              <a:spcAft>
                <a:spcPts val="400"/>
              </a:spcAft>
            </a:pPr>
            <a:r>
              <a:rPr sz="1100" b="0">
                <a:solidFill>
                  <a:srgbClr val="444240"/>
                </a:solidFill>
                <a:latin typeface="游ゴシック"/>
                <a:ea typeface="游ゴシック"/>
              </a:rPr>
              <a:t>「機会が届いていない場所に、機会を設計し直す」をミッションに持株会社を設立。</a:t>
            </a:r>
          </a:p>
        </p:txBody>
      </p:sp>
      <p:sp>
        <p:nvSpPr>
          <p:cNvPr id="11" name="Oval 10"/>
          <p:cNvSpPr/>
          <p:nvPr/>
        </p:nvSpPr>
        <p:spPr>
          <a:xfrm>
            <a:off x="822960" y="4251959"/>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160520"/>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令和の虎 Tiger Funding 累計1,600万円・2連続完全ALL</a:t>
            </a:r>
          </a:p>
        </p:txBody>
      </p:sp>
      <p:sp>
        <p:nvSpPr>
          <p:cNvPr id="13" name="Oval 12"/>
          <p:cNvSpPr/>
          <p:nvPr/>
        </p:nvSpPr>
        <p:spPr>
          <a:xfrm>
            <a:off x="822960" y="4690871"/>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599431"/>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JCI JAPAN TOYP2026 ファイナリスト（青年版国民栄誉賞）</a:t>
            </a:r>
          </a:p>
        </p:txBody>
      </p:sp>
      <p:sp>
        <p:nvSpPr>
          <p:cNvPr id="15" name="Oval 14"/>
          <p:cNvSpPr/>
          <p:nvPr/>
        </p:nvSpPr>
        <p:spPr>
          <a:xfrm>
            <a:off x="822960" y="5129783"/>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5038344"/>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ソフトバンクアカデミア17期 修了</a:t>
            </a:r>
          </a:p>
        </p:txBody>
      </p:sp>
      <p:sp>
        <p:nvSpPr>
          <p:cNvPr id="17" name="Oval 16"/>
          <p:cNvSpPr/>
          <p:nvPr/>
        </p:nvSpPr>
        <p:spPr>
          <a:xfrm>
            <a:off x="822960" y="5568696"/>
            <a:ext cx="82296" cy="82296"/>
          </a:xfrm>
          <a:prstGeom prst="ellipse">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77256"/>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J-StarX（経済産業省）第1期／ZEN大学1期特別奨学生</a:t>
            </a:r>
          </a:p>
        </p:txBody>
      </p:sp>
      <p:sp>
        <p:nvSpPr>
          <p:cNvPr id="19" name="Rounded Rectangle 18"/>
          <p:cNvSpPr/>
          <p:nvPr/>
        </p:nvSpPr>
        <p:spPr>
          <a:xfrm>
            <a:off x="6153912" y="1965960"/>
            <a:ext cx="5486400" cy="402336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14884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外部顧問・支援体制</a:t>
            </a:r>
          </a:p>
        </p:txBody>
      </p:sp>
      <p:sp>
        <p:nvSpPr>
          <p:cNvPr id="21" name="Rectangle 20"/>
          <p:cNvSpPr/>
          <p:nvPr/>
        </p:nvSpPr>
        <p:spPr>
          <a:xfrm>
            <a:off x="6382512" y="2697480"/>
            <a:ext cx="73152" cy="86868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697480"/>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外部顧問 8名</a:t>
            </a:r>
          </a:p>
        </p:txBody>
      </p:sp>
      <p:sp>
        <p:nvSpPr>
          <p:cNvPr id="23" name="TextBox 22"/>
          <p:cNvSpPr txBox="1"/>
          <p:nvPr/>
        </p:nvSpPr>
        <p:spPr>
          <a:xfrm>
            <a:off x="6565392" y="3081528"/>
            <a:ext cx="4846320" cy="548640"/>
          </a:xfrm>
          <a:prstGeom prst="rect">
            <a:avLst/>
          </a:prstGeom>
          <a:noFill/>
        </p:spPr>
        <p:txBody>
          <a:bodyPr wrap="square" anchor="t" lIns="0" rIns="0" tIns="0" bIns="0">
            <a:spAutoFit/>
          </a:bodyPr>
          <a:lstStyle/>
          <a:p>
            <a:pPr algn="l">
              <a:lnSpc>
                <a:spcPct val="122000"/>
              </a:lnSpc>
              <a:spcBef>
                <a:spcPts val="0"/>
              </a:spcBef>
              <a:spcAft>
                <a:spcPts val="400"/>
              </a:spcAft>
            </a:pPr>
            <a:r>
              <a:rPr sz="1080" b="0">
                <a:solidFill>
                  <a:srgbClr val="444240"/>
                </a:solidFill>
                <a:latin typeface="游ゴシック"/>
                <a:ea typeface="游ゴシック"/>
              </a:rPr>
              <a:t>住友商事グループ・SBIグループ・Vector Group 等の実務家が支援</a:t>
            </a:r>
          </a:p>
        </p:txBody>
      </p:sp>
      <p:sp>
        <p:nvSpPr>
          <p:cNvPr id="24" name="Rectangle 23"/>
          <p:cNvSpPr/>
          <p:nvPr/>
        </p:nvSpPr>
        <p:spPr>
          <a:xfrm>
            <a:off x="6382512" y="3721608"/>
            <a:ext cx="73152" cy="86868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721608"/>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設計思想を持つ専任チーム</a:t>
            </a:r>
          </a:p>
        </p:txBody>
      </p:sp>
      <p:sp>
        <p:nvSpPr>
          <p:cNvPr id="26" name="TextBox 25"/>
          <p:cNvSpPr txBox="1"/>
          <p:nvPr/>
        </p:nvSpPr>
        <p:spPr>
          <a:xfrm>
            <a:off x="6565392" y="4105656"/>
            <a:ext cx="4846320" cy="548640"/>
          </a:xfrm>
          <a:prstGeom prst="rect">
            <a:avLst/>
          </a:prstGeom>
          <a:noFill/>
        </p:spPr>
        <p:txBody>
          <a:bodyPr wrap="square" anchor="t" lIns="0" rIns="0" tIns="0" bIns="0">
            <a:spAutoFit/>
          </a:bodyPr>
          <a:lstStyle/>
          <a:p>
            <a:pPr algn="l">
              <a:lnSpc>
                <a:spcPct val="122000"/>
              </a:lnSpc>
              <a:spcBef>
                <a:spcPts val="0"/>
              </a:spcBef>
              <a:spcAft>
                <a:spcPts val="400"/>
              </a:spcAft>
            </a:pPr>
            <a:r>
              <a:rPr sz="1080" b="0">
                <a:solidFill>
                  <a:srgbClr val="444240"/>
                </a:solidFill>
                <a:latin typeface="游ゴシック"/>
                <a:ea typeface="游ゴシック"/>
              </a:rPr>
              <a:t>戦略設計→AI実装→組織定着まで一気通貫で伴走</a:t>
            </a:r>
          </a:p>
        </p:txBody>
      </p:sp>
      <p:sp>
        <p:nvSpPr>
          <p:cNvPr id="27" name="Rectangle 26"/>
          <p:cNvSpPr/>
          <p:nvPr/>
        </p:nvSpPr>
        <p:spPr>
          <a:xfrm>
            <a:off x="6382512" y="4745736"/>
            <a:ext cx="73152" cy="86868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745736"/>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代表直接対応</a:t>
            </a:r>
          </a:p>
        </p:txBody>
      </p:sp>
      <p:sp>
        <p:nvSpPr>
          <p:cNvPr id="29" name="TextBox 28"/>
          <p:cNvSpPr txBox="1"/>
          <p:nvPr/>
        </p:nvSpPr>
        <p:spPr>
          <a:xfrm>
            <a:off x="6565392" y="5129784"/>
            <a:ext cx="4846320" cy="548640"/>
          </a:xfrm>
          <a:prstGeom prst="rect">
            <a:avLst/>
          </a:prstGeom>
          <a:noFill/>
        </p:spPr>
        <p:txBody>
          <a:bodyPr wrap="square" anchor="t" lIns="0" rIns="0" tIns="0" bIns="0">
            <a:spAutoFit/>
          </a:bodyPr>
          <a:lstStyle/>
          <a:p>
            <a:pPr algn="l">
              <a:lnSpc>
                <a:spcPct val="122000"/>
              </a:lnSpc>
              <a:spcBef>
                <a:spcPts val="0"/>
              </a:spcBef>
              <a:spcAft>
                <a:spcPts val="400"/>
              </a:spcAft>
            </a:pPr>
            <a:r>
              <a:rPr sz="1080" b="0">
                <a:solidFill>
                  <a:srgbClr val="444240"/>
                </a:solidFill>
                <a:latin typeface="游ゴシック"/>
                <a:ea typeface="游ゴシック"/>
              </a:rPr>
              <a:t>初回商談は代表が担当し、意思決定者に直接価値を届ける</a:t>
            </a:r>
          </a:p>
        </p:txBody>
      </p:sp>
      <p:sp>
        <p:nvSpPr>
          <p:cNvPr id="30" name="TextBox 29"/>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31" name="TextBox 30"/>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RISKS &amp; MITIGATION</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主要リスクを特定し、事業設計であらかじめ手当てする</a:t>
            </a:r>
          </a:p>
        </p:txBody>
      </p:sp>
      <p:sp>
        <p:nvSpPr>
          <p:cNvPr id="5" name="Rounded Rectangle 4"/>
          <p:cNvSpPr/>
          <p:nvPr/>
        </p:nvSpPr>
        <p:spPr>
          <a:xfrm>
            <a:off x="548640" y="1920240"/>
            <a:ext cx="5486400" cy="120700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82296" cy="120700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48256"/>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AIプラットフォーム依存</a:t>
            </a:r>
          </a:p>
        </p:txBody>
      </p:sp>
      <p:sp>
        <p:nvSpPr>
          <p:cNvPr id="8" name="TextBox 7"/>
          <p:cNvSpPr txBox="1"/>
          <p:nvPr/>
        </p:nvSpPr>
        <p:spPr>
          <a:xfrm>
            <a:off x="804672" y="2377440"/>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主要LLMの仕様変更・引用ロジック変化</a:t>
            </a:r>
          </a:p>
        </p:txBody>
      </p:sp>
      <p:sp>
        <p:nvSpPr>
          <p:cNvPr id="9" name="TextBox 8"/>
          <p:cNvSpPr txBox="1"/>
          <p:nvPr/>
        </p:nvSpPr>
        <p:spPr>
          <a:xfrm>
            <a:off x="804672" y="2706624"/>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動的更新エンジンで自動追従。5モデル分散で単一依存を回避。</a:t>
            </a:r>
          </a:p>
        </p:txBody>
      </p:sp>
      <p:sp>
        <p:nvSpPr>
          <p:cNvPr id="10" name="Rounded Rectangle 9"/>
          <p:cNvSpPr/>
          <p:nvPr/>
        </p:nvSpPr>
        <p:spPr>
          <a:xfrm>
            <a:off x="6153912" y="1920240"/>
            <a:ext cx="5486400" cy="120700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3912" y="1920240"/>
            <a:ext cx="82296" cy="120700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2048256"/>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市場の未成熟・啓蒙コスト</a:t>
            </a:r>
          </a:p>
        </p:txBody>
      </p:sp>
      <p:sp>
        <p:nvSpPr>
          <p:cNvPr id="13" name="TextBox 12"/>
          <p:cNvSpPr txBox="1"/>
          <p:nvPr/>
        </p:nvSpPr>
        <p:spPr>
          <a:xfrm>
            <a:off x="6409944" y="2377440"/>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AIO/LLMOの認知が発展途上</a:t>
            </a:r>
          </a:p>
        </p:txBody>
      </p:sp>
      <p:sp>
        <p:nvSpPr>
          <p:cNvPr id="14" name="TextBox 13"/>
          <p:cNvSpPr txBox="1"/>
          <p:nvPr/>
        </p:nvSpPr>
        <p:spPr>
          <a:xfrm>
            <a:off x="6409944" y="2706624"/>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自社実証・記事資産・無料診断で市場を教育しながら獲得。</a:t>
            </a:r>
          </a:p>
        </p:txBody>
      </p:sp>
      <p:sp>
        <p:nvSpPr>
          <p:cNvPr id="15" name="Rounded Rectangle 14"/>
          <p:cNvSpPr/>
          <p:nvPr/>
        </p:nvSpPr>
        <p:spPr>
          <a:xfrm>
            <a:off x="548640" y="3273552"/>
            <a:ext cx="5486400" cy="120700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73552"/>
            <a:ext cx="82296" cy="120700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401568"/>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競合・大手参入</a:t>
            </a:r>
          </a:p>
        </p:txBody>
      </p:sp>
      <p:sp>
        <p:nvSpPr>
          <p:cNvPr id="18" name="TextBox 17"/>
          <p:cNvSpPr txBox="1"/>
          <p:nvPr/>
        </p:nvSpPr>
        <p:spPr>
          <a:xfrm>
            <a:off x="804672" y="3730752"/>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海外ツール・大手の日本語対応</a:t>
            </a:r>
          </a:p>
        </p:txBody>
      </p:sp>
      <p:sp>
        <p:nvSpPr>
          <p:cNvPr id="19" name="TextBox 18"/>
          <p:cNvSpPr txBox="1"/>
          <p:nvPr/>
        </p:nvSpPr>
        <p:spPr>
          <a:xfrm>
            <a:off x="804672" y="4059936"/>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日本語特化・API直接ハック・特許出願で差別化を維持。</a:t>
            </a:r>
          </a:p>
        </p:txBody>
      </p:sp>
      <p:sp>
        <p:nvSpPr>
          <p:cNvPr id="20" name="Rounded Rectangle 19"/>
          <p:cNvSpPr/>
          <p:nvPr/>
        </p:nvSpPr>
        <p:spPr>
          <a:xfrm>
            <a:off x="6153912" y="3273552"/>
            <a:ext cx="5486400" cy="120700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3912" y="3273552"/>
            <a:ext cx="82296" cy="120700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3401568"/>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採用・組織拡大</a:t>
            </a:r>
          </a:p>
        </p:txBody>
      </p:sp>
      <p:sp>
        <p:nvSpPr>
          <p:cNvPr id="23" name="TextBox 22"/>
          <p:cNvSpPr txBox="1"/>
          <p:nvPr/>
        </p:nvSpPr>
        <p:spPr>
          <a:xfrm>
            <a:off x="6409944" y="3730752"/>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専門人材の獲得と定着</a:t>
            </a:r>
          </a:p>
        </p:txBody>
      </p:sp>
      <p:sp>
        <p:nvSpPr>
          <p:cNvPr id="24" name="TextBox 23"/>
          <p:cNvSpPr txBox="1"/>
          <p:nvPr/>
        </p:nvSpPr>
        <p:spPr>
          <a:xfrm>
            <a:off x="6409944" y="4059936"/>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展開事業（学生協会等）を人材パイプラインとして活用。</a:t>
            </a:r>
          </a:p>
        </p:txBody>
      </p:sp>
      <p:sp>
        <p:nvSpPr>
          <p:cNvPr id="25" name="Rounded Rectangle 24"/>
          <p:cNvSpPr/>
          <p:nvPr/>
        </p:nvSpPr>
        <p:spPr>
          <a:xfrm>
            <a:off x="548640" y="4626864"/>
            <a:ext cx="5486400" cy="120700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26864"/>
            <a:ext cx="82296" cy="120700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754880"/>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コンプライアンス／IR</a:t>
            </a:r>
          </a:p>
        </p:txBody>
      </p:sp>
      <p:sp>
        <p:nvSpPr>
          <p:cNvPr id="28" name="TextBox 27"/>
          <p:cNvSpPr txBox="1"/>
          <p:nvPr/>
        </p:nvSpPr>
        <p:spPr>
          <a:xfrm>
            <a:off x="804672" y="5084064"/>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誤引用・インサイダー情報混入</a:t>
            </a:r>
          </a:p>
        </p:txBody>
      </p:sp>
      <p:sp>
        <p:nvSpPr>
          <p:cNvPr id="29" name="TextBox 28"/>
          <p:cNvSpPr txBox="1"/>
          <p:nvPr/>
        </p:nvSpPr>
        <p:spPr>
          <a:xfrm>
            <a:off x="804672" y="5413248"/>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ISMS準拠設計・開示連動の自動更新・ロールベース権限管理。</a:t>
            </a:r>
          </a:p>
        </p:txBody>
      </p:sp>
      <p:sp>
        <p:nvSpPr>
          <p:cNvPr id="30" name="Rounded Rectangle 29"/>
          <p:cNvSpPr/>
          <p:nvPr/>
        </p:nvSpPr>
        <p:spPr>
          <a:xfrm>
            <a:off x="6153912" y="4626864"/>
            <a:ext cx="5486400" cy="1207008"/>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53912" y="4626864"/>
            <a:ext cx="82296" cy="120700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4754880"/>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キャッシュフロー</a:t>
            </a:r>
          </a:p>
        </p:txBody>
      </p:sp>
      <p:sp>
        <p:nvSpPr>
          <p:cNvPr id="33" name="TextBox 32"/>
          <p:cNvSpPr txBox="1"/>
          <p:nvPr/>
        </p:nvSpPr>
        <p:spPr>
          <a:xfrm>
            <a:off x="6409944" y="5084064"/>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先行投資期の資金負担</a:t>
            </a:r>
          </a:p>
        </p:txBody>
      </p:sp>
      <p:sp>
        <p:nvSpPr>
          <p:cNvPr id="34" name="TextBox 33"/>
          <p:cNvSpPr txBox="1"/>
          <p:nvPr/>
        </p:nvSpPr>
        <p:spPr>
          <a:xfrm>
            <a:off x="6409944" y="5413248"/>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SaaSのストック収益で早期に回収基盤を構築、churn管理を徹底。</a:t>
            </a:r>
          </a:p>
        </p:txBody>
      </p:sp>
      <p:sp>
        <p:nvSpPr>
          <p:cNvPr id="35" name="TextBox 34"/>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36" name="TextBox 35"/>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012"/>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34440"/>
            <a:ext cx="105156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C5A059"/>
                </a:solidFill>
                <a:latin typeface="Georgia"/>
                <a:ea typeface="游ゴシック"/>
              </a:rPr>
              <a:t>VISION</a:t>
            </a:r>
          </a:p>
        </p:txBody>
      </p:sp>
      <p:sp>
        <p:nvSpPr>
          <p:cNvPr id="4" name="TextBox 3"/>
          <p:cNvSpPr txBox="1"/>
          <p:nvPr/>
        </p:nvSpPr>
        <p:spPr>
          <a:xfrm>
            <a:off x="786384" y="1828800"/>
            <a:ext cx="10607040" cy="1828800"/>
          </a:xfrm>
          <a:prstGeom prst="rect">
            <a:avLst/>
          </a:prstGeom>
          <a:noFill/>
        </p:spPr>
        <p:txBody>
          <a:bodyPr wrap="square" anchor="t" lIns="0" rIns="0" tIns="0" bIns="0">
            <a:spAutoFit/>
          </a:bodyPr>
          <a:lstStyle/>
          <a:p>
            <a:pPr algn="l">
              <a:lnSpc>
                <a:spcPct val="112000"/>
              </a:lnSpc>
              <a:spcBef>
                <a:spcPts val="0"/>
              </a:spcBef>
              <a:spcAft>
                <a:spcPts val="400"/>
              </a:spcAft>
            </a:pPr>
            <a:r>
              <a:rPr sz="3400" b="1">
                <a:solidFill>
                  <a:srgbClr val="FFFFFF"/>
                </a:solidFill>
                <a:latin typeface="游ゴシック"/>
                <a:ea typeface="游ゴシック"/>
              </a:rPr>
              <a:t>AI時代の情報インフラを、</a:t>
            </a:r>
          </a:p>
          <a:p>
            <a:pPr algn="l">
              <a:lnSpc>
                <a:spcPct val="112000"/>
              </a:lnSpc>
              <a:spcBef>
                <a:spcPts val="0"/>
              </a:spcBef>
              <a:spcAft>
                <a:spcPts val="400"/>
              </a:spcAft>
            </a:pPr>
            <a:r>
              <a:rPr sz="3400" b="1">
                <a:solidFill>
                  <a:srgbClr val="FFFFFF"/>
                </a:solidFill>
                <a:latin typeface="游ゴシック"/>
                <a:ea typeface="游ゴシック"/>
              </a:rPr>
              <a:t>日本から世界の標準に。</a:t>
            </a:r>
          </a:p>
        </p:txBody>
      </p:sp>
      <p:sp>
        <p:nvSpPr>
          <p:cNvPr id="5" name="TextBox 4"/>
          <p:cNvSpPr txBox="1"/>
          <p:nvPr/>
        </p:nvSpPr>
        <p:spPr>
          <a:xfrm>
            <a:off x="822960" y="3840480"/>
            <a:ext cx="10515600" cy="1280160"/>
          </a:xfrm>
          <a:prstGeom prst="rect">
            <a:avLst/>
          </a:prstGeom>
          <a:noFill/>
        </p:spPr>
        <p:txBody>
          <a:bodyPr wrap="square" anchor="t" lIns="0" rIns="0" tIns="0" bIns="0">
            <a:spAutoFit/>
          </a:bodyPr>
          <a:lstStyle/>
          <a:p>
            <a:pPr algn="l">
              <a:lnSpc>
                <a:spcPct val="140000"/>
              </a:lnSpc>
              <a:spcBef>
                <a:spcPts val="0"/>
              </a:spcBef>
              <a:spcAft>
                <a:spcPts val="400"/>
              </a:spcAft>
            </a:pPr>
            <a:r>
              <a:rPr sz="1400" b="0">
                <a:solidFill>
                  <a:srgbClr val="CFC4AC"/>
                </a:solidFill>
                <a:latin typeface="游ゴシック"/>
                <a:ea typeface="游ゴシック"/>
              </a:rPr>
              <a:t>見えないブランド価値を定量化し、AIに正しく届ける。</a:t>
            </a:r>
          </a:p>
          <a:p>
            <a:pPr algn="l">
              <a:lnSpc>
                <a:spcPct val="140000"/>
              </a:lnSpc>
              <a:spcBef>
                <a:spcPts val="0"/>
              </a:spcBef>
              <a:spcAft>
                <a:spcPts val="400"/>
              </a:spcAft>
            </a:pPr>
            <a:r>
              <a:rPr sz="1400" b="0">
                <a:solidFill>
                  <a:srgbClr val="CFC4AC"/>
                </a:solidFill>
                <a:latin typeface="游ゴシック"/>
                <a:ea typeface="游ゴシック"/>
              </a:rPr>
              <a:t>「御社は、AIに選ばれているか。」に、すべての企業が自信を持って</a:t>
            </a:r>
          </a:p>
          <a:p>
            <a:pPr algn="l">
              <a:lnSpc>
                <a:spcPct val="140000"/>
              </a:lnSpc>
              <a:spcBef>
                <a:spcPts val="0"/>
              </a:spcBef>
              <a:spcAft>
                <a:spcPts val="400"/>
              </a:spcAft>
            </a:pPr>
            <a:r>
              <a:rPr sz="1400" b="0">
                <a:solidFill>
                  <a:srgbClr val="CFC4AC"/>
                </a:solidFill>
                <a:latin typeface="游ゴシック"/>
                <a:ea typeface="游ゴシック"/>
              </a:rPr>
              <a:t>YESと答えられる世界を、設計から始めてつくる。</a:t>
            </a:r>
          </a:p>
        </p:txBody>
      </p:sp>
      <p:sp>
        <p:nvSpPr>
          <p:cNvPr id="6" name="Rectangle 5"/>
          <p:cNvSpPr/>
          <p:nvPr/>
        </p:nvSpPr>
        <p:spPr>
          <a:xfrm>
            <a:off x="822960" y="5486400"/>
            <a:ext cx="3108960" cy="18288"/>
          </a:xfrm>
          <a:prstGeom prst="rect">
            <a:avLst/>
          </a:prstGeom>
          <a:solidFill>
            <a:srgbClr val="9C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715000"/>
            <a:ext cx="1051560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C5A059"/>
                </a:solidFill>
                <a:latin typeface="游ゴシック"/>
                <a:ea typeface="游ゴシック"/>
              </a:rPr>
              <a:t>Regalis Japan Group株式会社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CONTACT / APPENDIX</a:t>
            </a:r>
          </a:p>
        </p:txBody>
      </p:sp>
      <p:sp>
        <p:nvSpPr>
          <p:cNvPr id="3" name="Rectangle 2"/>
          <p:cNvSpPr/>
          <p:nvPr/>
        </p:nvSpPr>
        <p:spPr>
          <a:xfrm>
            <a:off x="566928" y="786384"/>
            <a:ext cx="502920" cy="41148"/>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お問い合わせ・会社概要</a:t>
            </a:r>
          </a:p>
        </p:txBody>
      </p:sp>
      <p:sp>
        <p:nvSpPr>
          <p:cNvPr id="5" name="Rounded Rectangle 4"/>
          <p:cNvSpPr/>
          <p:nvPr/>
        </p:nvSpPr>
        <p:spPr>
          <a:xfrm>
            <a:off x="548640" y="1965960"/>
            <a:ext cx="5486400" cy="3931920"/>
          </a:xfrm>
          <a:prstGeom prst="roundRect">
            <a:avLst/>
          </a:prstGeom>
          <a:solidFill>
            <a:srgbClr val="F7F3EB"/>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会社概要</a:t>
            </a:r>
          </a:p>
        </p:txBody>
      </p:sp>
      <p:sp>
        <p:nvSpPr>
          <p:cNvPr id="7" name="TextBox 6"/>
          <p:cNvSpPr txBox="1"/>
          <p:nvPr/>
        </p:nvSpPr>
        <p:spPr>
          <a:xfrm>
            <a:off x="822960" y="2651760"/>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会社名</a:t>
            </a:r>
          </a:p>
        </p:txBody>
      </p:sp>
      <p:sp>
        <p:nvSpPr>
          <p:cNvPr id="8" name="TextBox 7"/>
          <p:cNvSpPr txBox="1"/>
          <p:nvPr/>
        </p:nvSpPr>
        <p:spPr>
          <a:xfrm>
            <a:off x="2331720" y="2651760"/>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Regalis Japan Group株式会社（レガリス）</a:t>
            </a:r>
          </a:p>
        </p:txBody>
      </p:sp>
      <p:sp>
        <p:nvSpPr>
          <p:cNvPr id="9" name="Rectangle 8"/>
          <p:cNvSpPr/>
          <p:nvPr/>
        </p:nvSpPr>
        <p:spPr>
          <a:xfrm>
            <a:off x="822960" y="3127248"/>
            <a:ext cx="493776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172968"/>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代表者</a:t>
            </a:r>
          </a:p>
        </p:txBody>
      </p:sp>
      <p:sp>
        <p:nvSpPr>
          <p:cNvPr id="11" name="TextBox 10"/>
          <p:cNvSpPr txBox="1"/>
          <p:nvPr/>
        </p:nvSpPr>
        <p:spPr>
          <a:xfrm>
            <a:off x="2331720" y="3172968"/>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代表取締役 井上 幹太</a:t>
            </a:r>
          </a:p>
        </p:txBody>
      </p:sp>
      <p:sp>
        <p:nvSpPr>
          <p:cNvPr id="12" name="Rectangle 11"/>
          <p:cNvSpPr/>
          <p:nvPr/>
        </p:nvSpPr>
        <p:spPr>
          <a:xfrm>
            <a:off x="822960" y="3648456"/>
            <a:ext cx="493776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94176"/>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所在地</a:t>
            </a:r>
          </a:p>
        </p:txBody>
      </p:sp>
      <p:sp>
        <p:nvSpPr>
          <p:cNvPr id="14" name="TextBox 13"/>
          <p:cNvSpPr txBox="1"/>
          <p:nvPr/>
        </p:nvSpPr>
        <p:spPr>
          <a:xfrm>
            <a:off x="2331720" y="3694176"/>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東京都千代田区麹町6丁目2-1 麹町サイトビル6階</a:t>
            </a:r>
          </a:p>
        </p:txBody>
      </p:sp>
      <p:sp>
        <p:nvSpPr>
          <p:cNvPr id="15" name="Rectangle 14"/>
          <p:cNvSpPr/>
          <p:nvPr/>
        </p:nvSpPr>
        <p:spPr>
          <a:xfrm>
            <a:off x="822960" y="4169664"/>
            <a:ext cx="493776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215384"/>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事業内容</a:t>
            </a:r>
          </a:p>
        </p:txBody>
      </p:sp>
      <p:sp>
        <p:nvSpPr>
          <p:cNvPr id="17" name="TextBox 16"/>
          <p:cNvSpPr txBox="1"/>
          <p:nvPr/>
        </p:nvSpPr>
        <p:spPr>
          <a:xfrm>
            <a:off x="2331720" y="4215384"/>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AI検索最適化（LLMO/AIO）・DX支援・メディア運営</a:t>
            </a:r>
          </a:p>
        </p:txBody>
      </p:sp>
      <p:sp>
        <p:nvSpPr>
          <p:cNvPr id="18" name="Rectangle 17"/>
          <p:cNvSpPr/>
          <p:nvPr/>
        </p:nvSpPr>
        <p:spPr>
          <a:xfrm>
            <a:off x="822960" y="4690872"/>
            <a:ext cx="493776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36592"/>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主力製品</a:t>
            </a:r>
          </a:p>
        </p:txBody>
      </p:sp>
      <p:sp>
        <p:nvSpPr>
          <p:cNvPr id="20" name="TextBox 19"/>
          <p:cNvSpPr txBox="1"/>
          <p:nvPr/>
        </p:nvSpPr>
        <p:spPr>
          <a:xfrm>
            <a:off x="2331720" y="4736592"/>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全自動AI検索最適化インフラ HackⅡ</a:t>
            </a:r>
          </a:p>
        </p:txBody>
      </p:sp>
      <p:sp>
        <p:nvSpPr>
          <p:cNvPr id="21" name="Rectangle 20"/>
          <p:cNvSpPr/>
          <p:nvPr/>
        </p:nvSpPr>
        <p:spPr>
          <a:xfrm>
            <a:off x="822960" y="5212080"/>
            <a:ext cx="493776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257800"/>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C7C3C"/>
                </a:solidFill>
                <a:latin typeface="游ゴシック"/>
                <a:ea typeface="游ゴシック"/>
              </a:rPr>
              <a:t>Web</a:t>
            </a:r>
          </a:p>
        </p:txBody>
      </p:sp>
      <p:sp>
        <p:nvSpPr>
          <p:cNvPr id="23" name="TextBox 22"/>
          <p:cNvSpPr txBox="1"/>
          <p:nvPr/>
        </p:nvSpPr>
        <p:spPr>
          <a:xfrm>
            <a:off x="2331720" y="5257800"/>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regalis-order-suits.com</a:t>
            </a:r>
          </a:p>
        </p:txBody>
      </p:sp>
      <p:sp>
        <p:nvSpPr>
          <p:cNvPr id="24" name="Rectangle 23"/>
          <p:cNvSpPr/>
          <p:nvPr/>
        </p:nvSpPr>
        <p:spPr>
          <a:xfrm>
            <a:off x="822960" y="5733288"/>
            <a:ext cx="4937760" cy="7315"/>
          </a:xfrm>
          <a:prstGeom prst="rect">
            <a:avLst/>
          </a:prstGeom>
          <a:solidFill>
            <a:srgbClr val="E2D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53912" y="1965960"/>
            <a:ext cx="5486400" cy="3931920"/>
          </a:xfrm>
          <a:prstGeom prst="roundRect">
            <a:avLst/>
          </a:prstGeom>
          <a:solidFill>
            <a:srgbClr val="FFFFFF"/>
          </a:solidFill>
          <a:ln w="12700">
            <a:solidFill>
              <a:srgbClr val="E2DA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1965960"/>
            <a:ext cx="5486400" cy="822960"/>
          </a:xfrm>
          <a:prstGeom prst="rect">
            <a:avLst/>
          </a:prstGeom>
          <a:solidFill>
            <a:srgbClr val="101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2084831"/>
            <a:ext cx="5029200" cy="548640"/>
          </a:xfrm>
          <a:prstGeom prst="rect">
            <a:avLst/>
          </a:prstGeom>
          <a:noFill/>
        </p:spPr>
        <p:txBody>
          <a:bodyPr wrap="square" anchor="ctr" lIns="0" rIns="0" tIns="0" bIns="0">
            <a:spAutoFit/>
          </a:bodyPr>
          <a:lstStyle/>
          <a:p>
            <a:pPr algn="l">
              <a:lnSpc>
                <a:spcPct val="106000"/>
              </a:lnSpc>
              <a:spcBef>
                <a:spcPts val="0"/>
              </a:spcBef>
              <a:spcAft>
                <a:spcPts val="400"/>
              </a:spcAft>
            </a:pPr>
            <a:r>
              <a:rPr sz="1600" b="1">
                <a:solidFill>
                  <a:srgbClr val="C5A059"/>
                </a:solidFill>
                <a:latin typeface="游ゴシック"/>
                <a:ea typeface="游ゴシック"/>
              </a:rPr>
              <a:t>無料AI引用診断（30分）</a:t>
            </a:r>
          </a:p>
        </p:txBody>
      </p:sp>
      <p:sp>
        <p:nvSpPr>
          <p:cNvPr id="28" name="TextBox 27"/>
          <p:cNvSpPr txBox="1"/>
          <p:nvPr/>
        </p:nvSpPr>
        <p:spPr>
          <a:xfrm>
            <a:off x="6382512" y="2971800"/>
            <a:ext cx="5029200" cy="914400"/>
          </a:xfrm>
          <a:prstGeom prst="rect">
            <a:avLst/>
          </a:prstGeom>
          <a:noFill/>
        </p:spPr>
        <p:txBody>
          <a:bodyPr wrap="square" anchor="t" lIns="0" rIns="0" tIns="0" bIns="0">
            <a:spAutoFit/>
          </a:bodyPr>
          <a:lstStyle/>
          <a:p>
            <a:pPr algn="l">
              <a:lnSpc>
                <a:spcPct val="130000"/>
              </a:lnSpc>
              <a:spcBef>
                <a:spcPts val="0"/>
              </a:spcBef>
              <a:spcAft>
                <a:spcPts val="400"/>
              </a:spcAft>
            </a:pPr>
            <a:r>
              <a:rPr sz="1150" b="0">
                <a:solidFill>
                  <a:srgbClr val="1C1C1E"/>
                </a:solidFill>
                <a:latin typeface="游ゴシック"/>
                <a:ea typeface="游ゴシック"/>
              </a:rPr>
              <a:t>御社の業界内AI引用シェアと機会損失額を可視化します。</a:t>
            </a:r>
          </a:p>
          <a:p>
            <a:pPr algn="l">
              <a:lnSpc>
                <a:spcPct val="130000"/>
              </a:lnSpc>
              <a:spcBef>
                <a:spcPts val="0"/>
              </a:spcBef>
              <a:spcAft>
                <a:spcPts val="400"/>
              </a:spcAft>
            </a:pPr>
            <a:r>
              <a:rPr sz="1150" b="0">
                <a:solidFill>
                  <a:srgbClr val="1C1C1E"/>
                </a:solidFill>
                <a:latin typeface="游ゴシック"/>
                <a:ea typeface="游ゴシック"/>
              </a:rPr>
              <a:t>費用・義務は一切ありません。初回は代表が直接対応します。</a:t>
            </a:r>
          </a:p>
        </p:txBody>
      </p:sp>
      <p:sp>
        <p:nvSpPr>
          <p:cNvPr id="29" name="Rounded Rectangle 28"/>
          <p:cNvSpPr/>
          <p:nvPr/>
        </p:nvSpPr>
        <p:spPr>
          <a:xfrm>
            <a:off x="6382512" y="4114800"/>
            <a:ext cx="5029200" cy="640080"/>
          </a:xfrm>
          <a:prstGeom prst="roundRect">
            <a:avLst>
              <a:gd name="adj" fmla="val 18000"/>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01012"/>
                </a:solidFill>
                <a:latin typeface="游ゴシック"/>
                <a:ea typeface="游ゴシック"/>
              </a:rPr>
              <a:t>regalis-order-suits.com/contact/</a:t>
            </a:r>
          </a:p>
        </p:txBody>
      </p:sp>
      <p:sp>
        <p:nvSpPr>
          <p:cNvPr id="30" name="TextBox 29"/>
          <p:cNvSpPr txBox="1"/>
          <p:nvPr/>
        </p:nvSpPr>
        <p:spPr>
          <a:xfrm>
            <a:off x="6382512" y="5029200"/>
            <a:ext cx="5029200" cy="731520"/>
          </a:xfrm>
          <a:prstGeom prst="rect">
            <a:avLst/>
          </a:prstGeom>
          <a:noFill/>
        </p:spPr>
        <p:txBody>
          <a:bodyPr wrap="square" anchor="t" lIns="0" rIns="0" tIns="0" bIns="0">
            <a:spAutoFit/>
          </a:bodyPr>
          <a:lstStyle/>
          <a:p>
            <a:pPr algn="l">
              <a:lnSpc>
                <a:spcPct val="120000"/>
              </a:lnSpc>
              <a:spcBef>
                <a:spcPts val="0"/>
              </a:spcBef>
              <a:spcAft>
                <a:spcPts val="400"/>
              </a:spcAft>
            </a:pPr>
            <a:r>
              <a:rPr sz="950" b="0">
                <a:solidFill>
                  <a:srgbClr val="767470"/>
                </a:solidFill>
                <a:latin typeface="游ゴシック"/>
                <a:ea typeface="游ゴシック"/>
              </a:rPr>
              <a:t>本資料はConfidentialです。無断転載・二次配布を禁じます。</a:t>
            </a:r>
          </a:p>
          <a:p>
            <a:pPr algn="l">
              <a:lnSpc>
                <a:spcPct val="120000"/>
              </a:lnSpc>
              <a:spcBef>
                <a:spcPts val="0"/>
              </a:spcBef>
              <a:spcAft>
                <a:spcPts val="400"/>
              </a:spcAft>
            </a:pPr>
            <a:r>
              <a:rPr sz="950" b="0">
                <a:solidFill>
                  <a:srgbClr val="767470"/>
                </a:solidFill>
                <a:latin typeface="游ゴシック"/>
                <a:ea typeface="游ゴシック"/>
              </a:rPr>
              <a:t>財務数値は前提を明示した想定モデルであり、将来の達成を保証しません。</a:t>
            </a:r>
          </a:p>
        </p:txBody>
      </p:sp>
      <p:sp>
        <p:nvSpPr>
          <p:cNvPr id="31" name="TextBox 30"/>
          <p:cNvSpPr txBox="1"/>
          <p:nvPr/>
        </p:nvSpPr>
        <p:spPr>
          <a:xfrm>
            <a:off x="502920"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Regalis Japan Group  ｜  事業計画書（Confidential）</a:t>
            </a:r>
          </a:p>
        </p:txBody>
      </p:sp>
      <p:sp>
        <p:nvSpPr>
          <p:cNvPr id="32" name="TextBox 3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