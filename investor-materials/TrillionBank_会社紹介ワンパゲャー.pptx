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508760"/>
          </a:xfrm>
          <a:prstGeom prst="rect">
            <a:avLst/>
          </a:prstGeom>
          <a:solidFill>
            <a:srgbClr val="08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08760"/>
            <a:ext cx="7562088" cy="54864"/>
          </a:xfrm>
          <a:prstGeom prst="rect">
            <a:avLst/>
          </a:prstGeom>
          <a:solidFill>
            <a:srgbClr val="C09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llion-symbo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6032"/>
            <a:ext cx="1021111" cy="1024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74320"/>
            <a:ext cx="6556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9030"/>
                </a:solidFill>
                <a:latin typeface="Georgia"/>
                <a:ea typeface="游ゴシック"/>
              </a:rPr>
              <a:t>TRILLION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6556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  <a:ea typeface="游ゴシック"/>
              </a:rPr>
              <a:t>AIに選ばれる企業を、設計する。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6556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FC4AC"/>
                </a:solidFill>
                <a:latin typeface="游ゴシック"/>
                <a:ea typeface="游ゴシック"/>
              </a:rPr>
              <a:t>AI検索に特化したマーケティング &amp; デジタルPRグループ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65562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游ゴシック"/>
                <a:ea typeface="游ゴシック"/>
              </a:rPr>
              <a:t>検索する人の50%以上がAI検索を使う時代、日本語圏サイトの90%以上はまだ未対策。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游ゴシック"/>
                <a:ea typeface="游ゴシック"/>
              </a:rPr>
              <a:t>私たちは、AIに引用される仕組みを「設計」から自動でつくり、収益に直結させます。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6556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46C24"/>
                </a:solidFill>
                <a:latin typeface="游ゴシック"/>
                <a:ea typeface="游ゴシック"/>
              </a:rPr>
              <a:t>主力プロダクト：全自動AI検索最適化インフラ HackⅡ（ハックツ）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98648"/>
            <a:ext cx="2093976" cy="1051560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98648"/>
            <a:ext cx="2093976" cy="310896"/>
          </a:xfrm>
          <a:prstGeom prst="rect">
            <a:avLst/>
          </a:prstGeom>
          <a:solidFill>
            <a:srgbClr val="08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79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9030"/>
                </a:solidFill>
                <a:latin typeface="游ゴシック"/>
                <a:ea typeface="游ゴシック"/>
              </a:rPr>
              <a:t>ハカル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282696"/>
            <a:ext cx="18379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C1C1E"/>
                </a:solidFill>
                <a:latin typeface="游ゴシック"/>
                <a:ea typeface="游ゴシック"/>
              </a:rPr>
              <a:t>AI引用モニタリング。5モデル横断で引用シェアを可視化。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2898648"/>
            <a:ext cx="2093976" cy="1051560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4056" y="2898648"/>
            <a:ext cx="2093976" cy="310896"/>
          </a:xfrm>
          <a:prstGeom prst="rect">
            <a:avLst/>
          </a:prstGeom>
          <a:solidFill>
            <a:srgbClr val="08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34056" y="2926079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9030"/>
                </a:solidFill>
                <a:latin typeface="游ゴシック"/>
                <a:ea typeface="游ゴシック"/>
              </a:rPr>
              <a:t>ツクル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282696"/>
            <a:ext cx="18379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C1C1E"/>
                </a:solidFill>
                <a:latin typeface="游ゴシック"/>
                <a:ea typeface="游ゴシック"/>
              </a:rPr>
              <a:t>情報供給インフラ（特許出願中）。llms.txtを自動生成・更新。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5192" y="2898648"/>
            <a:ext cx="2093976" cy="1051560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65192" y="2898648"/>
            <a:ext cx="2093976" cy="310896"/>
          </a:xfrm>
          <a:prstGeom prst="rect">
            <a:avLst/>
          </a:prstGeom>
          <a:solidFill>
            <a:srgbClr val="08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926079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9030"/>
                </a:solidFill>
                <a:latin typeface="游ゴシック"/>
                <a:ea typeface="游ゴシック"/>
              </a:rPr>
              <a:t>ツナグ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7" y="3282696"/>
            <a:ext cx="18379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C1C1E"/>
                </a:solidFill>
                <a:latin typeface="游ゴシック"/>
                <a:ea typeface="游ゴシック"/>
              </a:rPr>
              <a:t>MQL顧客アプローチ。AI経由リードの成約率は4.4倍。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78808"/>
            <a:ext cx="6556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46C24"/>
                </a:solidFill>
                <a:latin typeface="游ゴシック"/>
                <a:ea typeface="游ゴシック"/>
              </a:rPr>
              <a:t>Core AI 4事業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44568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44568"/>
            <a:ext cx="64008" cy="566928"/>
          </a:xfrm>
          <a:prstGeom prst="rect">
            <a:avLst/>
          </a:prstGeom>
          <a:solidFill>
            <a:srgbClr val="C09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SEO・AIOメディア運営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55464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★メイン／月額¥98,000〜（税別）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9624" y="4544568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9624" y="4544568"/>
            <a:ext cx="64008" cy="566928"/>
          </a:xfrm>
          <a:prstGeom prst="rect">
            <a:avLst/>
          </a:prstGeom>
          <a:solidFill>
            <a:srgbClr val="C09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32504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AI検索ツール HackⅡ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04" y="4855464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¥9,800〜/月・タグ1行で即日導入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02936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202936"/>
            <a:ext cx="64008" cy="566928"/>
          </a:xfrm>
          <a:prstGeom prst="rect">
            <a:avLst/>
          </a:prstGeom>
          <a:solidFill>
            <a:srgbClr val="C09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7608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AI検索クローラー収益化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13832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アドセンス型（AI Exclusive™）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9624" y="5202936"/>
            <a:ext cx="320954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9624" y="5202936"/>
            <a:ext cx="64008" cy="566928"/>
          </a:xfrm>
          <a:prstGeom prst="rect">
            <a:avLst/>
          </a:prstGeom>
          <a:solidFill>
            <a:srgbClr val="C09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32504" y="527608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C1C1E"/>
                </a:solidFill>
                <a:latin typeface="游ゴシック"/>
                <a:ea typeface="游ゴシック"/>
              </a:rPr>
              <a:t>AI・DX戦略コンサル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32504" y="5513832"/>
            <a:ext cx="2935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67470"/>
                </a:solidFill>
                <a:latin typeface="游ゴシック"/>
                <a:ea typeface="游ゴシック"/>
              </a:rPr>
              <a:t>設計から始める一気通貫支援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998464"/>
            <a:ext cx="6556248" cy="1005840"/>
          </a:xfrm>
          <a:prstGeom prst="rect">
            <a:avLst/>
          </a:prstGeom>
          <a:solidFill>
            <a:srgbClr val="F3F5F9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46C24"/>
                </a:solidFill>
                <a:latin typeface="Georgia"/>
                <a:ea typeface="游ゴシック"/>
              </a:rPr>
              <a:t>134件+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法人マーケ実績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4169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46C24"/>
                </a:solidFill>
                <a:latin typeface="Georgia"/>
                <a:ea typeface="游ゴシック"/>
              </a:rPr>
              <a:t>4.4倍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4169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AI経由成約率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14169" y="6181344"/>
            <a:ext cx="7315" cy="64008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25419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46C24"/>
                </a:solidFill>
                <a:latin typeface="Georgia"/>
                <a:ea typeface="游ゴシック"/>
              </a:rPr>
              <a:t>+26.9pt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5419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AICS改善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25419" y="6181344"/>
            <a:ext cx="7315" cy="64008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6668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46C24"/>
                </a:solidFill>
                <a:latin typeface="Georgia"/>
                <a:ea typeface="游ゴシック"/>
              </a:rPr>
              <a:t>8名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6668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外部顧問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6668" y="6181344"/>
            <a:ext cx="7315" cy="64008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47918" y="6163056"/>
            <a:ext cx="131124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946C24"/>
                </a:solidFill>
                <a:latin typeface="Georgia"/>
                <a:ea typeface="游ゴシック"/>
              </a:rPr>
              <a:t>特許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47918" y="6620256"/>
            <a:ext cx="1311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1C1C1E"/>
                </a:solidFill>
                <a:latin typeface="游ゴシック"/>
                <a:ea typeface="游ゴシック"/>
              </a:rPr>
              <a:t>出願中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47918" y="6181344"/>
            <a:ext cx="7315" cy="64008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7168896"/>
            <a:ext cx="6556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46C24"/>
                </a:solidFill>
                <a:latin typeface="游ゴシック"/>
                <a:ea typeface="游ゴシック"/>
              </a:rPr>
              <a:t>代表取締役CEO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7534656"/>
            <a:ext cx="655624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767181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C1C1E"/>
                </a:solidFill>
                <a:latin typeface="游ゴシック"/>
                <a:ea typeface="游ゴシック"/>
              </a:rPr>
              <a:t>井上 幹太　</a:t>
            </a:r>
            <a:r>
              <a:rPr sz="1000" b="0">
                <a:solidFill>
                  <a:srgbClr val="946C24"/>
                </a:solidFill>
                <a:latin typeface="Georgia"/>
                <a:ea typeface="游ゴシック"/>
              </a:rPr>
              <a:t>Kanta Inoue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7991856"/>
            <a:ext cx="6099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C1C1E"/>
                </a:solidFill>
                <a:latin typeface="游ゴシック"/>
                <a:ea typeface="游ゴシック"/>
              </a:rPr>
              <a:t>12歳から12年間の不登校を経て独学で起業した「機会建築家」。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67470"/>
                </a:solidFill>
                <a:latin typeface="游ゴシック"/>
                <a:ea typeface="游ゴシック"/>
              </a:rPr>
              <a:t>令和の虎 累計1,600万円・2連続完全ALL／ソフトバンクアカデミア17期／J-StarX第1期／ZEN大学1期特別奨学生。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8860536"/>
            <a:ext cx="6556248" cy="1051560"/>
          </a:xfrm>
          <a:prstGeom prst="roundRect">
            <a:avLst/>
          </a:prstGeom>
          <a:solidFill>
            <a:srgbClr val="08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8988552"/>
            <a:ext cx="6099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9030"/>
                </a:solidFill>
                <a:latin typeface="游ゴシック"/>
                <a:ea typeface="游ゴシック"/>
              </a:rPr>
              <a:t>会社概要 / Contact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9272015"/>
            <a:ext cx="6099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E6E1D6"/>
                </a:solidFill>
                <a:latin typeface="游ゴシック"/>
                <a:ea typeface="游ゴシック"/>
              </a:rPr>
              <a:t>会社名：Trillion Bank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9482328"/>
            <a:ext cx="6099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E6E1D6"/>
                </a:solidFill>
                <a:latin typeface="游ゴシック"/>
                <a:ea typeface="游ゴシック"/>
              </a:rPr>
              <a:t>所在地：東京都千代田区麹町6丁目2-1 麹町サイトビル6階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9692640"/>
            <a:ext cx="6099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E6E1D6"/>
                </a:solidFill>
                <a:latin typeface="游ゴシック"/>
                <a:ea typeface="游ゴシック"/>
              </a:rPr>
              <a:t>Web：regalis-order-suits.com　｜　無料AI引用診断（30分・費用なし）受付中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