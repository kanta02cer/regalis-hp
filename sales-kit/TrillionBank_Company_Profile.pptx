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B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rgbClr val="143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horizontal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685800"/>
            <a:ext cx="4206240" cy="118637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68680" y="2331720"/>
            <a:ext cx="10424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 spc="300">
                <a:solidFill>
                  <a:srgbClr val="C5A059"/>
                </a:solidFill>
                <a:latin typeface="Arial"/>
                <a:ea typeface="Arial"/>
                <a:cs typeface="Arial"/>
              </a:rPr>
              <a:t>COMPANY PROFILE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743200"/>
            <a:ext cx="1060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400"/>
              </a:spcAft>
            </a:pPr>
            <a:r>
              <a:rPr sz="3300" b="1" i="0">
                <a:solidFill>
                  <a:srgbClr val="FFFFFF"/>
                </a:solidFill>
                <a:latin typeface="Yu Gothic UI"/>
                <a:ea typeface="Yu Gothic UI"/>
                <a:cs typeface="Yu Gothic UI"/>
              </a:rPr>
              <a:t>AIに読まれるだけで終わる時代から、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400"/>
              </a:spcAft>
            </a:pPr>
            <a:r>
              <a:rPr sz="3300" b="1" i="0">
                <a:solidFill>
                  <a:srgbClr val="FFFFFF"/>
                </a:solidFill>
                <a:latin typeface="Yu Gothic UI"/>
                <a:ea typeface="Yu Gothic UI"/>
                <a:cs typeface="Yu Gothic UI"/>
              </a:rPr>
              <a:t>正規に使わせ、記録し、</a:t>
            </a:r>
            <a:r>
              <a:rPr sz="3300" b="1" i="0">
                <a:solidFill>
                  <a:srgbClr val="C5A059"/>
                </a:solidFill>
                <a:latin typeface="Yu Gothic UI"/>
                <a:ea typeface="Yu Gothic UI"/>
                <a:cs typeface="Yu Gothic UI"/>
              </a:rPr>
              <a:t>収益化する</a:t>
            </a:r>
            <a:r>
              <a:rPr sz="3300" b="1" i="0">
                <a:solidFill>
                  <a:srgbClr val="FFFFFF"/>
                </a:solidFill>
                <a:latin typeface="Yu Gothic UI"/>
                <a:ea typeface="Yu Gothic UI"/>
                <a:cs typeface="Yu Gothic UI"/>
              </a:rPr>
              <a:t>時代へ。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4709160"/>
            <a:ext cx="98755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C8D6EC"/>
                </a:solidFill>
                <a:latin typeface="Yu Gothic UI"/>
                <a:ea typeface="Yu Gothic UI"/>
                <a:cs typeface="Yu Gothic UI"/>
              </a:rPr>
              <a:t>Trillion Bankは、AI検索での露出測定から、AIクローラー・RAG・MCP事業者の正規アクセス、利用ログ、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C8D6EC"/>
                </a:solidFill>
                <a:latin typeface="Yu Gothic UI"/>
                <a:ea typeface="Yu Gothic UI"/>
                <a:cs typeface="Yu Gothic UI"/>
              </a:rPr>
              <a:t>月次請求までをつなぐAIコンテンツ利用インフラ「Adctor」と、AI検索測定「HackⅡ」を提供します。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68680" y="5623560"/>
            <a:ext cx="2331720" cy="457200"/>
          </a:xfrm>
          <a:prstGeom prst="roundRect">
            <a:avLst>
              <a:gd name="adj" fmla="val 50000"/>
            </a:avLst>
          </a:prstGeom>
          <a:solidFill>
            <a:srgbClr val="142A47"/>
          </a:solidFill>
          <a:ln w="12700">
            <a:solidFill>
              <a:srgbClr val="2E4A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5623560"/>
            <a:ext cx="23317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C5A059"/>
                </a:solidFill>
                <a:latin typeface="Arial"/>
                <a:ea typeface="Arial"/>
                <a:cs typeface="Arial"/>
              </a:rPr>
              <a:t>MEASURE </a:t>
            </a:r>
            <a:r>
              <a:rPr sz="1100" b="0" i="0">
                <a:solidFill>
                  <a:srgbClr val="FFFFFF"/>
                </a:solidFill>
                <a:latin typeface="Yu Gothic UI"/>
                <a:ea typeface="Yu Gothic UI"/>
                <a:cs typeface="Yu Gothic UI"/>
              </a:rPr>
              <a:t>測定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83280" y="5623560"/>
            <a:ext cx="2331720" cy="457200"/>
          </a:xfrm>
          <a:prstGeom prst="roundRect">
            <a:avLst>
              <a:gd name="adj" fmla="val 50000"/>
            </a:avLst>
          </a:prstGeom>
          <a:solidFill>
            <a:srgbClr val="142A47"/>
          </a:solidFill>
          <a:ln w="12700">
            <a:solidFill>
              <a:srgbClr val="2E4A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83280" y="5623560"/>
            <a:ext cx="23317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C5A059"/>
                </a:solidFill>
                <a:latin typeface="Arial"/>
                <a:ea typeface="Arial"/>
                <a:cs typeface="Arial"/>
              </a:rPr>
              <a:t>CONTROL </a:t>
            </a:r>
            <a:r>
              <a:rPr sz="1100" b="0" i="0">
                <a:solidFill>
                  <a:srgbClr val="FFFFFF"/>
                </a:solidFill>
                <a:latin typeface="Yu Gothic UI"/>
                <a:ea typeface="Yu Gothic UI"/>
                <a:cs typeface="Yu Gothic UI"/>
              </a:rPr>
              <a:t>制御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897880" y="5623560"/>
            <a:ext cx="2331720" cy="457200"/>
          </a:xfrm>
          <a:prstGeom prst="roundRect">
            <a:avLst>
              <a:gd name="adj" fmla="val 50000"/>
            </a:avLst>
          </a:prstGeom>
          <a:solidFill>
            <a:srgbClr val="142A47"/>
          </a:solidFill>
          <a:ln w="12700">
            <a:solidFill>
              <a:srgbClr val="2E4A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897880" y="5623560"/>
            <a:ext cx="23317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C5A059"/>
                </a:solidFill>
                <a:latin typeface="Arial"/>
                <a:ea typeface="Arial"/>
                <a:cs typeface="Arial"/>
              </a:rPr>
              <a:t>LEDGER </a:t>
            </a:r>
            <a:r>
              <a:rPr sz="1100" b="0" i="0">
                <a:solidFill>
                  <a:srgbClr val="FFFFFF"/>
                </a:solidFill>
                <a:latin typeface="Yu Gothic UI"/>
                <a:ea typeface="Yu Gothic UI"/>
                <a:cs typeface="Yu Gothic UI"/>
              </a:rPr>
              <a:t>記録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412480" y="5623560"/>
            <a:ext cx="2331720" cy="457200"/>
          </a:xfrm>
          <a:prstGeom prst="roundRect">
            <a:avLst>
              <a:gd name="adj" fmla="val 50000"/>
            </a:avLst>
          </a:prstGeom>
          <a:solidFill>
            <a:srgbClr val="142A47"/>
          </a:solidFill>
          <a:ln w="12700">
            <a:solidFill>
              <a:srgbClr val="2E4A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12480" y="5623560"/>
            <a:ext cx="23317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C5A059"/>
                </a:solidFill>
                <a:latin typeface="Arial"/>
                <a:ea typeface="Arial"/>
                <a:cs typeface="Arial"/>
              </a:rPr>
              <a:t>BILLING </a:t>
            </a:r>
            <a:r>
              <a:rPr sz="1100" b="0" i="0">
                <a:solidFill>
                  <a:srgbClr val="FFFFFF"/>
                </a:solidFill>
                <a:latin typeface="Yu Gothic UI"/>
                <a:ea typeface="Yu Gothic UI"/>
                <a:cs typeface="Yu Gothic UI"/>
              </a:rPr>
              <a:t>請求・収益化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6355080"/>
            <a:ext cx="104241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8FA6C8"/>
                </a:solidFill>
                <a:latin typeface="Yu Gothic UI"/>
                <a:ea typeface="Yu Gothic UI"/>
                <a:cs typeface="Yu Gothic UI"/>
              </a:rPr>
              <a:t>会社概要資料（HackⅡ / AI Access Gateway 概要含む）　｜　版数 v1.0 / 2026　｜　正式社名表記【手動反映】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7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 i="0" spc="220">
                <a:solidFill>
                  <a:srgbClr val="2A63C7"/>
                </a:solidFill>
                <a:latin typeface="Arial"/>
                <a:ea typeface="Arial"/>
                <a:cs typeface="Arial"/>
              </a:rPr>
              <a:t>01 — EXECUTIVE 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49808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4356B"/>
                </a:solidFill>
                <a:latin typeface="Yu Gothic UI"/>
                <a:ea typeface="Yu Gothic UI"/>
                <a:cs typeface="Yu Gothic UI"/>
              </a:rPr>
              <a:t>AIに読まれる情報を、可視化・制御・収益化する会社です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40080" y="6446520"/>
            <a:ext cx="10908792" cy="0"/>
          </a:xfrm>
          <a:prstGeom prst="bentConnector3">
            <a:avLst/>
          </a:prstGeom>
          <a:ln w="9525">
            <a:solidFill>
              <a:srgbClr val="DDE1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Picture 4" descr="logo_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510528"/>
            <a:ext cx="199505" cy="21945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32688" y="6492240"/>
            <a:ext cx="45720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 i="0">
                <a:solidFill>
                  <a:srgbClr val="5B6472"/>
                </a:solidFill>
                <a:latin typeface="Yu Gothic UI"/>
                <a:ea typeface="Yu Gothic UI"/>
                <a:cs typeface="Yu Gothic UI"/>
              </a:rPr>
              <a:t>Trillion Bank  ｜  Company Profile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38160" y="6492240"/>
            <a:ext cx="3410712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850" b="0" i="0">
                <a:solidFill>
                  <a:srgbClr val="5B6472"/>
                </a:solidFill>
                <a:latin typeface="Arial"/>
                <a:ea typeface="Arial"/>
                <a:cs typeface="Arial"/>
              </a:rPr>
              <a:t>02 / 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38160" y="292608"/>
            <a:ext cx="3410712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750" b="0" i="0" spc="150">
                <a:solidFill>
                  <a:srgbClr val="5B6472"/>
                </a:solidFill>
                <a:latin typeface="Arial"/>
                <a:ea typeface="Arial"/>
                <a:cs typeface="Arial"/>
              </a:rPr>
              <a:t>CONFIDENTIAL DRAFT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901951"/>
            <a:ext cx="54864" cy="457200"/>
          </a:xfrm>
          <a:prstGeom prst="rect">
            <a:avLst/>
          </a:prstGeom>
          <a:solidFill>
            <a:srgbClr val="C5A0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59" y="1874519"/>
            <a:ext cx="106984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 i="0">
                <a:solidFill>
                  <a:srgbClr val="14356B"/>
                </a:solidFill>
                <a:latin typeface="Yu Gothic UI"/>
                <a:ea typeface="Yu Gothic UI"/>
                <a:cs typeface="Yu Gothic UI"/>
              </a:rPr>
              <a:t>Trillion Bankは、AI検索時代の「見えない機会損失」と「AIによるコンテンツ利用」を、測定・制御・記録・請求でつなぎます。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2697480"/>
            <a:ext cx="3502152" cy="265176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D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2697480"/>
            <a:ext cx="82296" cy="2651760"/>
          </a:xfrm>
          <a:prstGeom prst="rect">
            <a:avLst/>
          </a:prstGeom>
          <a:solidFill>
            <a:srgbClr val="2A6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1247" y="2862072"/>
            <a:ext cx="3099816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2953512"/>
            <a:ext cx="3044952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 i="0" spc="150">
                <a:solidFill>
                  <a:srgbClr val="2A63C7"/>
                </a:solidFill>
                <a:latin typeface="Arial"/>
                <a:ea typeface="Arial"/>
                <a:cs typeface="Arial"/>
              </a:rPr>
              <a:t>MEASURE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500" b="1" i="0">
                <a:solidFill>
                  <a:srgbClr val="14356B"/>
                </a:solidFill>
                <a:latin typeface="Yu Gothic UI"/>
                <a:ea typeface="Yu Gothic UI"/>
                <a:cs typeface="Yu Gothic UI"/>
              </a:rPr>
              <a:t>HackⅡ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050" b="0" i="0">
                <a:solidFill>
                  <a:srgbClr val="5B6472"/>
                </a:solidFill>
                <a:latin typeface="Yu Gothic UI"/>
                <a:ea typeface="Yu Gothic UI"/>
                <a:cs typeface="Yu Gothic UI"/>
              </a:rPr>
              <a:t>AI検索測定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1A1F26"/>
                </a:solidFill>
                <a:latin typeface="Yu Gothic UI"/>
                <a:ea typeface="Yu Gothic UI"/>
                <a:cs typeface="Yu Gothic UI"/>
              </a:rPr>
              <a:t>ChatGPT・Gemini・Perplexity等で、自社・競合・引用URL・回答内容を可視化する。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25112" y="2697480"/>
            <a:ext cx="3502152" cy="265176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D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25112" y="2697480"/>
            <a:ext cx="82296" cy="2651760"/>
          </a:xfrm>
          <a:prstGeom prst="rect">
            <a:avLst/>
          </a:prstGeom>
          <a:solidFill>
            <a:srgbClr val="C5A0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26280" y="2862072"/>
            <a:ext cx="3099816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4617720" y="2953512"/>
            <a:ext cx="3044952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 i="0" spc="150">
                <a:solidFill>
                  <a:srgbClr val="C5A059"/>
                </a:solidFill>
                <a:latin typeface="Arial"/>
                <a:ea typeface="Arial"/>
                <a:cs typeface="Arial"/>
              </a:rPr>
              <a:t>CONTROL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500" b="1" i="0">
                <a:solidFill>
                  <a:srgbClr val="14356B"/>
                </a:solidFill>
                <a:latin typeface="Yu Gothic UI"/>
                <a:ea typeface="Yu Gothic UI"/>
                <a:cs typeface="Yu Gothic UI"/>
              </a:rPr>
              <a:t>Adctor / AI Access Gateway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050" b="0" i="0">
                <a:solidFill>
                  <a:srgbClr val="5B6472"/>
                </a:solidFill>
                <a:latin typeface="Yu Gothic UI"/>
                <a:ea typeface="Yu Gothic UI"/>
                <a:cs typeface="Yu Gothic UI"/>
              </a:rPr>
              <a:t>AIアクセス制御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1A1F26"/>
                </a:solidFill>
                <a:latin typeface="Yu Gothic UI"/>
                <a:ea typeface="Yu Gothic UI"/>
                <a:cs typeface="Yu Gothic UI"/>
              </a:rPr>
              <a:t>AIクローラー・RAG・MCP事業者の正規アクセスを認証・制御する。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10144" y="2697480"/>
            <a:ext cx="3502152" cy="265176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D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010144" y="2697480"/>
            <a:ext cx="82296" cy="2651760"/>
          </a:xfrm>
          <a:prstGeom prst="rect">
            <a:avLst/>
          </a:prstGeom>
          <a:solidFill>
            <a:srgbClr val="143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11312" y="2862072"/>
            <a:ext cx="3099816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302752" y="2953512"/>
            <a:ext cx="3044952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 i="0" spc="150">
                <a:solidFill>
                  <a:srgbClr val="14356B"/>
                </a:solidFill>
                <a:latin typeface="Arial"/>
                <a:ea typeface="Arial"/>
                <a:cs typeface="Arial"/>
              </a:rPr>
              <a:t>LEDGER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500" b="1" i="0">
                <a:solidFill>
                  <a:srgbClr val="14356B"/>
                </a:solidFill>
                <a:latin typeface="Yu Gothic UI"/>
                <a:ea typeface="Yu Gothic UI"/>
                <a:cs typeface="Yu Gothic UI"/>
              </a:rPr>
              <a:t>Usage / Citation Ledger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050" b="0" i="0">
                <a:solidFill>
                  <a:srgbClr val="5B6472"/>
                </a:solidFill>
                <a:latin typeface="Yu Gothic UI"/>
                <a:ea typeface="Yu Gothic UI"/>
                <a:cs typeface="Yu Gothic UI"/>
              </a:rPr>
              <a:t>利用ログ・請求台帳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1A1F26"/>
                </a:solidFill>
                <a:latin typeface="Yu Gothic UI"/>
                <a:ea typeface="Yu Gothic UI"/>
                <a:cs typeface="Yu Gothic UI"/>
              </a:rPr>
              <a:t>誰が・何を・どれだけ使ったかを記録し、月次請求・将来分配へ接続する。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5623560"/>
            <a:ext cx="1088136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/>
        </p:txBody>
      </p:sp>
      <p:sp>
        <p:nvSpPr>
          <p:cNvPr id="24" name="Rounded Rectangle 23"/>
          <p:cNvSpPr/>
          <p:nvPr/>
        </p:nvSpPr>
        <p:spPr>
          <a:xfrm>
            <a:off x="640080" y="5577840"/>
            <a:ext cx="10881360" cy="658368"/>
          </a:xfrm>
          <a:prstGeom prst="roundRect">
            <a:avLst>
              <a:gd name="adj" fmla="val 12000"/>
            </a:avLst>
          </a:prstGeom>
          <a:solidFill>
            <a:srgbClr val="EE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4400" y="5577840"/>
            <a:ext cx="1042416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1A1F26"/>
                </a:solidFill>
                <a:latin typeface="Yu Gothic UI"/>
                <a:ea typeface="Yu Gothic UI"/>
                <a:cs typeface="Yu Gothic UI"/>
              </a:rPr>
              <a:t>短期は </a:t>
            </a:r>
            <a:r>
              <a:rPr sz="1150" b="1" i="0">
                <a:solidFill>
                  <a:srgbClr val="2A63C7"/>
                </a:solidFill>
                <a:latin typeface="Yu Gothic UI"/>
                <a:ea typeface="Yu Gothic UI"/>
                <a:cs typeface="Yu Gothic UI"/>
              </a:rPr>
              <a:t>HackⅡ（AI検索測定）</a:t>
            </a:r>
            <a:r>
              <a:rPr sz="1150" b="0" i="0">
                <a:solidFill>
                  <a:srgbClr val="1A1F26"/>
                </a:solidFill>
                <a:latin typeface="Yu Gothic UI"/>
                <a:ea typeface="Yu Gothic UI"/>
                <a:cs typeface="Yu Gothic UI"/>
              </a:rPr>
              <a:t> で売上化し、中長期は </a:t>
            </a:r>
            <a:r>
              <a:rPr sz="1150" b="1" i="0">
                <a:solidFill>
                  <a:srgbClr val="14356B"/>
                </a:solidFill>
                <a:latin typeface="Yu Gothic UI"/>
                <a:ea typeface="Yu Gothic UI"/>
                <a:cs typeface="Yu Gothic UI"/>
              </a:rPr>
              <a:t>Adctor（AIアクセス制御・利用ログ・請求）</a:t>
            </a:r>
            <a:r>
              <a:rPr sz="1150" b="0" i="0">
                <a:solidFill>
                  <a:srgbClr val="1A1F26"/>
                </a:solidFill>
                <a:latin typeface="Yu Gothic UI"/>
                <a:ea typeface="Yu Gothic UI"/>
                <a:cs typeface="Yu Gothic UI"/>
              </a:rPr>
              <a:t> で高単価インフラへ拡張します。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7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 i="0" spc="220">
                <a:solidFill>
                  <a:srgbClr val="2A63C7"/>
                </a:solidFill>
                <a:latin typeface="Arial"/>
                <a:ea typeface="Arial"/>
                <a:cs typeface="Arial"/>
              </a:rPr>
              <a:t>02 — ABOUT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49808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4356B"/>
                </a:solidFill>
                <a:latin typeface="Yu Gothic UI"/>
                <a:ea typeface="Yu Gothic UI"/>
                <a:cs typeface="Yu Gothic UI"/>
              </a:rPr>
              <a:t>Trillion Bankとは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81328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B6472"/>
                </a:solidFill>
                <a:latin typeface="Yu Gothic UI"/>
                <a:ea typeface="Yu Gothic UI"/>
                <a:cs typeface="Yu Gothic UI"/>
              </a:rPr>
              <a:t>AI検索・AIクローラー・AIエージェント時代の、新しい情報流通インフラをつくる事業会社です。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6446520"/>
            <a:ext cx="10908792" cy="0"/>
          </a:xfrm>
          <a:prstGeom prst="bentConnector3">
            <a:avLst/>
          </a:prstGeom>
          <a:ln w="9525">
            <a:solidFill>
              <a:srgbClr val="DDE1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6" name="Picture 5" descr="logo_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510528"/>
            <a:ext cx="199505" cy="21945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32688" y="6492240"/>
            <a:ext cx="45720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 i="0">
                <a:solidFill>
                  <a:srgbClr val="5B6472"/>
                </a:solidFill>
                <a:latin typeface="Yu Gothic UI"/>
                <a:ea typeface="Yu Gothic UI"/>
                <a:cs typeface="Yu Gothic UI"/>
              </a:rPr>
              <a:t>Trillion Bank  ｜  Company Profile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38160" y="6492240"/>
            <a:ext cx="3410712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850" b="0" i="0">
                <a:solidFill>
                  <a:srgbClr val="5B6472"/>
                </a:solidFill>
                <a:latin typeface="Arial"/>
                <a:ea typeface="Arial"/>
                <a:cs typeface="Arial"/>
              </a:rPr>
              <a:t>03 / 23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38160" y="292608"/>
            <a:ext cx="3410712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750" b="0" i="0" spc="150">
                <a:solidFill>
                  <a:srgbClr val="5B6472"/>
                </a:solidFill>
                <a:latin typeface="Arial"/>
                <a:ea typeface="Arial"/>
                <a:cs typeface="Arial"/>
              </a:rPr>
              <a:t>CONFIDENTIAL DRAFT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103120"/>
            <a:ext cx="557784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1100"/>
              </a:spcAft>
            </a:pPr>
            <a:r>
              <a:rPr sz="1200" b="1" i="0">
                <a:solidFill>
                  <a:srgbClr val="C5A059"/>
                </a:solidFill>
                <a:latin typeface="Arial"/>
                <a:ea typeface="Arial"/>
                <a:cs typeface="Arial"/>
              </a:rPr>
              <a:t>▪ </a:t>
            </a:r>
            <a:r>
              <a:rPr sz="1200" b="1" i="0">
                <a:solidFill>
                  <a:srgbClr val="1A1F26"/>
                </a:solidFill>
                <a:latin typeface="Yu Gothic UI"/>
                <a:ea typeface="Yu Gothic UI"/>
                <a:cs typeface="Yu Gothic UI"/>
              </a:rPr>
              <a:t>AI検索測定・競合可視化 </a:t>
            </a:r>
            <a:r>
              <a:rPr sz="1200" b="0" i="0">
                <a:solidFill>
                  <a:srgbClr val="1A1F26"/>
                </a:solidFill>
                <a:latin typeface="Yu Gothic UI"/>
                <a:ea typeface="Yu Gothic UI"/>
                <a:cs typeface="Yu Gothic UI"/>
              </a:rPr>
              <a:t>主力サービス HackⅡ により、AI回答上の自社・競合・引用を測定。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1100"/>
              </a:spcAft>
            </a:pPr>
            <a:r>
              <a:rPr sz="1200" b="1" i="0">
                <a:solidFill>
                  <a:srgbClr val="C5A059"/>
                </a:solidFill>
                <a:latin typeface="Arial"/>
                <a:ea typeface="Arial"/>
                <a:cs typeface="Arial"/>
              </a:rPr>
              <a:t>▪ </a:t>
            </a:r>
            <a:r>
              <a:rPr sz="1200" b="1" i="0">
                <a:solidFill>
                  <a:srgbClr val="1A1F26"/>
                </a:solidFill>
                <a:latin typeface="Yu Gothic UI"/>
                <a:ea typeface="Yu Gothic UI"/>
                <a:cs typeface="Yu Gothic UI"/>
              </a:rPr>
              <a:t>AIアクセス制御 </a:t>
            </a:r>
            <a:r>
              <a:rPr sz="1200" b="0" i="0">
                <a:solidFill>
                  <a:srgbClr val="1A1F26"/>
                </a:solidFill>
                <a:latin typeface="Yu Gothic UI"/>
                <a:ea typeface="Yu Gothic UI"/>
                <a:cs typeface="Yu Gothic UI"/>
              </a:rPr>
              <a:t>Adctor / AI Access Gateway で、AI事業者の正規アクセスを設計。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1100"/>
              </a:spcAft>
            </a:pPr>
            <a:r>
              <a:rPr sz="1200" b="1" i="0">
                <a:solidFill>
                  <a:srgbClr val="C5A059"/>
                </a:solidFill>
                <a:latin typeface="Arial"/>
                <a:ea typeface="Arial"/>
                <a:cs typeface="Arial"/>
              </a:rPr>
              <a:t>▪ </a:t>
            </a:r>
            <a:r>
              <a:rPr sz="1200" b="1" i="0">
                <a:solidFill>
                  <a:srgbClr val="1A1F26"/>
                </a:solidFill>
                <a:latin typeface="Yu Gothic UI"/>
                <a:ea typeface="Yu Gothic UI"/>
                <a:cs typeface="Yu Gothic UI"/>
              </a:rPr>
              <a:t>利用ログ・請求・分配 </a:t>
            </a:r>
            <a:r>
              <a:rPr sz="1200" b="0" i="0">
                <a:solidFill>
                  <a:srgbClr val="1A1F26"/>
                </a:solidFill>
                <a:latin typeface="Yu Gothic UI"/>
                <a:ea typeface="Yu Gothic UI"/>
                <a:cs typeface="Yu Gothic UI"/>
              </a:rPr>
              <a:t>Usage / Citation Ledger で、利用イベントを記録し請求へ接続。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1100"/>
              </a:spcAft>
            </a:pPr>
            <a:r>
              <a:rPr sz="1200" b="1" i="0">
                <a:solidFill>
                  <a:srgbClr val="C5A059"/>
                </a:solidFill>
                <a:latin typeface="Arial"/>
                <a:ea typeface="Arial"/>
                <a:cs typeface="Arial"/>
              </a:rPr>
              <a:t>▪ </a:t>
            </a:r>
            <a:r>
              <a:rPr sz="1200" b="1" i="0">
                <a:solidFill>
                  <a:srgbClr val="1A1F26"/>
                </a:solidFill>
                <a:latin typeface="Yu Gothic UI"/>
                <a:ea typeface="Yu Gothic UI"/>
                <a:cs typeface="Yu Gothic UI"/>
              </a:rPr>
              <a:t>パートナー展開 </a:t>
            </a:r>
            <a:r>
              <a:rPr sz="1200" b="0" i="0">
                <a:solidFill>
                  <a:srgbClr val="1A1F26"/>
                </a:solidFill>
                <a:latin typeface="Yu Gothic UI"/>
                <a:ea typeface="Yu Gothic UI"/>
                <a:cs typeface="Yu Gothic UI"/>
              </a:rPr>
              <a:t>広告代理店・SEO会社・メディア企業と共同で提供。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0" y="2011680"/>
            <a:ext cx="5120640" cy="4023360"/>
          </a:xfrm>
          <a:prstGeom prst="roundRect">
            <a:avLst>
              <a:gd name="adj" fmla="val 6000"/>
            </a:avLst>
          </a:prstGeom>
          <a:solidFill>
            <a:srgbClr val="143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240280"/>
            <a:ext cx="457200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100" b="1" i="0">
                <a:solidFill>
                  <a:srgbClr val="C5A059"/>
                </a:solidFill>
                <a:latin typeface="Yu Gothic UI"/>
                <a:ea typeface="Yu Gothic UI"/>
                <a:cs typeface="Yu Gothic UI"/>
              </a:rPr>
              <a:t>会社情報（要最終確認）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 i="0">
                <a:solidFill>
                  <a:srgbClr val="C5A059"/>
                </a:solidFill>
                <a:latin typeface="Yu Gothic UI"/>
                <a:ea typeface="Yu Gothic UI"/>
                <a:cs typeface="Yu Gothic UI"/>
              </a:rPr>
              <a:t>会社名　</a:t>
            </a:r>
            <a:r>
              <a:rPr sz="1000" b="0" i="0">
                <a:solidFill>
                  <a:srgbClr val="FFFFFF"/>
                </a:solidFill>
                <a:latin typeface="Yu Gothic UI"/>
                <a:ea typeface="Yu Gothic UI"/>
                <a:cs typeface="Yu Gothic UI"/>
              </a:rPr>
              <a:t>レガリスジャパングループ株式会社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C8D6EC"/>
                </a:solidFill>
                <a:latin typeface="Yu Gothic UI"/>
                <a:ea typeface="Yu Gothic UI"/>
                <a:cs typeface="Yu Gothic UI"/>
              </a:rPr>
              <a:t>　　　　（Trillion Bank株式会社）※表記統一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 i="0">
                <a:solidFill>
                  <a:srgbClr val="C5A059"/>
                </a:solidFill>
                <a:latin typeface="Yu Gothic UI"/>
                <a:ea typeface="Yu Gothic UI"/>
                <a:cs typeface="Yu Gothic UI"/>
              </a:rPr>
              <a:t>サービス　</a:t>
            </a:r>
            <a:r>
              <a:rPr sz="1000" b="0" i="0">
                <a:solidFill>
                  <a:srgbClr val="FFFFFF"/>
                </a:solidFill>
                <a:latin typeface="Yu Gothic UI"/>
                <a:ea typeface="Yu Gothic UI"/>
                <a:cs typeface="Yu Gothic UI"/>
              </a:rPr>
              <a:t>Adctor / HackⅡ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 i="0">
                <a:solidFill>
                  <a:srgbClr val="C5A059"/>
                </a:solidFill>
                <a:latin typeface="Yu Gothic UI"/>
                <a:ea typeface="Yu Gothic UI"/>
                <a:cs typeface="Yu Gothic UI"/>
              </a:rPr>
              <a:t>代表者　</a:t>
            </a:r>
            <a:r>
              <a:rPr sz="1000" b="0" i="0">
                <a:solidFill>
                  <a:srgbClr val="FFFFFF"/>
                </a:solidFill>
                <a:latin typeface="Yu Gothic UI"/>
                <a:ea typeface="Yu Gothic UI"/>
                <a:cs typeface="Yu Gothic UI"/>
              </a:rPr>
              <a:t>井上 幹太 ※要確認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 i="0">
                <a:solidFill>
                  <a:srgbClr val="C5A059"/>
                </a:solidFill>
                <a:latin typeface="Yu Gothic UI"/>
                <a:ea typeface="Yu Gothic UI"/>
                <a:cs typeface="Yu Gothic UI"/>
              </a:rPr>
              <a:t>所在地　</a:t>
            </a:r>
            <a:r>
              <a:rPr sz="1000" b="0" i="0">
                <a:solidFill>
                  <a:srgbClr val="FFFFFF"/>
                </a:solidFill>
                <a:latin typeface="Yu Gothic UI"/>
                <a:ea typeface="Yu Gothic UI"/>
                <a:cs typeface="Yu Gothic UI"/>
              </a:rPr>
              <a:t>東京都千代田区麹町6-2-1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C8D6EC"/>
                </a:solidFill>
                <a:latin typeface="Yu Gothic UI"/>
                <a:ea typeface="Yu Gothic UI"/>
                <a:cs typeface="Yu Gothic UI"/>
              </a:rPr>
              <a:t>　　　　麹町サイトビル ROOM Z ※契約書記載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 i="0">
                <a:solidFill>
                  <a:srgbClr val="C5A059"/>
                </a:solidFill>
                <a:latin typeface="Yu Gothic UI"/>
                <a:ea typeface="Yu Gothic UI"/>
                <a:cs typeface="Yu Gothic UI"/>
              </a:rPr>
              <a:t>事業領域　</a:t>
            </a:r>
            <a:r>
              <a:rPr sz="1000" b="0" i="0">
                <a:solidFill>
                  <a:srgbClr val="FFFFFF"/>
                </a:solidFill>
                <a:latin typeface="Yu Gothic UI"/>
                <a:ea typeface="Yu Gothic UI"/>
                <a:cs typeface="Yu Gothic UI"/>
              </a:rPr>
              <a:t>AI検索測定・AIアクセス制御・利用ログ・請求分配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 i="0">
                <a:solidFill>
                  <a:srgbClr val="C5A059"/>
                </a:solidFill>
                <a:latin typeface="Yu Gothic UI"/>
                <a:ea typeface="Yu Gothic UI"/>
                <a:cs typeface="Yu Gothic UI"/>
              </a:rPr>
              <a:t>主要顧客　</a:t>
            </a:r>
            <a:r>
              <a:rPr sz="1000" b="0" i="0">
                <a:solidFill>
                  <a:srgbClr val="FFFFFF"/>
                </a:solidFill>
                <a:latin typeface="Yu Gothic UI"/>
                <a:ea typeface="Yu Gothic UI"/>
                <a:cs typeface="Yu Gothic UI"/>
              </a:rPr>
              <a:t>企業／メディア／専門DB／会員制サイト／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C8D6EC"/>
                </a:solidFill>
                <a:latin typeface="Yu Gothic UI"/>
                <a:ea typeface="Yu Gothic UI"/>
                <a:cs typeface="Yu Gothic UI"/>
              </a:rPr>
              <a:t>　　　　広告代理店／AI・RAG・MCP事業者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7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 i="0" spc="220">
                <a:solidFill>
                  <a:srgbClr val="2A63C7"/>
                </a:solidFill>
                <a:latin typeface="Arial"/>
                <a:ea typeface="Arial"/>
                <a:cs typeface="Arial"/>
              </a:rPr>
              <a:t>03 — MARKET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49808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4356B"/>
                </a:solidFill>
                <a:latin typeface="Yu Gothic UI"/>
                <a:ea typeface="Yu Gothic UI"/>
                <a:cs typeface="Yu Gothic UI"/>
              </a:rPr>
              <a:t>なぜ今、AI検索・AIコンテンツ利用インフラが必要か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81328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B6472"/>
                </a:solidFill>
                <a:latin typeface="Yu Gothic UI"/>
                <a:ea typeface="Yu Gothic UI"/>
                <a:cs typeface="Yu Gothic UI"/>
              </a:rPr>
              <a:t>検索される時代から、AIに読まれ、AIに比較・推薦される時代へ変わっています。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6446520"/>
            <a:ext cx="10908792" cy="0"/>
          </a:xfrm>
          <a:prstGeom prst="bentConnector3">
            <a:avLst/>
          </a:prstGeom>
          <a:ln w="9525">
            <a:solidFill>
              <a:srgbClr val="DDE1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6" name="Picture 5" descr="logo_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510528"/>
            <a:ext cx="199505" cy="21945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32688" y="6492240"/>
            <a:ext cx="45720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 i="0">
                <a:solidFill>
                  <a:srgbClr val="5B6472"/>
                </a:solidFill>
                <a:latin typeface="Yu Gothic UI"/>
                <a:ea typeface="Yu Gothic UI"/>
                <a:cs typeface="Yu Gothic UI"/>
              </a:rPr>
              <a:t>Trillion Bank  ｜  Company Profile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38160" y="6492240"/>
            <a:ext cx="3410712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850" b="0" i="0">
                <a:solidFill>
                  <a:srgbClr val="5B6472"/>
                </a:solidFill>
                <a:latin typeface="Arial"/>
                <a:ea typeface="Arial"/>
                <a:cs typeface="Arial"/>
              </a:rPr>
              <a:t>04 / 23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38160" y="292608"/>
            <a:ext cx="3410712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750" b="0" i="0" spc="150">
                <a:solidFill>
                  <a:srgbClr val="5B6472"/>
                </a:solidFill>
                <a:latin typeface="Arial"/>
                <a:ea typeface="Arial"/>
                <a:cs typeface="Arial"/>
              </a:rPr>
              <a:t>CONFIDENTIAL DRAFT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057400"/>
            <a:ext cx="5349240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2194560"/>
            <a:ext cx="48463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00" b="1" i="0">
                <a:solidFill>
                  <a:srgbClr val="5B6472"/>
                </a:solidFill>
                <a:latin typeface="Yu Gothic UI"/>
                <a:ea typeface="Yu Gothic UI"/>
                <a:cs typeface="Yu Gothic UI"/>
              </a:rPr>
              <a:t>Before ｜ これまで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1A1F26"/>
                </a:solidFill>
                <a:latin typeface="Yu Gothic UI"/>
                <a:ea typeface="Yu Gothic UI"/>
                <a:cs typeface="Yu Gothic UI"/>
              </a:rPr>
              <a:t>検索 → クリック → サイト流入 → 広告 / CV / 会員登録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2057400"/>
            <a:ext cx="5349240" cy="1417320"/>
          </a:xfrm>
          <a:prstGeom prst="roundRect">
            <a:avLst>
              <a:gd name="adj" fmla="val 8000"/>
            </a:avLst>
          </a:prstGeom>
          <a:solidFill>
            <a:srgbClr val="143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46520" y="2194560"/>
            <a:ext cx="48463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00" b="1" i="0">
                <a:solidFill>
                  <a:srgbClr val="C5A059"/>
                </a:solidFill>
                <a:latin typeface="Yu Gothic UI"/>
                <a:ea typeface="Yu Gothic UI"/>
                <a:cs typeface="Yu Gothic UI"/>
              </a:rPr>
              <a:t>After ｜ AI検索時代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FFFFFF"/>
                </a:solidFill>
                <a:latin typeface="Yu Gothic UI"/>
                <a:ea typeface="Yu Gothic UI"/>
                <a:cs typeface="Yu Gothic UI"/>
              </a:rPr>
              <a:t>AIが読む → AI回答で比較・推薦 → サイトに戻らず候補決定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640080" y="3703320"/>
          <a:ext cx="10881359" cy="21945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482035"/>
                <a:gridCol w="7399324"/>
              </a:tblGrid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050" b="1" i="0">
                          <a:solidFill>
                            <a:srgbClr val="FFFFFF"/>
                          </a:solidFill>
                          <a:latin typeface="Yu Gothic UI"/>
                          <a:ea typeface="Yu Gothic UI"/>
                          <a:cs typeface="Yu Gothic UI"/>
                        </a:rPr>
                        <a:t>課題</a:t>
                      </a:r>
                    </a:p>
                  </a:txBody>
                  <a:tcPr marL="82296" marR="54864" marT="27432" marB="27432" anchor="ctr">
                    <a:solidFill>
                      <a:srgbClr val="1435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 i="0">
                          <a:solidFill>
                            <a:srgbClr val="FFFFFF"/>
                          </a:solidFill>
                          <a:latin typeface="Yu Gothic UI"/>
                          <a:ea typeface="Yu Gothic UI"/>
                          <a:cs typeface="Yu Gothic UI"/>
                        </a:rPr>
                        <a:t>内容</a:t>
                      </a:r>
                    </a:p>
                  </a:txBody>
                  <a:tcPr marL="82296" marR="54864" marT="27432" marB="27432" anchor="ctr">
                    <a:solidFill>
                      <a:srgbClr val="14356B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14356B"/>
                          </a:solidFill>
                          <a:latin typeface="Yu Gothic UI"/>
                          <a:ea typeface="Yu Gothic UI"/>
                          <a:cs typeface="Yu Gothic UI"/>
                        </a:rPr>
                        <a:t>AI検索上の機会損失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A1F26"/>
                          </a:solidFill>
                          <a:latin typeface="Yu Gothic UI"/>
                          <a:ea typeface="Yu Gothic UI"/>
                          <a:cs typeface="Yu Gothic UI"/>
                        </a:rPr>
                        <a:t>自社がAI回答に出なければ、商談前に候補から外れる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14356B"/>
                          </a:solidFill>
                          <a:latin typeface="Yu Gothic UI"/>
                          <a:ea typeface="Yu Gothic UI"/>
                          <a:cs typeface="Yu Gothic UI"/>
                        </a:rPr>
                        <a:t>競合推薦の不可視化</a:t>
                      </a:r>
                    </a:p>
                  </a:txBody>
                  <a:tcPr marL="82296" marR="54864" marT="18288" marB="18288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A1F26"/>
                          </a:solidFill>
                          <a:latin typeface="Yu Gothic UI"/>
                          <a:ea typeface="Yu Gothic UI"/>
                          <a:cs typeface="Yu Gothic UI"/>
                        </a:rPr>
                        <a:t>どの質問で競合が推薦されているか分からない</a:t>
                      </a:r>
                    </a:p>
                  </a:txBody>
                  <a:tcPr marL="82296" marR="54864" marT="18288" marB="18288" anchor="ctr">
                    <a:solidFill>
                      <a:srgbClr val="F4F6F9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14356B"/>
                          </a:solidFill>
                          <a:latin typeface="Yu Gothic UI"/>
                          <a:ea typeface="Yu Gothic UI"/>
                          <a:cs typeface="Yu Gothic UI"/>
                        </a:rPr>
                        <a:t>引用URLの不可視化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A1F26"/>
                          </a:solidFill>
                          <a:latin typeface="Yu Gothic UI"/>
                          <a:ea typeface="Yu Gothic UI"/>
                          <a:cs typeface="Yu Gothic UI"/>
                        </a:rPr>
                        <a:t>どのページがAIに引用・参照されているか分からない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14356B"/>
                          </a:solidFill>
                          <a:latin typeface="Yu Gothic UI"/>
                          <a:ea typeface="Yu Gothic UI"/>
                          <a:cs typeface="Yu Gothic UI"/>
                        </a:rPr>
                        <a:t>AIクローラー利用の不透明性</a:t>
                      </a:r>
                    </a:p>
                  </a:txBody>
                  <a:tcPr marL="82296" marR="54864" marT="18288" marB="18288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A1F26"/>
                          </a:solidFill>
                          <a:latin typeface="Yu Gothic UI"/>
                          <a:ea typeface="Yu Gothic UI"/>
                          <a:cs typeface="Yu Gothic UI"/>
                        </a:rPr>
                        <a:t>AIに読まれても、流入・収益・利用ログが戻らない</a:t>
                      </a:r>
                    </a:p>
                  </a:txBody>
                  <a:tcPr marL="82296" marR="54864" marT="18288" marB="18288" anchor="ctr">
                    <a:solidFill>
                      <a:srgbClr val="F4F6F9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14356B"/>
                          </a:solidFill>
                          <a:latin typeface="Yu Gothic UI"/>
                          <a:ea typeface="Yu Gothic UI"/>
                          <a:cs typeface="Yu Gothic UI"/>
                        </a:rPr>
                        <a:t>請求・分配の未整備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A1F26"/>
                          </a:solidFill>
                          <a:latin typeface="Yu Gothic UI"/>
                          <a:ea typeface="Yu Gothic UI"/>
                          <a:cs typeface="Yu Gothic UI"/>
                        </a:rPr>
                        <a:t>コンテンツ利用料を記録・請求・分配する仕組みがない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B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 i="0" spc="250">
                <a:solidFill>
                  <a:srgbClr val="C5A059"/>
                </a:solidFill>
                <a:latin typeface="Arial"/>
                <a:ea typeface="Arial"/>
                <a:cs typeface="Arial"/>
              </a:rPr>
              <a:t>04 — MISSION / VISION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371600"/>
            <a:ext cx="5120640" cy="4297680"/>
          </a:xfrm>
          <a:prstGeom prst="roundRect">
            <a:avLst>
              <a:gd name="adj" fmla="val 5000"/>
            </a:avLst>
          </a:prstGeom>
          <a:solidFill>
            <a:srgbClr val="112440"/>
          </a:solidFill>
          <a:ln w="12700">
            <a:solidFill>
              <a:srgbClr val="2A3F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1691640"/>
            <a:ext cx="4572000" cy="37490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300" b="1" i="0" spc="200">
                <a:solidFill>
                  <a:srgbClr val="C5A059"/>
                </a:solidFill>
                <a:latin typeface="Arial"/>
                <a:ea typeface="Arial"/>
                <a:cs typeface="Arial"/>
              </a:rPr>
              <a:t>MISSION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1600"/>
              </a:spcAft>
            </a:pPr>
            <a:r>
              <a:rPr sz="1900" b="1" i="0">
                <a:solidFill>
                  <a:srgbClr val="FFFFFF"/>
                </a:solidFill>
                <a:latin typeface="Yu Gothic UI"/>
                <a:ea typeface="Yu Gothic UI"/>
                <a:cs typeface="Yu Gothic UI"/>
              </a:rPr>
              <a:t>AI時代のコンテンツ利用を、正規アクセス・利用ログ・請求分配へ。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C8D6EC"/>
                </a:solidFill>
                <a:latin typeface="Yu Gothic UI"/>
                <a:ea typeface="Yu Gothic UI"/>
                <a:cs typeface="Yu Gothic UI"/>
              </a:rPr>
              <a:t>AI時代の情報流通を、測定可能で、正当に評価される仕組みに変える。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63640" y="1371600"/>
            <a:ext cx="5120640" cy="4297680"/>
          </a:xfrm>
          <a:prstGeom prst="roundRect">
            <a:avLst>
              <a:gd name="adj" fmla="val 5000"/>
            </a:avLst>
          </a:prstGeom>
          <a:solidFill>
            <a:srgbClr val="112440"/>
          </a:solidFill>
          <a:ln w="12700">
            <a:solidFill>
              <a:srgbClr val="2A3F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0" y="1691640"/>
            <a:ext cx="4572000" cy="37490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300" b="1" i="0" spc="200">
                <a:solidFill>
                  <a:srgbClr val="C5A059"/>
                </a:solidFill>
                <a:latin typeface="Arial"/>
                <a:ea typeface="Arial"/>
                <a:cs typeface="Arial"/>
              </a:rPr>
              <a:t>VISION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1600"/>
              </a:spcAft>
            </a:pPr>
            <a:r>
              <a:rPr sz="1900" b="1" i="0">
                <a:solidFill>
                  <a:srgbClr val="FFFFFF"/>
                </a:solidFill>
                <a:latin typeface="Yu Gothic UI"/>
                <a:ea typeface="Yu Gothic UI"/>
                <a:cs typeface="Yu Gothic UI"/>
              </a:rPr>
              <a:t>AIに使われる価値を可視化し、正当に収益化できるインフラをつくる。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C8D6EC"/>
                </a:solidFill>
                <a:latin typeface="Yu Gothic UI"/>
                <a:ea typeface="Yu Gothic UI"/>
                <a:cs typeface="Yu Gothic UI"/>
              </a:rPr>
              <a:t>すべての企業・メディア・専門情報サイトが、AIに使われる価値を定量化できる状態へ。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897880"/>
            <a:ext cx="105156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9DB4D6"/>
                </a:solidFill>
                <a:latin typeface="Yu Gothic UI"/>
                <a:ea typeface="Yu Gothic UI"/>
                <a:cs typeface="Yu Gothic UI"/>
              </a:rPr>
              <a:t>可視化 ／ 制御 ／ 記録 ／ 請求 ／ 信頼 — 誇張せず、技術・法務・SEOリスクを前提に設計します。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40080" y="6446520"/>
            <a:ext cx="10908792" cy="0"/>
          </a:xfrm>
          <a:prstGeom prst="bentConnector3">
            <a:avLst/>
          </a:prstGeom>
          <a:ln w="9525">
            <a:solidFill>
              <a:srgbClr val="2A3A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logo_icon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510528"/>
            <a:ext cx="199505" cy="21945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32688" y="6492240"/>
            <a:ext cx="45720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 i="0">
                <a:solidFill>
                  <a:srgbClr val="9DB4D6"/>
                </a:solidFill>
                <a:latin typeface="Yu Gothic UI"/>
                <a:ea typeface="Yu Gothic UI"/>
                <a:cs typeface="Yu Gothic UI"/>
              </a:rPr>
              <a:t>Trillion Bank  ｜  Company Profile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38160" y="6492240"/>
            <a:ext cx="3410712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850" b="0" i="0">
                <a:solidFill>
                  <a:srgbClr val="9DB4D6"/>
                </a:solidFill>
                <a:latin typeface="Arial"/>
                <a:ea typeface="Arial"/>
                <a:cs typeface="Arial"/>
              </a:rPr>
              <a:t>05 / 23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38160" y="292608"/>
            <a:ext cx="3410712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750" b="0" i="0" spc="150">
                <a:solidFill>
                  <a:srgbClr val="9DB4D6"/>
                </a:solidFill>
                <a:latin typeface="Arial"/>
                <a:ea typeface="Arial"/>
                <a:cs typeface="Arial"/>
              </a:rPr>
              <a:t>CONFIDENTIAL DRAFT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7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 i="0" spc="220">
                <a:solidFill>
                  <a:srgbClr val="2A63C7"/>
                </a:solidFill>
                <a:latin typeface="Arial"/>
                <a:ea typeface="Arial"/>
                <a:cs typeface="Arial"/>
              </a:rPr>
              <a:t>05 — BUSINESS OVERVIEW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49808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4356B"/>
                </a:solidFill>
                <a:latin typeface="Yu Gothic UI"/>
                <a:ea typeface="Yu Gothic UI"/>
                <a:cs typeface="Yu Gothic UI"/>
              </a:rPr>
              <a:t>事業全体像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81328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B6472"/>
                </a:solidFill>
                <a:latin typeface="Yu Gothic UI"/>
                <a:ea typeface="Yu Gothic UI"/>
                <a:cs typeface="Yu Gothic UI"/>
              </a:rPr>
              <a:t>HackⅡで測定し、Adctorで制御し、Usage Ledgerで請求・分配へつなげます。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6446520"/>
            <a:ext cx="10908792" cy="0"/>
          </a:xfrm>
          <a:prstGeom prst="bentConnector3">
            <a:avLst/>
          </a:prstGeom>
          <a:ln w="9525">
            <a:solidFill>
              <a:srgbClr val="DDE1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6" name="Picture 5" descr="logo_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510528"/>
            <a:ext cx="199505" cy="21945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32688" y="6492240"/>
            <a:ext cx="45720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 i="0">
                <a:solidFill>
                  <a:srgbClr val="5B6472"/>
                </a:solidFill>
                <a:latin typeface="Yu Gothic UI"/>
                <a:ea typeface="Yu Gothic UI"/>
                <a:cs typeface="Yu Gothic UI"/>
              </a:rPr>
              <a:t>Trillion Bank  ｜  Company Profile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38160" y="6492240"/>
            <a:ext cx="3410712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850" b="0" i="0">
                <a:solidFill>
                  <a:srgbClr val="5B6472"/>
                </a:solidFill>
                <a:latin typeface="Arial"/>
                <a:ea typeface="Arial"/>
                <a:cs typeface="Arial"/>
              </a:rPr>
              <a:t>06 / 23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38160" y="292608"/>
            <a:ext cx="3410712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750" b="0" i="0" spc="150">
                <a:solidFill>
                  <a:srgbClr val="5B6472"/>
                </a:solidFill>
                <a:latin typeface="Arial"/>
                <a:ea typeface="Arial"/>
                <a:cs typeface="Arial"/>
              </a:rPr>
              <a:t>CONFIDENTIAL DRAFT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148840"/>
            <a:ext cx="2624328" cy="310896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D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40080" y="2148840"/>
            <a:ext cx="2624328" cy="457200"/>
          </a:xfrm>
          <a:prstGeom prst="roundRect">
            <a:avLst>
              <a:gd name="adj" fmla="val 7000"/>
            </a:avLst>
          </a:prstGeom>
          <a:solidFill>
            <a:srgbClr val="2A6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2148840"/>
            <a:ext cx="262432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 i="0" spc="150">
                <a:solidFill>
                  <a:srgbClr val="FFFFFF"/>
                </a:solidFill>
                <a:latin typeface="Arial"/>
                <a:ea typeface="Arial"/>
                <a:cs typeface="Arial"/>
              </a:rPr>
              <a:t>MEASURE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7" y="2788920"/>
            <a:ext cx="2258568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14356B"/>
                </a:solidFill>
                <a:latin typeface="Yu Gothic UI"/>
                <a:ea typeface="Yu Gothic UI"/>
                <a:cs typeface="Yu Gothic UI"/>
              </a:rPr>
              <a:t>HackⅡ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050" b="1" i="0">
                <a:solidFill>
                  <a:srgbClr val="2A63C7"/>
                </a:solidFill>
                <a:latin typeface="Yu Gothic UI"/>
                <a:ea typeface="Yu Gothic UI"/>
                <a:cs typeface="Yu Gothic UI"/>
              </a:rPr>
              <a:t>AI検索を測る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5B6472"/>
                </a:solidFill>
                <a:latin typeface="Yu Gothic UI"/>
                <a:ea typeface="Yu Gothic UI"/>
                <a:cs typeface="Yu Gothic UI"/>
              </a:rPr>
              <a:t>AI検索での自社・競合・引用URL・回答内容を測定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41247" y="4828032"/>
            <a:ext cx="877824" cy="310896"/>
          </a:xfrm>
          <a:prstGeom prst="roundRect">
            <a:avLst>
              <a:gd name="adj" fmla="val 50000"/>
            </a:avLst>
          </a:prstGeom>
          <a:solidFill>
            <a:srgbClr val="EE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1247" y="4828032"/>
            <a:ext cx="877824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14356B"/>
                </a:solidFill>
                <a:latin typeface="Yu Gothic UI"/>
                <a:ea typeface="Yu Gothic UI"/>
                <a:cs typeface="Yu Gothic UI"/>
              </a:rPr>
              <a:t>収益化：短期</a:t>
            </a:r>
          </a:p>
        </p:txBody>
      </p:sp>
      <p:sp>
        <p:nvSpPr>
          <p:cNvPr id="16" name="Chevron 15"/>
          <p:cNvSpPr/>
          <p:nvPr/>
        </p:nvSpPr>
        <p:spPr>
          <a:xfrm>
            <a:off x="3246120" y="3429000"/>
            <a:ext cx="182880" cy="457200"/>
          </a:xfrm>
          <a:prstGeom prst="chevron">
            <a:avLst/>
          </a:prstGeom>
          <a:solidFill>
            <a:srgbClr val="C3CD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392424" y="2148840"/>
            <a:ext cx="2624328" cy="310896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D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3392424" y="2148840"/>
            <a:ext cx="2624328" cy="457200"/>
          </a:xfrm>
          <a:prstGeom prst="roundRect">
            <a:avLst>
              <a:gd name="adj" fmla="val 7000"/>
            </a:avLst>
          </a:prstGeom>
          <a:solidFill>
            <a:srgbClr val="C5A0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392424" y="2148840"/>
            <a:ext cx="262432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 i="0" spc="150">
                <a:solidFill>
                  <a:srgbClr val="FFFFFF"/>
                </a:solidFill>
                <a:latin typeface="Arial"/>
                <a:ea typeface="Arial"/>
                <a:cs typeface="Arial"/>
              </a:rPr>
              <a:t>CONTROL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93592" y="2788920"/>
            <a:ext cx="2258568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14356B"/>
                </a:solidFill>
                <a:latin typeface="Yu Gothic UI"/>
                <a:ea typeface="Yu Gothic UI"/>
                <a:cs typeface="Yu Gothic UI"/>
              </a:rPr>
              <a:t>AI Access Gateway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050" b="1" i="0">
                <a:solidFill>
                  <a:srgbClr val="C5A059"/>
                </a:solidFill>
                <a:latin typeface="Yu Gothic UI"/>
                <a:ea typeface="Yu Gothic UI"/>
                <a:cs typeface="Yu Gothic UI"/>
              </a:rPr>
              <a:t>AIアクセスを制御する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5B6472"/>
                </a:solidFill>
                <a:latin typeface="Yu Gothic UI"/>
                <a:ea typeface="Yu Gothic UI"/>
                <a:cs typeface="Yu Gothic UI"/>
              </a:rPr>
              <a:t>AIクローラー・RAG・MCP事業者の正規アクセスを管理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593592" y="4828032"/>
            <a:ext cx="877824" cy="310896"/>
          </a:xfrm>
          <a:prstGeom prst="roundRect">
            <a:avLst>
              <a:gd name="adj" fmla="val 50000"/>
            </a:avLst>
          </a:prstGeom>
          <a:solidFill>
            <a:srgbClr val="EE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593592" y="4828032"/>
            <a:ext cx="877824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14356B"/>
                </a:solidFill>
                <a:latin typeface="Yu Gothic UI"/>
                <a:ea typeface="Yu Gothic UI"/>
                <a:cs typeface="Yu Gothic UI"/>
              </a:rPr>
              <a:t>収益化：中期</a:t>
            </a:r>
          </a:p>
        </p:txBody>
      </p:sp>
      <p:sp>
        <p:nvSpPr>
          <p:cNvPr id="23" name="Chevron 22"/>
          <p:cNvSpPr/>
          <p:nvPr/>
        </p:nvSpPr>
        <p:spPr>
          <a:xfrm>
            <a:off x="5998464" y="3429000"/>
            <a:ext cx="182880" cy="457200"/>
          </a:xfrm>
          <a:prstGeom prst="chevron">
            <a:avLst/>
          </a:prstGeom>
          <a:solidFill>
            <a:srgbClr val="C3CD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144768" y="2148840"/>
            <a:ext cx="2624328" cy="310896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D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144768" y="2148840"/>
            <a:ext cx="2624328" cy="457200"/>
          </a:xfrm>
          <a:prstGeom prst="roundRect">
            <a:avLst>
              <a:gd name="adj" fmla="val 7000"/>
            </a:avLst>
          </a:prstGeom>
          <a:solidFill>
            <a:srgbClr val="143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144768" y="2148840"/>
            <a:ext cx="262432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 i="0" spc="150">
                <a:solidFill>
                  <a:srgbClr val="FFFFFF"/>
                </a:solidFill>
                <a:latin typeface="Arial"/>
                <a:ea typeface="Arial"/>
                <a:cs typeface="Arial"/>
              </a:rPr>
              <a:t>LEDGER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45936" y="2788920"/>
            <a:ext cx="2258568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14356B"/>
                </a:solidFill>
                <a:latin typeface="Yu Gothic UI"/>
                <a:ea typeface="Yu Gothic UI"/>
                <a:cs typeface="Yu Gothic UI"/>
              </a:rPr>
              <a:t>Usage / Citation Ledger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050" b="1" i="0">
                <a:solidFill>
                  <a:srgbClr val="14356B"/>
                </a:solidFill>
                <a:latin typeface="Yu Gothic UI"/>
                <a:ea typeface="Yu Gothic UI"/>
                <a:cs typeface="Yu Gothic UI"/>
              </a:rPr>
              <a:t>利用を記録する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5B6472"/>
                </a:solidFill>
                <a:latin typeface="Yu Gothic UI"/>
                <a:ea typeface="Yu Gothic UI"/>
                <a:cs typeface="Yu Gothic UI"/>
              </a:rPr>
              <a:t>誰が・何を・どの条件で・どれだけ使ったかを記録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345936" y="4828032"/>
            <a:ext cx="1078992" cy="310896"/>
          </a:xfrm>
          <a:prstGeom prst="roundRect">
            <a:avLst>
              <a:gd name="adj" fmla="val 50000"/>
            </a:avLst>
          </a:prstGeom>
          <a:solidFill>
            <a:srgbClr val="EE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45936" y="4828032"/>
            <a:ext cx="107899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14356B"/>
                </a:solidFill>
                <a:latin typeface="Yu Gothic UI"/>
                <a:ea typeface="Yu Gothic UI"/>
                <a:cs typeface="Yu Gothic UI"/>
              </a:rPr>
              <a:t>収益化：中〜長期</a:t>
            </a:r>
          </a:p>
        </p:txBody>
      </p:sp>
      <p:sp>
        <p:nvSpPr>
          <p:cNvPr id="30" name="Chevron 29"/>
          <p:cNvSpPr/>
          <p:nvPr/>
        </p:nvSpPr>
        <p:spPr>
          <a:xfrm>
            <a:off x="8750808" y="3429000"/>
            <a:ext cx="182880" cy="457200"/>
          </a:xfrm>
          <a:prstGeom prst="chevron">
            <a:avLst/>
          </a:prstGeom>
          <a:solidFill>
            <a:srgbClr val="C3CD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8897112" y="2148840"/>
            <a:ext cx="2624328" cy="310896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D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8897112" y="2148840"/>
            <a:ext cx="2624328" cy="457200"/>
          </a:xfrm>
          <a:prstGeom prst="roundRect">
            <a:avLst>
              <a:gd name="adj" fmla="val 7000"/>
            </a:avLst>
          </a:prstGeom>
          <a:solidFill>
            <a:srgbClr val="E07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897112" y="2148840"/>
            <a:ext cx="262432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 i="0" spc="150">
                <a:solidFill>
                  <a:srgbClr val="FFFFFF"/>
                </a:solidFill>
                <a:latin typeface="Arial"/>
                <a:ea typeface="Arial"/>
                <a:cs typeface="Arial"/>
              </a:rPr>
              <a:t>BILLING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098280" y="2788920"/>
            <a:ext cx="2258568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14356B"/>
                </a:solidFill>
                <a:latin typeface="Yu Gothic UI"/>
                <a:ea typeface="Yu Gothic UI"/>
                <a:cs typeface="Yu Gothic UI"/>
              </a:rPr>
              <a:t>Billing / Report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050" b="1" i="0">
                <a:solidFill>
                  <a:srgbClr val="E07B2E"/>
                </a:solidFill>
                <a:latin typeface="Yu Gothic UI"/>
                <a:ea typeface="Yu Gothic UI"/>
                <a:cs typeface="Yu Gothic UI"/>
              </a:rPr>
              <a:t>請求・分配へ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5B6472"/>
                </a:solidFill>
                <a:latin typeface="Yu Gothic UI"/>
                <a:ea typeface="Yu Gothic UI"/>
                <a:cs typeface="Yu Gothic UI"/>
              </a:rPr>
              <a:t>月次請求・将来の分配・監査ログへ接続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098280" y="4828032"/>
            <a:ext cx="877824" cy="310896"/>
          </a:xfrm>
          <a:prstGeom prst="roundRect">
            <a:avLst>
              <a:gd name="adj" fmla="val 50000"/>
            </a:avLst>
          </a:prstGeom>
          <a:solidFill>
            <a:srgbClr val="EE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098280" y="4828032"/>
            <a:ext cx="877824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14356B"/>
                </a:solidFill>
                <a:latin typeface="Yu Gothic UI"/>
                <a:ea typeface="Yu Gothic UI"/>
                <a:cs typeface="Yu Gothic UI"/>
              </a:rPr>
              <a:t>収益化：長期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40080" y="5532120"/>
            <a:ext cx="10881360" cy="731520"/>
          </a:xfrm>
          <a:prstGeom prst="roundRect">
            <a:avLst>
              <a:gd name="adj" fmla="val 10000"/>
            </a:avLst>
          </a:prstGeom>
          <a:solidFill>
            <a:srgbClr val="EE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14400" y="5532120"/>
            <a:ext cx="1042416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C5A059"/>
                </a:solidFill>
                <a:latin typeface="Yu Gothic UI"/>
                <a:ea typeface="Yu Gothic UI"/>
                <a:cs typeface="Yu Gothic UI"/>
              </a:rPr>
              <a:t>事業ポジション：</a:t>
            </a:r>
            <a:r>
              <a:rPr sz="1150" b="0" i="0">
                <a:solidFill>
                  <a:srgbClr val="1A1F26"/>
                </a:solidFill>
                <a:latin typeface="Yu Gothic UI"/>
                <a:ea typeface="Yu Gothic UI"/>
                <a:cs typeface="Yu Gothic UI"/>
              </a:rPr>
              <a:t>AdctorはCloudflareの代替ではなく、Cloudflare等の既存インフラの上に、AI時代のコンテンツ利用における認証・利用ログ・引用ログ・請求分配の“台帳”を作る会社です。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7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 i="0" spc="220">
                <a:solidFill>
                  <a:srgbClr val="2A63C7"/>
                </a:solidFill>
                <a:latin typeface="Arial"/>
                <a:ea typeface="Arial"/>
                <a:cs typeface="Arial"/>
              </a:rPr>
              <a:t>06 — ADCTOR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49808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4356B"/>
                </a:solidFill>
                <a:latin typeface="Yu Gothic UI"/>
                <a:ea typeface="Yu Gothic UI"/>
                <a:cs typeface="Yu Gothic UI"/>
              </a:rPr>
              <a:t>Adctor事業概要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81328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B6472"/>
                </a:solidFill>
                <a:latin typeface="Yu Gothic UI"/>
                <a:ea typeface="Yu Gothic UI"/>
                <a:cs typeface="Yu Gothic UI"/>
              </a:rPr>
              <a:t>AI時代のコンテンツ利用を、正規アクセス・利用ログ・請求分配へ変えるインフラ構想。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6446520"/>
            <a:ext cx="10908792" cy="0"/>
          </a:xfrm>
          <a:prstGeom prst="bentConnector3">
            <a:avLst/>
          </a:prstGeom>
          <a:ln w="9525">
            <a:solidFill>
              <a:srgbClr val="DDE1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6" name="Picture 5" descr="logo_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510528"/>
            <a:ext cx="199505" cy="21945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32688" y="6492240"/>
            <a:ext cx="45720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 i="0">
                <a:solidFill>
                  <a:srgbClr val="5B6472"/>
                </a:solidFill>
                <a:latin typeface="Yu Gothic UI"/>
                <a:ea typeface="Yu Gothic UI"/>
                <a:cs typeface="Yu Gothic UI"/>
              </a:rPr>
              <a:t>Trillion Bank  ｜  Company Profile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38160" y="6492240"/>
            <a:ext cx="3410712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850" b="0" i="0">
                <a:solidFill>
                  <a:srgbClr val="5B6472"/>
                </a:solidFill>
                <a:latin typeface="Arial"/>
                <a:ea typeface="Arial"/>
                <a:cs typeface="Arial"/>
              </a:rPr>
              <a:t>07 / 23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38160" y="292608"/>
            <a:ext cx="3410712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750" b="0" i="0" spc="150">
                <a:solidFill>
                  <a:srgbClr val="5B6472"/>
                </a:solidFill>
                <a:latin typeface="Arial"/>
                <a:ea typeface="Arial"/>
                <a:cs typeface="Arial"/>
              </a:rPr>
              <a:t>CONFIDENTIAL DRAFT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057400"/>
            <a:ext cx="5486400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1A1F26"/>
                </a:solidFill>
                <a:latin typeface="Yu Gothic UI"/>
                <a:ea typeface="Yu Gothic UI"/>
                <a:cs typeface="Yu Gothic UI"/>
              </a:rPr>
              <a:t>Adctorは、企業・メディア・専門DB・会員制サイトが保有するコンテンツを、AIクローラー・RAG・MCP事業者が</a:t>
            </a:r>
            <a:r>
              <a:rPr sz="1200" b="1" i="0">
                <a:solidFill>
                  <a:srgbClr val="2A63C7"/>
                </a:solidFill>
                <a:latin typeface="Yu Gothic UI"/>
                <a:ea typeface="Yu Gothic UI"/>
                <a:cs typeface="Yu Gothic UI"/>
              </a:rPr>
              <a:t>正規に利用するための基盤</a:t>
            </a:r>
            <a:r>
              <a:rPr sz="1200" b="0" i="0">
                <a:solidFill>
                  <a:srgbClr val="1A1F26"/>
                </a:solidFill>
                <a:latin typeface="Yu Gothic UI"/>
                <a:ea typeface="Yu Gothic UI"/>
                <a:cs typeface="Yu Gothic UI"/>
              </a:rPr>
              <a:t>を目指します。重要なのは「止めること」ではなく、以下をつなぐことです。</a:t>
            </a:r>
            <a:r>
              <a:rPr sz="1150" b="1" i="0">
                <a:solidFill>
                  <a:srgbClr val="C5A059"/>
                </a:solidFill>
                <a:latin typeface="Arial"/>
                <a:ea typeface="Arial"/>
                <a:cs typeface="Arial"/>
              </a:rPr>
              <a:t>▪ </a:t>
            </a:r>
            <a:r>
              <a:rPr sz="1150" b="0" i="0">
                <a:solidFill>
                  <a:srgbClr val="1A1F26"/>
                </a:solidFill>
                <a:latin typeface="Yu Gothic UI"/>
                <a:ea typeface="Yu Gothic UI"/>
                <a:cs typeface="Yu Gothic UI"/>
              </a:rPr>
              <a:t>コンテンツ所有者 と AI / RAG / MCP事業者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 i="0">
                <a:solidFill>
                  <a:srgbClr val="C5A059"/>
                </a:solidFill>
                <a:latin typeface="Arial"/>
                <a:ea typeface="Arial"/>
                <a:cs typeface="Arial"/>
              </a:rPr>
              <a:t>▪ </a:t>
            </a:r>
            <a:r>
              <a:rPr sz="1150" b="0" i="0">
                <a:solidFill>
                  <a:srgbClr val="1A1F26"/>
                </a:solidFill>
                <a:latin typeface="Yu Gothic UI"/>
                <a:ea typeface="Yu Gothic UI"/>
                <a:cs typeface="Yu Gothic UI"/>
              </a:rPr>
              <a:t>契約条件・APIキー / 署名付きアクセス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 i="0">
                <a:solidFill>
                  <a:srgbClr val="C5A059"/>
                </a:solidFill>
                <a:latin typeface="Arial"/>
                <a:ea typeface="Arial"/>
                <a:cs typeface="Arial"/>
              </a:rPr>
              <a:t>▪ </a:t>
            </a:r>
            <a:r>
              <a:rPr sz="1150" b="0" i="0">
                <a:solidFill>
                  <a:srgbClr val="1A1F26"/>
                </a:solidFill>
                <a:latin typeface="Yu Gothic UI"/>
                <a:ea typeface="Yu Gothic UI"/>
                <a:cs typeface="Yu Gothic UI"/>
              </a:rPr>
              <a:t>利用ログ・請求・将来分配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 i="0">
                <a:solidFill>
                  <a:srgbClr val="C5A059"/>
                </a:solidFill>
                <a:latin typeface="Arial"/>
                <a:ea typeface="Arial"/>
                <a:cs typeface="Arial"/>
              </a:rPr>
              <a:t>▪ </a:t>
            </a:r>
            <a:r>
              <a:rPr sz="1150" b="0" i="0">
                <a:solidFill>
                  <a:srgbClr val="1A1F26"/>
                </a:solidFill>
                <a:latin typeface="Yu Gothic UI"/>
                <a:ea typeface="Yu Gothic UI"/>
                <a:cs typeface="Yu Gothic UI"/>
              </a:rPr>
              <a:t>監査ログ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0" y="2011680"/>
            <a:ext cx="5120640" cy="3931920"/>
          </a:xfrm>
          <a:prstGeom prst="roundRect">
            <a:avLst>
              <a:gd name="adj" fmla="val 6000"/>
            </a:avLst>
          </a:prstGeom>
          <a:solidFill>
            <a:srgbClr val="143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286000"/>
            <a:ext cx="4572000" cy="3566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200" b="1" i="0">
                <a:solidFill>
                  <a:srgbClr val="C5A059"/>
                </a:solidFill>
                <a:latin typeface="Yu Gothic UI"/>
                <a:ea typeface="Yu Gothic UI"/>
                <a:cs typeface="Yu Gothic UI"/>
              </a:rPr>
              <a:t>Adctorが目指す状態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1" i="0">
                <a:solidFill>
                  <a:srgbClr val="C5A059"/>
                </a:solidFill>
                <a:latin typeface="Arial"/>
                <a:ea typeface="Arial"/>
                <a:cs typeface="Arial"/>
              </a:rPr>
              <a:t>→ </a:t>
            </a:r>
            <a:r>
              <a:rPr sz="1400" b="1" i="0">
                <a:solidFill>
                  <a:srgbClr val="FFFFFF"/>
                </a:solidFill>
                <a:latin typeface="Yu Gothic UI"/>
                <a:ea typeface="Yu Gothic UI"/>
                <a:cs typeface="Yu Gothic UI"/>
              </a:rPr>
              <a:t>誰のコンテンツを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1" i="0">
                <a:solidFill>
                  <a:srgbClr val="C5A059"/>
                </a:solidFill>
                <a:latin typeface="Arial"/>
                <a:ea typeface="Arial"/>
                <a:cs typeface="Arial"/>
              </a:rPr>
              <a:t>→ </a:t>
            </a:r>
            <a:r>
              <a:rPr sz="1400" b="1" i="0">
                <a:solidFill>
                  <a:srgbClr val="FFFFFF"/>
                </a:solidFill>
                <a:latin typeface="Yu Gothic UI"/>
                <a:ea typeface="Yu Gothic UI"/>
                <a:cs typeface="Yu Gothic UI"/>
              </a:rPr>
              <a:t>どのAI事業者が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1" i="0">
                <a:solidFill>
                  <a:srgbClr val="C5A059"/>
                </a:solidFill>
                <a:latin typeface="Arial"/>
                <a:ea typeface="Arial"/>
                <a:cs typeface="Arial"/>
              </a:rPr>
              <a:t>→ </a:t>
            </a:r>
            <a:r>
              <a:rPr sz="1400" b="1" i="0">
                <a:solidFill>
                  <a:srgbClr val="FFFFFF"/>
                </a:solidFill>
                <a:latin typeface="Yu Gothic UI"/>
                <a:ea typeface="Yu Gothic UI"/>
                <a:cs typeface="Yu Gothic UI"/>
              </a:rPr>
              <a:t>どの契約条件で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1" i="0">
                <a:solidFill>
                  <a:srgbClr val="C5A059"/>
                </a:solidFill>
                <a:latin typeface="Arial"/>
                <a:ea typeface="Arial"/>
                <a:cs typeface="Arial"/>
              </a:rPr>
              <a:t>→ </a:t>
            </a:r>
            <a:r>
              <a:rPr sz="1400" b="1" i="0">
                <a:solidFill>
                  <a:srgbClr val="FFFFFF"/>
                </a:solidFill>
                <a:latin typeface="Yu Gothic UI"/>
                <a:ea typeface="Yu Gothic UI"/>
                <a:cs typeface="Yu Gothic UI"/>
              </a:rPr>
              <a:t>どれだけ使い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1" i="0">
                <a:solidFill>
                  <a:srgbClr val="C5A059"/>
                </a:solidFill>
                <a:latin typeface="Arial"/>
                <a:ea typeface="Arial"/>
                <a:cs typeface="Arial"/>
              </a:rPr>
              <a:t>→ </a:t>
            </a:r>
            <a:r>
              <a:rPr sz="1400" b="1" i="0">
                <a:solidFill>
                  <a:srgbClr val="FFFFFF"/>
                </a:solidFill>
                <a:latin typeface="Yu Gothic UI"/>
                <a:ea typeface="Yu Gothic UI"/>
                <a:cs typeface="Yu Gothic UI"/>
              </a:rPr>
              <a:t>いくら請求・分配するか</a:t>
            </a:r>
          </a:p>
          <a:p>
            <a:pPr algn="l">
              <a:lnSpc>
                <a:spcPct val="120000"/>
              </a:lnSpc>
              <a:spcBef>
                <a:spcPts val="600"/>
              </a:spcBef>
              <a:spcAft>
                <a:spcPts val="400"/>
              </a:spcAft>
            </a:pPr>
            <a:r>
              <a:rPr sz="1100" b="0" i="0">
                <a:solidFill>
                  <a:srgbClr val="C8D6EC"/>
                </a:solidFill>
                <a:latin typeface="Yu Gothic UI"/>
                <a:ea typeface="Yu Gothic UI"/>
                <a:cs typeface="Yu Gothic UI"/>
              </a:rPr>
              <a:t>を管理できる状態にします。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7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 i="0" spc="220">
                <a:solidFill>
                  <a:srgbClr val="2A63C7"/>
                </a:solidFill>
                <a:latin typeface="Arial"/>
                <a:ea typeface="Arial"/>
                <a:cs typeface="Arial"/>
              </a:rPr>
              <a:t>07 — HACKⅡ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49808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4356B"/>
                </a:solidFill>
                <a:latin typeface="Yu Gothic UI"/>
                <a:ea typeface="Yu Gothic UI"/>
                <a:cs typeface="Yu Gothic UI"/>
              </a:rPr>
              <a:t>HackⅡ AI Search Monitor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81328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B6472"/>
                </a:solidFill>
                <a:latin typeface="Yu Gothic UI"/>
                <a:ea typeface="Yu Gothic UI"/>
                <a:cs typeface="Yu Gothic UI"/>
              </a:rPr>
              <a:t>AI検索上で「自社が候補に入っているか」を可視化するAI検索測定サービスです。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6446520"/>
            <a:ext cx="10908792" cy="0"/>
          </a:xfrm>
          <a:prstGeom prst="bentConnector3">
            <a:avLst/>
          </a:prstGeom>
          <a:ln w="9525">
            <a:solidFill>
              <a:srgbClr val="DDE1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6" name="Picture 5" descr="logo_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510528"/>
            <a:ext cx="199505" cy="21945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32688" y="6492240"/>
            <a:ext cx="45720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 i="0">
                <a:solidFill>
                  <a:srgbClr val="5B6472"/>
                </a:solidFill>
                <a:latin typeface="Yu Gothic UI"/>
                <a:ea typeface="Yu Gothic UI"/>
                <a:cs typeface="Yu Gothic UI"/>
              </a:rPr>
              <a:t>Trillion Bank  ｜  Company Profile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38160" y="6492240"/>
            <a:ext cx="3410712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850" b="0" i="0">
                <a:solidFill>
                  <a:srgbClr val="5B6472"/>
                </a:solidFill>
                <a:latin typeface="Arial"/>
                <a:ea typeface="Arial"/>
                <a:cs typeface="Arial"/>
              </a:rPr>
              <a:t>08 / 23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38160" y="292608"/>
            <a:ext cx="3410712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750" b="0" i="0" spc="150">
                <a:solidFill>
                  <a:srgbClr val="5B6472"/>
                </a:solidFill>
                <a:latin typeface="Arial"/>
                <a:ea typeface="Arial"/>
                <a:cs typeface="Arial"/>
              </a:rPr>
              <a:t>CONFIDENTIAL DRAFT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40080" y="2057400"/>
          <a:ext cx="5669279" cy="277977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154326"/>
                <a:gridCol w="3514953"/>
              </a:tblGrid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050" b="1" i="0">
                          <a:solidFill>
                            <a:srgbClr val="FFFFFF"/>
                          </a:solidFill>
                          <a:latin typeface="Yu Gothic UI"/>
                          <a:ea typeface="Yu Gothic UI"/>
                          <a:cs typeface="Yu Gothic UI"/>
                        </a:rPr>
                        <a:t>測定項目</a:t>
                      </a:r>
                    </a:p>
                  </a:txBody>
                  <a:tcPr marL="82296" marR="54864" marT="27432" marB="27432" anchor="ctr">
                    <a:solidFill>
                      <a:srgbClr val="1435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 i="0">
                          <a:solidFill>
                            <a:srgbClr val="FFFFFF"/>
                          </a:solidFill>
                          <a:latin typeface="Yu Gothic UI"/>
                          <a:ea typeface="Yu Gothic UI"/>
                          <a:cs typeface="Yu Gothic UI"/>
                        </a:rPr>
                        <a:t>内容</a:t>
                      </a:r>
                    </a:p>
                  </a:txBody>
                  <a:tcPr marL="82296" marR="54864" marT="27432" marB="27432" anchor="ctr">
                    <a:solidFill>
                      <a:srgbClr val="14356B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1050" b="1" i="0">
                          <a:solidFill>
                            <a:srgbClr val="14356B"/>
                          </a:solidFill>
                          <a:latin typeface="Yu Gothic UI"/>
                          <a:ea typeface="Yu Gothic UI"/>
                          <a:cs typeface="Yu Gothic UI"/>
                        </a:rPr>
                        <a:t>AI検索出現率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 i="0">
                          <a:solidFill>
                            <a:srgbClr val="1A1F26"/>
                          </a:solidFill>
                          <a:latin typeface="Yu Gothic UI"/>
                          <a:ea typeface="Yu Gothic UI"/>
                          <a:cs typeface="Yu Gothic UI"/>
                        </a:rPr>
                        <a:t>指定キーワードで自社がAI回答に出るか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1050" b="1" i="0">
                          <a:solidFill>
                            <a:srgbClr val="14356B"/>
                          </a:solidFill>
                          <a:latin typeface="Yu Gothic UI"/>
                          <a:ea typeface="Yu Gothic UI"/>
                          <a:cs typeface="Yu Gothic UI"/>
                        </a:rPr>
                        <a:t>競合出現率</a:t>
                      </a:r>
                    </a:p>
                  </a:txBody>
                  <a:tcPr marL="82296" marR="54864" marT="18288" marB="18288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 i="0">
                          <a:solidFill>
                            <a:srgbClr val="1A1F26"/>
                          </a:solidFill>
                          <a:latin typeface="Yu Gothic UI"/>
                          <a:ea typeface="Yu Gothic UI"/>
                          <a:cs typeface="Yu Gothic UI"/>
                        </a:rPr>
                        <a:t>競合がどの質問で推薦されているか</a:t>
                      </a:r>
                    </a:p>
                  </a:txBody>
                  <a:tcPr marL="82296" marR="54864" marT="18288" marB="18288" anchor="ctr">
                    <a:solidFill>
                      <a:srgbClr val="F4F6F9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1050" b="1" i="0">
                          <a:solidFill>
                            <a:srgbClr val="14356B"/>
                          </a:solidFill>
                          <a:latin typeface="Yu Gothic UI"/>
                          <a:ea typeface="Yu Gothic UI"/>
                          <a:cs typeface="Yu Gothic UI"/>
                        </a:rPr>
                        <a:t>引用URL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 i="0">
                          <a:solidFill>
                            <a:srgbClr val="1A1F26"/>
                          </a:solidFill>
                          <a:latin typeface="Yu Gothic UI"/>
                          <a:ea typeface="Yu Gothic UI"/>
                          <a:cs typeface="Yu Gothic UI"/>
                        </a:rPr>
                        <a:t>AI回答に参照・引用されたページ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1050" b="1" i="0">
                          <a:solidFill>
                            <a:srgbClr val="14356B"/>
                          </a:solidFill>
                          <a:latin typeface="Yu Gothic UI"/>
                          <a:ea typeface="Yu Gothic UI"/>
                          <a:cs typeface="Yu Gothic UI"/>
                        </a:rPr>
                        <a:t>回答内容</a:t>
                      </a:r>
                    </a:p>
                  </a:txBody>
                  <a:tcPr marL="82296" marR="54864" marT="18288" marB="18288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 i="0">
                          <a:solidFill>
                            <a:srgbClr val="1A1F26"/>
                          </a:solidFill>
                          <a:latin typeface="Yu Gothic UI"/>
                          <a:ea typeface="Yu Gothic UI"/>
                          <a:cs typeface="Yu Gothic UI"/>
                        </a:rPr>
                        <a:t>AIが自社をどう説明しているか</a:t>
                      </a:r>
                    </a:p>
                  </a:txBody>
                  <a:tcPr marL="82296" marR="54864" marT="18288" marB="18288" anchor="ctr">
                    <a:solidFill>
                      <a:srgbClr val="F4F6F9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1050" b="1" i="0">
                          <a:solidFill>
                            <a:srgbClr val="14356B"/>
                          </a:solidFill>
                          <a:latin typeface="Yu Gothic UI"/>
                          <a:ea typeface="Yu Gothic UI"/>
                          <a:cs typeface="Yu Gothic UI"/>
                        </a:rPr>
                        <a:t>誤情報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 i="0">
                          <a:solidFill>
                            <a:srgbClr val="1A1F26"/>
                          </a:solidFill>
                          <a:latin typeface="Yu Gothic UI"/>
                          <a:ea typeface="Yu Gothic UI"/>
                          <a:cs typeface="Yu Gothic UI"/>
                        </a:rPr>
                        <a:t>古い情報・間違った説明・不利な表現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1050" b="1" i="0">
                          <a:solidFill>
                            <a:srgbClr val="14356B"/>
                          </a:solidFill>
                          <a:latin typeface="Yu Gothic UI"/>
                          <a:ea typeface="Yu Gothic UI"/>
                          <a:cs typeface="Yu Gothic UI"/>
                        </a:rPr>
                        <a:t>改善優先度</a:t>
                      </a:r>
                    </a:p>
                  </a:txBody>
                  <a:tcPr marL="82296" marR="54864" marT="18288" marB="18288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 i="0">
                          <a:solidFill>
                            <a:srgbClr val="1A1F26"/>
                          </a:solidFill>
                          <a:latin typeface="Yu Gothic UI"/>
                          <a:ea typeface="Yu Gothic UI"/>
                          <a:cs typeface="Yu Gothic UI"/>
                        </a:rPr>
                        <a:t>FAQ・料金・比較・事例ページなどの不足</a:t>
                      </a:r>
                    </a:p>
                  </a:txBody>
                  <a:tcPr marL="82296" marR="54864" marT="18288" marB="18288" anchor="ctr"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6537960" y="2057400"/>
            <a:ext cx="4983480" cy="1920240"/>
          </a:xfrm>
          <a:prstGeom prst="roundRect">
            <a:avLst>
              <a:gd name="adj" fmla="val 8000"/>
            </a:avLst>
          </a:prstGeom>
          <a:solidFill>
            <a:srgbClr val="EE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12280" y="2240280"/>
            <a:ext cx="4480560" cy="1645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50" b="1" i="0">
                <a:solidFill>
                  <a:srgbClr val="2A63C7"/>
                </a:solidFill>
                <a:latin typeface="Yu Gothic UI"/>
                <a:ea typeface="Yu Gothic UI"/>
                <a:cs typeface="Yu Gothic UI"/>
              </a:rPr>
              <a:t>顧客向けパンチライン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14356B"/>
                </a:solidFill>
                <a:latin typeface="Yu Gothic UI"/>
                <a:ea typeface="Yu Gothic UI"/>
                <a:cs typeface="Yu Gothic UI"/>
              </a:rPr>
              <a:t>「AI検索で、御社は候補に入っていますか？」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37960" y="4114800"/>
            <a:ext cx="4983480" cy="187451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12280" y="4297680"/>
            <a:ext cx="448056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050" b="1" i="0">
                <a:solidFill>
                  <a:srgbClr val="C5A059"/>
                </a:solidFill>
                <a:latin typeface="Yu Gothic UI"/>
                <a:ea typeface="Yu Gothic UI"/>
                <a:cs typeface="Yu Gothic UI"/>
              </a:rPr>
              <a:t>営業上の位置づけ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1A1F26"/>
                </a:solidFill>
                <a:latin typeface="Yu Gothic UI"/>
                <a:ea typeface="Yu Gothic UI"/>
                <a:cs typeface="Yu Gothic UI"/>
              </a:rPr>
              <a:t>「AI検索を測れるツール」ではなく、商談前に競合へ流れている比較検討接点を可視化する“経営情報”として提供します。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5806440"/>
            <a:ext cx="5669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5B6472"/>
                </a:solidFill>
                <a:latin typeface="Yu Gothic UI"/>
                <a:ea typeface="Yu Gothic UI"/>
                <a:cs typeface="Yu Gothic UI"/>
              </a:rPr>
              <a:t>対応AIは、契約時点で実装済みのものを明示します。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7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 i="0" spc="220">
                <a:solidFill>
                  <a:srgbClr val="2A63C7"/>
                </a:solidFill>
                <a:latin typeface="Arial"/>
                <a:ea typeface="Arial"/>
                <a:cs typeface="Arial"/>
              </a:rPr>
              <a:t>08 — HACKⅡ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49808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4356B"/>
                </a:solidFill>
                <a:latin typeface="Yu Gothic UI"/>
                <a:ea typeface="Yu Gothic UI"/>
                <a:cs typeface="Yu Gothic UI"/>
              </a:rPr>
              <a:t>HackⅡが解決する課題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81328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B6472"/>
                </a:solidFill>
                <a:latin typeface="Yu Gothic UI"/>
                <a:ea typeface="Yu Gothic UI"/>
                <a:cs typeface="Yu Gothic UI"/>
              </a:rPr>
              <a:t>知りたいのは「測れること」ではなく、商談前に候補から外れていないか。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6446520"/>
            <a:ext cx="10908792" cy="0"/>
          </a:xfrm>
          <a:prstGeom prst="bentConnector3">
            <a:avLst/>
          </a:prstGeom>
          <a:ln w="9525">
            <a:solidFill>
              <a:srgbClr val="DDE1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6" name="Picture 5" descr="logo_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510528"/>
            <a:ext cx="199505" cy="21945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32688" y="6492240"/>
            <a:ext cx="45720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 i="0">
                <a:solidFill>
                  <a:srgbClr val="5B6472"/>
                </a:solidFill>
                <a:latin typeface="Yu Gothic UI"/>
                <a:ea typeface="Yu Gothic UI"/>
                <a:cs typeface="Yu Gothic UI"/>
              </a:rPr>
              <a:t>Trillion Bank  ｜  Company Profile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38160" y="6492240"/>
            <a:ext cx="3410712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850" b="0" i="0">
                <a:solidFill>
                  <a:srgbClr val="5B6472"/>
                </a:solidFill>
                <a:latin typeface="Arial"/>
                <a:ea typeface="Arial"/>
                <a:cs typeface="Arial"/>
              </a:rPr>
              <a:t>09 / 23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38160" y="292608"/>
            <a:ext cx="3410712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750" b="0" i="0" spc="150">
                <a:solidFill>
                  <a:srgbClr val="5B6472"/>
                </a:solidFill>
                <a:latin typeface="Arial"/>
                <a:ea typeface="Arial"/>
                <a:cs typeface="Arial"/>
              </a:rPr>
              <a:t>CONFIDENTIAL DRAFT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40080" y="2103120"/>
          <a:ext cx="10881360" cy="24688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5440680"/>
                <a:gridCol w="5440680"/>
              </a:tblGrid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050" b="1" i="0">
                          <a:solidFill>
                            <a:srgbClr val="FFFFFF"/>
                          </a:solidFill>
                          <a:latin typeface="Yu Gothic UI"/>
                          <a:ea typeface="Yu Gothic UI"/>
                          <a:cs typeface="Yu Gothic UI"/>
                        </a:rPr>
                        <a:t>経営者の問い</a:t>
                      </a:r>
                    </a:p>
                  </a:txBody>
                  <a:tcPr marL="82296" marR="54864" marT="27432" marB="27432" anchor="ctr">
                    <a:solidFill>
                      <a:srgbClr val="1435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 i="0">
                          <a:solidFill>
                            <a:srgbClr val="FFFFFF"/>
                          </a:solidFill>
                          <a:latin typeface="Yu Gothic UI"/>
                          <a:ea typeface="Yu Gothic UI"/>
                          <a:cs typeface="Yu Gothic UI"/>
                        </a:rPr>
                        <a:t>HackⅡで見えること</a:t>
                      </a:r>
                    </a:p>
                  </a:txBody>
                  <a:tcPr marL="82296" marR="54864" marT="27432" marB="27432" anchor="ctr">
                    <a:solidFill>
                      <a:srgbClr val="14356B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150" b="1" i="0">
                          <a:solidFill>
                            <a:srgbClr val="14356B"/>
                          </a:solidFill>
                          <a:latin typeface="Yu Gothic UI"/>
                          <a:ea typeface="Yu Gothic UI"/>
                          <a:cs typeface="Yu Gothic UI"/>
                        </a:rPr>
                        <a:t>自社はAI検索で候補に入っているか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1A1F26"/>
                          </a:solidFill>
                          <a:latin typeface="Yu Gothic UI"/>
                          <a:ea typeface="Yu Gothic UI"/>
                          <a:cs typeface="Yu Gothic UI"/>
                        </a:rPr>
                        <a:t>指定キーワードでの出現率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150" b="1" i="0">
                          <a:solidFill>
                            <a:srgbClr val="14356B"/>
                          </a:solidFill>
                          <a:latin typeface="Yu Gothic UI"/>
                          <a:ea typeface="Yu Gothic UI"/>
                          <a:cs typeface="Yu Gothic UI"/>
                        </a:rPr>
                        <a:t>競合はどの質問で推薦されているか</a:t>
                      </a:r>
                    </a:p>
                  </a:txBody>
                  <a:tcPr marL="82296" marR="54864" marT="18288" marB="18288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1A1F26"/>
                          </a:solidFill>
                          <a:latin typeface="Yu Gothic UI"/>
                          <a:ea typeface="Yu Gothic UI"/>
                          <a:cs typeface="Yu Gothic UI"/>
                        </a:rPr>
                        <a:t>競合別・キーワード別の表示状況</a:t>
                      </a:r>
                    </a:p>
                  </a:txBody>
                  <a:tcPr marL="82296" marR="54864" marT="18288" marB="18288" anchor="ctr">
                    <a:solidFill>
                      <a:srgbClr val="F4F6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150" b="1" i="0">
                          <a:solidFill>
                            <a:srgbClr val="14356B"/>
                          </a:solidFill>
                          <a:latin typeface="Yu Gothic UI"/>
                          <a:ea typeface="Yu Gothic UI"/>
                          <a:cs typeface="Yu Gothic UI"/>
                        </a:rPr>
                        <a:t>AIは自社を正しく説明しているか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1A1F26"/>
                          </a:solidFill>
                          <a:latin typeface="Yu Gothic UI"/>
                          <a:ea typeface="Yu Gothic UI"/>
                          <a:cs typeface="Yu Gothic UI"/>
                        </a:rPr>
                        <a:t>回答内容・誤情報・不足情報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150" b="1" i="0">
                          <a:solidFill>
                            <a:srgbClr val="14356B"/>
                          </a:solidFill>
                          <a:latin typeface="Yu Gothic UI"/>
                          <a:ea typeface="Yu Gothic UI"/>
                          <a:cs typeface="Yu Gothic UI"/>
                        </a:rPr>
                        <a:t>何を直せば候補入りできるか</a:t>
                      </a:r>
                    </a:p>
                  </a:txBody>
                  <a:tcPr marL="82296" marR="54864" marT="18288" marB="18288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1A1F26"/>
                          </a:solidFill>
                          <a:latin typeface="Yu Gothic UI"/>
                          <a:ea typeface="Yu Gothic UI"/>
                          <a:cs typeface="Yu Gothic UI"/>
                        </a:rPr>
                        <a:t>FAQ・料金・比較・事例・専門情報の改善優先度</a:t>
                      </a:r>
                    </a:p>
                  </a:txBody>
                  <a:tcPr marL="82296" marR="54864" marT="18288" marB="18288" anchor="ctr">
                    <a:solidFill>
                      <a:srgbClr val="F4F6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150" b="1" i="0">
                          <a:solidFill>
                            <a:srgbClr val="14356B"/>
                          </a:solidFill>
                          <a:latin typeface="Yu Gothic UI"/>
                          <a:ea typeface="Yu Gothic UI"/>
                          <a:cs typeface="Yu Gothic UI"/>
                        </a:rPr>
                        <a:t>月次で改善しているか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1A1F26"/>
                          </a:solidFill>
                          <a:latin typeface="Yu Gothic UI"/>
                          <a:ea typeface="Yu Gothic UI"/>
                          <a:cs typeface="Yu Gothic UI"/>
                        </a:rPr>
                        <a:t>出現率・引用率・競合差分の推移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640080" y="5102352"/>
            <a:ext cx="54864" cy="457200"/>
          </a:xfrm>
          <a:prstGeom prst="rect">
            <a:avLst/>
          </a:prstGeom>
          <a:solidFill>
            <a:srgbClr val="C5A0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59" y="5074920"/>
            <a:ext cx="106984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14356B"/>
                </a:solidFill>
                <a:latin typeface="Yu Gothic UI"/>
                <a:ea typeface="Yu Gothic UI"/>
                <a:cs typeface="Yu Gothic UI"/>
              </a:rPr>
              <a:t>顧客はすでにAIで比較検討している。AI回答に自社が出ていなければ、商談前に候補から外れる。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7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 i="0" spc="220">
                <a:solidFill>
                  <a:srgbClr val="2A63C7"/>
                </a:solidFill>
                <a:latin typeface="Arial"/>
                <a:ea typeface="Arial"/>
                <a:cs typeface="Arial"/>
              </a:rPr>
              <a:t>09 — HACKⅡ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49808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4356B"/>
                </a:solidFill>
                <a:latin typeface="Yu Gothic UI"/>
                <a:ea typeface="Yu Gothic UI"/>
                <a:cs typeface="Yu Gothic UI"/>
              </a:rPr>
              <a:t>HackⅡの主な機能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81328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B6472"/>
                </a:solidFill>
                <a:latin typeface="Yu Gothic UI"/>
                <a:ea typeface="Yu Gothic UI"/>
                <a:cs typeface="Yu Gothic UI"/>
              </a:rPr>
              <a:t>出現・引用・競合比較・回答内容を、継続的に測定・保存・分析します。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6446520"/>
            <a:ext cx="10908792" cy="0"/>
          </a:xfrm>
          <a:prstGeom prst="bentConnector3">
            <a:avLst/>
          </a:prstGeom>
          <a:ln w="9525">
            <a:solidFill>
              <a:srgbClr val="DDE1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6" name="Picture 5" descr="logo_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510528"/>
            <a:ext cx="199505" cy="21945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32688" y="6492240"/>
            <a:ext cx="45720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 i="0">
                <a:solidFill>
                  <a:srgbClr val="5B6472"/>
                </a:solidFill>
                <a:latin typeface="Yu Gothic UI"/>
                <a:ea typeface="Yu Gothic UI"/>
                <a:cs typeface="Yu Gothic UI"/>
              </a:rPr>
              <a:t>Trillion Bank  ｜  Company Profile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38160" y="6492240"/>
            <a:ext cx="3410712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850" b="0" i="0">
                <a:solidFill>
                  <a:srgbClr val="5B6472"/>
                </a:solidFill>
                <a:latin typeface="Arial"/>
                <a:ea typeface="Arial"/>
                <a:cs typeface="Arial"/>
              </a:rPr>
              <a:t>10 / 23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38160" y="292608"/>
            <a:ext cx="3410712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750" b="0" i="0" spc="150">
                <a:solidFill>
                  <a:srgbClr val="5B6472"/>
                </a:solidFill>
                <a:latin typeface="Arial"/>
                <a:ea typeface="Arial"/>
                <a:cs typeface="Arial"/>
              </a:rPr>
              <a:t>CONFIDENTIAL DRAFT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103120"/>
            <a:ext cx="2624328" cy="14630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D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7" y="2267712"/>
            <a:ext cx="2221992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14356B"/>
                </a:solidFill>
                <a:latin typeface="Yu Gothic UI"/>
                <a:ea typeface="Yu Gothic UI"/>
                <a:cs typeface="Yu Gothic UI"/>
              </a:rPr>
              <a:t>プロジェクト管理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5B6472"/>
                </a:solidFill>
                <a:latin typeface="Yu Gothic UI"/>
                <a:ea typeface="Yu Gothic UI"/>
                <a:cs typeface="Yu Gothic UI"/>
              </a:rPr>
              <a:t>顧客・ブランド・商材単位で測定対象を管理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92424" y="2103120"/>
            <a:ext cx="2624328" cy="14630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D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93592" y="2267712"/>
            <a:ext cx="2221992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14356B"/>
                </a:solidFill>
                <a:latin typeface="Yu Gothic UI"/>
                <a:ea typeface="Yu Gothic UI"/>
                <a:cs typeface="Yu Gothic UI"/>
              </a:rPr>
              <a:t>キーワード管理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5B6472"/>
                </a:solidFill>
                <a:latin typeface="Yu Gothic UI"/>
                <a:ea typeface="Yu Gothic UI"/>
                <a:cs typeface="Yu Gothic UI"/>
              </a:rPr>
              <a:t>購買・比較・評判・料金・業界KWを登録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44768" y="2103120"/>
            <a:ext cx="2624328" cy="14630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D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45936" y="2267712"/>
            <a:ext cx="2221992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14356B"/>
                </a:solidFill>
                <a:latin typeface="Yu Gothic UI"/>
                <a:ea typeface="Yu Gothic UI"/>
                <a:cs typeface="Yu Gothic UI"/>
              </a:rPr>
              <a:t>競合管理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5B6472"/>
                </a:solidFill>
                <a:latin typeface="Yu Gothic UI"/>
                <a:ea typeface="Yu Gothic UI"/>
                <a:cs typeface="Yu Gothic UI"/>
              </a:rPr>
              <a:t>競合企業・競合サービスを登録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897112" y="2103120"/>
            <a:ext cx="2624328" cy="14630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D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098280" y="2267712"/>
            <a:ext cx="2221992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14356B"/>
                </a:solidFill>
                <a:latin typeface="Yu Gothic UI"/>
                <a:ea typeface="Yu Gothic UI"/>
                <a:cs typeface="Yu Gothic UI"/>
              </a:rPr>
              <a:t>AI検索測定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5B6472"/>
                </a:solidFill>
                <a:latin typeface="Yu Gothic UI"/>
                <a:ea typeface="Yu Gothic UI"/>
                <a:cs typeface="Yu Gothic UI"/>
              </a:rPr>
              <a:t>ChatGPT・Gemini・Perplexity等で回答取得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3712463"/>
            <a:ext cx="2624328" cy="14630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D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1247" y="3877055"/>
            <a:ext cx="2221992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14356B"/>
                </a:solidFill>
                <a:latin typeface="Yu Gothic UI"/>
                <a:ea typeface="Yu Gothic UI"/>
                <a:cs typeface="Yu Gothic UI"/>
              </a:rPr>
              <a:t>回答・引用URL保存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5B6472"/>
                </a:solidFill>
                <a:latin typeface="Yu Gothic UI"/>
                <a:ea typeface="Yu Gothic UI"/>
                <a:cs typeface="Yu Gothic UI"/>
              </a:rPr>
              <a:t>AI回答本文と引用・参照URLを保存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392424" y="3712463"/>
            <a:ext cx="2624328" cy="14630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D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93592" y="3877055"/>
            <a:ext cx="2221992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14356B"/>
                </a:solidFill>
                <a:latin typeface="Yu Gothic UI"/>
                <a:ea typeface="Yu Gothic UI"/>
                <a:cs typeface="Yu Gothic UI"/>
              </a:rPr>
              <a:t>ダッシュボード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5B6472"/>
                </a:solidFill>
                <a:latin typeface="Yu Gothic UI"/>
                <a:ea typeface="Yu Gothic UI"/>
                <a:cs typeface="Yu Gothic UI"/>
              </a:rPr>
              <a:t>出現率・競合比較・引用状況・改善優先度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44768" y="3712463"/>
            <a:ext cx="2624328" cy="14630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D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45936" y="3877055"/>
            <a:ext cx="2221992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14356B"/>
                </a:solidFill>
                <a:latin typeface="Yu Gothic UI"/>
                <a:ea typeface="Yu Gothic UI"/>
                <a:cs typeface="Yu Gothic UI"/>
              </a:rPr>
              <a:t>月次レポート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5B6472"/>
                </a:solidFill>
                <a:latin typeface="Yu Gothic UI"/>
                <a:ea typeface="Yu Gothic UI"/>
                <a:cs typeface="Yu Gothic UI"/>
              </a:rPr>
              <a:t>経営者・マーケ担当向けに改善状況を報告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897112" y="3712463"/>
            <a:ext cx="2624328" cy="14630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D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098280" y="3877055"/>
            <a:ext cx="2221992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14356B"/>
                </a:solidFill>
                <a:latin typeface="Yu Gothic UI"/>
                <a:ea typeface="Yu Gothic UI"/>
                <a:cs typeface="Yu Gothic UI"/>
              </a:rPr>
              <a:t>継続測定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5B6472"/>
                </a:solidFill>
                <a:latin typeface="Yu Gothic UI"/>
                <a:ea typeface="Yu Gothic UI"/>
                <a:cs typeface="Yu Gothic UI"/>
              </a:rPr>
              <a:t>月次で変化を確認し、次の一手へ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0080" y="5486400"/>
            <a:ext cx="10881360" cy="777240"/>
          </a:xfrm>
          <a:prstGeom prst="roundRect">
            <a:avLst>
              <a:gd name="adj" fmla="val 10000"/>
            </a:avLst>
          </a:prstGeom>
          <a:solidFill>
            <a:srgbClr val="EE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486400"/>
            <a:ext cx="1042416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C5A059"/>
                </a:solidFill>
                <a:latin typeface="Yu Gothic UI"/>
                <a:ea typeface="Yu Gothic UI"/>
                <a:cs typeface="Yu Gothic UI"/>
              </a:rPr>
              <a:t>技術構成：</a:t>
            </a:r>
            <a:r>
              <a:rPr sz="1050" b="0" i="0">
                <a:solidFill>
                  <a:srgbClr val="1A1F26"/>
                </a:solidFill>
                <a:latin typeface="Yu Gothic UI"/>
                <a:ea typeface="Yu Gothic UI"/>
                <a:cs typeface="Yu Gothic UI"/>
              </a:rPr>
              <a:t>フロント Next.js／バックエンド FastAPI／DB PostgreSQL。accounts・projects・competitors・keywords・citation_results 等を管理し、AI連携はPerplexity Sonar APIから開始。PPC側のEdge・請求系とは分離して開発します。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7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 i="0" spc="220">
                <a:solidFill>
                  <a:srgbClr val="2A63C7"/>
                </a:solidFill>
                <a:latin typeface="Arial"/>
                <a:ea typeface="Arial"/>
                <a:cs typeface="Arial"/>
              </a:rPr>
              <a:t>10 — HACKⅡ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49808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4356B"/>
                </a:solidFill>
                <a:latin typeface="Yu Gothic UI"/>
                <a:ea typeface="Yu Gothic UI"/>
                <a:cs typeface="Yu Gothic UI"/>
              </a:rPr>
              <a:t>HackⅡのビジネスモデル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81328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B6472"/>
                </a:solidFill>
                <a:latin typeface="Yu Gothic UI"/>
                <a:ea typeface="Yu Gothic UI"/>
                <a:cs typeface="Yu Gothic UI"/>
              </a:rPr>
              <a:t>SaaS + 計測運用 + 改善コンサルのハイブリッド型。本命は初期50万円＋月額30万円。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6446520"/>
            <a:ext cx="10908792" cy="0"/>
          </a:xfrm>
          <a:prstGeom prst="bentConnector3">
            <a:avLst/>
          </a:prstGeom>
          <a:ln w="9525">
            <a:solidFill>
              <a:srgbClr val="DDE1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6" name="Picture 5" descr="logo_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510528"/>
            <a:ext cx="199505" cy="21945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32688" y="6492240"/>
            <a:ext cx="45720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 i="0">
                <a:solidFill>
                  <a:srgbClr val="5B6472"/>
                </a:solidFill>
                <a:latin typeface="Yu Gothic UI"/>
                <a:ea typeface="Yu Gothic UI"/>
                <a:cs typeface="Yu Gothic UI"/>
              </a:rPr>
              <a:t>Trillion Bank  ｜  Company Profile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38160" y="6492240"/>
            <a:ext cx="3410712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850" b="0" i="0">
                <a:solidFill>
                  <a:srgbClr val="5B6472"/>
                </a:solidFill>
                <a:latin typeface="Arial"/>
                <a:ea typeface="Arial"/>
                <a:cs typeface="Arial"/>
              </a:rPr>
              <a:t>11 / 23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38160" y="292608"/>
            <a:ext cx="3410712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750" b="0" i="0" spc="150">
                <a:solidFill>
                  <a:srgbClr val="5B6472"/>
                </a:solidFill>
                <a:latin typeface="Arial"/>
                <a:ea typeface="Arial"/>
                <a:cs typeface="Arial"/>
              </a:rPr>
              <a:t>CONFIDENTIAL DRAFT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057400"/>
            <a:ext cx="1965960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D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148840"/>
            <a:ext cx="196596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200" b="1" i="0">
                <a:solidFill>
                  <a:srgbClr val="2A63C7"/>
                </a:solidFill>
                <a:latin typeface="Georgia"/>
                <a:ea typeface="Georgia"/>
                <a:cs typeface="Georgia"/>
              </a:rPr>
              <a:t>42%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761488"/>
            <a:ext cx="196596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5B6472"/>
                </a:solidFill>
                <a:latin typeface="Yu Gothic UI"/>
                <a:ea typeface="Yu Gothic UI"/>
                <a:cs typeface="Yu Gothic UI"/>
              </a:rPr>
              <a:t>AI検索出現率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697480" y="2057400"/>
            <a:ext cx="1965960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D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697480" y="2148840"/>
            <a:ext cx="196596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200" b="1" i="0">
                <a:solidFill>
                  <a:srgbClr val="E07B2E"/>
                </a:solidFill>
                <a:latin typeface="Georgia"/>
                <a:ea typeface="Georgia"/>
                <a:cs typeface="Georgia"/>
              </a:rPr>
              <a:t>68%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97480" y="2761488"/>
            <a:ext cx="196596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5B6472"/>
                </a:solidFill>
                <a:latin typeface="Yu Gothic UI"/>
                <a:ea typeface="Yu Gothic UI"/>
                <a:cs typeface="Yu Gothic UI"/>
              </a:rPr>
              <a:t>競合A出現率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754880" y="2057400"/>
            <a:ext cx="1965960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D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54880" y="2148840"/>
            <a:ext cx="196596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200" b="1" i="0">
                <a:solidFill>
                  <a:srgbClr val="14356B"/>
                </a:solidFill>
                <a:latin typeface="Georgia"/>
                <a:ea typeface="Georgia"/>
                <a:cs typeface="Georgia"/>
              </a:rPr>
              <a:t>12件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54880" y="2761488"/>
            <a:ext cx="196596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5B6472"/>
                </a:solidFill>
                <a:latin typeface="Yu Gothic UI"/>
                <a:ea typeface="Yu Gothic UI"/>
                <a:cs typeface="Yu Gothic UI"/>
              </a:rPr>
              <a:t>引用URL数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812280" y="2057400"/>
            <a:ext cx="1965960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D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12280" y="2148840"/>
            <a:ext cx="196596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200" b="1" i="0">
                <a:solidFill>
                  <a:srgbClr val="14356B"/>
                </a:solidFill>
                <a:latin typeface="Georgia"/>
                <a:ea typeface="Georgia"/>
                <a:cs typeface="Georgia"/>
              </a:rPr>
              <a:t>3件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12280" y="2761488"/>
            <a:ext cx="196596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5B6472"/>
                </a:solidFill>
                <a:latin typeface="Yu Gothic UI"/>
                <a:ea typeface="Yu Gothic UI"/>
                <a:cs typeface="Yu Gothic UI"/>
              </a:rPr>
              <a:t>誤情報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869680" y="2057400"/>
            <a:ext cx="1965960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D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869680" y="2148840"/>
            <a:ext cx="196596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200" b="1" i="0">
                <a:solidFill>
                  <a:srgbClr val="14356B"/>
                </a:solidFill>
                <a:latin typeface="Georgia"/>
                <a:ea typeface="Georgia"/>
                <a:cs typeface="Georgia"/>
              </a:rPr>
              <a:t>15件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869680" y="2761488"/>
            <a:ext cx="196596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5B6472"/>
                </a:solidFill>
                <a:latin typeface="Yu Gothic UI"/>
                <a:ea typeface="Yu Gothic UI"/>
                <a:cs typeface="Yu Gothic UI"/>
              </a:rPr>
              <a:t>改善優先KW</a:t>
            </a:r>
          </a:p>
        </p:txBody>
      </p:sp>
      <p:graphicFrame>
        <p:nvGraphicFramePr>
          <p:cNvPr id="25" name="Table 24"/>
          <p:cNvGraphicFramePr>
            <a:graphicFrameLocks noGrp="1"/>
          </p:cNvGraphicFramePr>
          <p:nvPr/>
        </p:nvGraphicFramePr>
        <p:xfrm>
          <a:off x="640080" y="3429000"/>
          <a:ext cx="10881359" cy="213969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046780"/>
                <a:gridCol w="1632204"/>
                <a:gridCol w="1632204"/>
                <a:gridCol w="4570171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 i="0">
                          <a:solidFill>
                            <a:srgbClr val="FFFFFF"/>
                          </a:solidFill>
                          <a:latin typeface="Yu Gothic UI"/>
                          <a:ea typeface="Yu Gothic UI"/>
                          <a:cs typeface="Yu Gothic UI"/>
                        </a:rPr>
                        <a:t>プラン</a:t>
                      </a:r>
                    </a:p>
                  </a:txBody>
                  <a:tcPr marL="82296" marR="54864" marT="27432" marB="27432" anchor="ctr">
                    <a:solidFill>
                      <a:srgbClr val="1435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 i="0">
                          <a:solidFill>
                            <a:srgbClr val="FFFFFF"/>
                          </a:solidFill>
                          <a:latin typeface="Yu Gothic UI"/>
                          <a:ea typeface="Yu Gothic UI"/>
                          <a:cs typeface="Yu Gothic UI"/>
                        </a:rPr>
                        <a:t>初期</a:t>
                      </a:r>
                    </a:p>
                  </a:txBody>
                  <a:tcPr marL="82296" marR="54864" marT="27432" marB="27432" anchor="ctr">
                    <a:solidFill>
                      <a:srgbClr val="1435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 i="0">
                          <a:solidFill>
                            <a:srgbClr val="FFFFFF"/>
                          </a:solidFill>
                          <a:latin typeface="Yu Gothic UI"/>
                          <a:ea typeface="Yu Gothic UI"/>
                          <a:cs typeface="Yu Gothic UI"/>
                        </a:rPr>
                        <a:t>月額</a:t>
                      </a:r>
                    </a:p>
                  </a:txBody>
                  <a:tcPr marL="82296" marR="54864" marT="27432" marB="27432" anchor="ctr">
                    <a:solidFill>
                      <a:srgbClr val="1435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 i="0">
                          <a:solidFill>
                            <a:srgbClr val="FFFFFF"/>
                          </a:solidFill>
                          <a:latin typeface="Yu Gothic UI"/>
                          <a:ea typeface="Yu Gothic UI"/>
                          <a:cs typeface="Yu Gothic UI"/>
                        </a:rPr>
                        <a:t>対象 / 内容</a:t>
                      </a:r>
                    </a:p>
                  </a:txBody>
                  <a:tcPr marL="82296" marR="54864" marT="27432" marB="27432" anchor="ctr">
                    <a:solidFill>
                      <a:srgbClr val="14356B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r>
                        <a:rPr sz="980" b="1" i="0">
                          <a:solidFill>
                            <a:srgbClr val="14356B"/>
                          </a:solidFill>
                          <a:latin typeface="Yu Gothic UI"/>
                          <a:ea typeface="Yu Gothic UI"/>
                          <a:cs typeface="Yu Gothic UI"/>
                        </a:rPr>
                        <a:t>Mini Audit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80" b="0" i="0">
                          <a:solidFill>
                            <a:srgbClr val="1A1F26"/>
                          </a:solidFill>
                          <a:latin typeface="Yu Gothic UI"/>
                          <a:ea typeface="Yu Gothic UI"/>
                          <a:cs typeface="Yu Gothic UI"/>
                        </a:rPr>
                        <a:t>10万円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80" b="0" i="0">
                          <a:solidFill>
                            <a:srgbClr val="1A1F26"/>
                          </a:solidFill>
                          <a:latin typeface="Yu Gothic UI"/>
                          <a:ea typeface="Yu Gothic UI"/>
                          <a:cs typeface="Yu Gothic UI"/>
                        </a:rPr>
                        <a:t>—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80" b="0" i="0">
                          <a:solidFill>
                            <a:srgbClr val="1A1F26"/>
                          </a:solidFill>
                          <a:latin typeface="Yu Gothic UI"/>
                          <a:ea typeface="Yu Gothic UI"/>
                          <a:cs typeface="Yu Gothic UI"/>
                        </a:rPr>
                        <a:t>初回診断：10クエリ・2AI媒体・競合1社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r>
                        <a:rPr sz="980" b="1" i="0">
                          <a:solidFill>
                            <a:srgbClr val="14356B"/>
                          </a:solidFill>
                          <a:latin typeface="Yu Gothic UI"/>
                          <a:ea typeface="Yu Gothic UI"/>
                          <a:cs typeface="Yu Gothic UI"/>
                        </a:rPr>
                        <a:t>Standard Audit</a:t>
                      </a:r>
                    </a:p>
                  </a:txBody>
                  <a:tcPr marL="82296" marR="54864" marT="18288" marB="18288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80" b="0" i="0">
                          <a:solidFill>
                            <a:srgbClr val="1A1F26"/>
                          </a:solidFill>
                          <a:latin typeface="Yu Gothic UI"/>
                          <a:ea typeface="Yu Gothic UI"/>
                          <a:cs typeface="Yu Gothic UI"/>
                        </a:rPr>
                        <a:t>50万円</a:t>
                      </a:r>
                    </a:p>
                  </a:txBody>
                  <a:tcPr marL="82296" marR="54864" marT="18288" marB="18288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80" b="0" i="0">
                          <a:solidFill>
                            <a:srgbClr val="1A1F26"/>
                          </a:solidFill>
                          <a:latin typeface="Yu Gothic UI"/>
                          <a:ea typeface="Yu Gothic UI"/>
                          <a:cs typeface="Yu Gothic UI"/>
                        </a:rPr>
                        <a:t>—</a:t>
                      </a:r>
                    </a:p>
                  </a:txBody>
                  <a:tcPr marL="82296" marR="54864" marT="18288" marB="18288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80" b="0" i="0">
                          <a:solidFill>
                            <a:srgbClr val="1A1F26"/>
                          </a:solidFill>
                          <a:latin typeface="Yu Gothic UI"/>
                          <a:ea typeface="Yu Gothic UI"/>
                          <a:cs typeface="Yu Gothic UI"/>
                        </a:rPr>
                        <a:t>本命初回診断：25〜50クエリ・4AI媒体・競合3〜5社</a:t>
                      </a:r>
                    </a:p>
                  </a:txBody>
                  <a:tcPr marL="82296" marR="54864" marT="18288" marB="18288" anchor="ctr">
                    <a:solidFill>
                      <a:srgbClr val="F4F6F9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r>
                        <a:rPr sz="980" b="1" i="0">
                          <a:solidFill>
                            <a:srgbClr val="14356B"/>
                          </a:solidFill>
                          <a:latin typeface="Yu Gothic UI"/>
                          <a:ea typeface="Yu Gothic UI"/>
                          <a:cs typeface="Yu Gothic UI"/>
                        </a:rPr>
                        <a:t>HackⅡ Managed Monitor ★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80" b="0" i="0">
                          <a:solidFill>
                            <a:srgbClr val="1A1F26"/>
                          </a:solidFill>
                          <a:latin typeface="Yu Gothic UI"/>
                          <a:ea typeface="Yu Gothic UI"/>
                          <a:cs typeface="Yu Gothic UI"/>
                        </a:rPr>
                        <a:t>50万円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80" b="0" i="0">
                          <a:solidFill>
                            <a:srgbClr val="1A1F26"/>
                          </a:solidFill>
                          <a:latin typeface="Yu Gothic UI"/>
                          <a:ea typeface="Yu Gothic UI"/>
                          <a:cs typeface="Yu Gothic UI"/>
                        </a:rPr>
                        <a:t>30万円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80" b="0" i="0">
                          <a:solidFill>
                            <a:srgbClr val="1A1F26"/>
                          </a:solidFill>
                          <a:latin typeface="Yu Gothic UI"/>
                          <a:ea typeface="Yu Gothic UI"/>
                          <a:cs typeface="Yu Gothic UI"/>
                        </a:rPr>
                        <a:t>本命：月次測定・改善優先度・月1回定例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r>
                        <a:rPr sz="980" b="1" i="0">
                          <a:solidFill>
                            <a:srgbClr val="14356B"/>
                          </a:solidFill>
                          <a:latin typeface="Yu Gothic UI"/>
                          <a:ea typeface="Yu Gothic UI"/>
                          <a:cs typeface="Yu Gothic UI"/>
                        </a:rPr>
                        <a:t>Growth Monitor</a:t>
                      </a:r>
                    </a:p>
                  </a:txBody>
                  <a:tcPr marL="82296" marR="54864" marT="18288" marB="18288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80" b="0" i="0">
                          <a:solidFill>
                            <a:srgbClr val="1A1F26"/>
                          </a:solidFill>
                          <a:latin typeface="Yu Gothic UI"/>
                          <a:ea typeface="Yu Gothic UI"/>
                          <a:cs typeface="Yu Gothic UI"/>
                        </a:rPr>
                        <a:t>50〜100万円</a:t>
                      </a:r>
                    </a:p>
                  </a:txBody>
                  <a:tcPr marL="82296" marR="54864" marT="18288" marB="18288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80" b="0" i="0">
                          <a:solidFill>
                            <a:srgbClr val="1A1F26"/>
                          </a:solidFill>
                          <a:latin typeface="Yu Gothic UI"/>
                          <a:ea typeface="Yu Gothic UI"/>
                          <a:cs typeface="Yu Gothic UI"/>
                        </a:rPr>
                        <a:t>40〜60万円</a:t>
                      </a:r>
                    </a:p>
                  </a:txBody>
                  <a:tcPr marL="82296" marR="54864" marT="18288" marB="18288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80" b="0" i="0">
                          <a:solidFill>
                            <a:srgbClr val="1A1F26"/>
                          </a:solidFill>
                          <a:latin typeface="Yu Gothic UI"/>
                          <a:ea typeface="Yu Gothic UI"/>
                          <a:cs typeface="Yu Gothic UI"/>
                        </a:rPr>
                        <a:t>高単価業界：100クエリ・月2回測定</a:t>
                      </a:r>
                    </a:p>
                  </a:txBody>
                  <a:tcPr marL="82296" marR="54864" marT="18288" marB="18288" anchor="ctr">
                    <a:solidFill>
                      <a:srgbClr val="F4F6F9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r>
                        <a:rPr sz="980" b="1" i="0">
                          <a:solidFill>
                            <a:srgbClr val="14356B"/>
                          </a:solidFill>
                          <a:latin typeface="Yu Gothic UI"/>
                          <a:ea typeface="Yu Gothic UI"/>
                          <a:cs typeface="Yu Gothic UI"/>
                        </a:rPr>
                        <a:t>Enterprise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80" b="0" i="0">
                          <a:solidFill>
                            <a:srgbClr val="1A1F26"/>
                          </a:solidFill>
                          <a:latin typeface="Yu Gothic UI"/>
                          <a:ea typeface="Yu Gothic UI"/>
                          <a:cs typeface="Yu Gothic UI"/>
                        </a:rPr>
                        <a:t>100〜300万円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80" b="0" i="0">
                          <a:solidFill>
                            <a:srgbClr val="1A1F26"/>
                          </a:solidFill>
                          <a:latin typeface="Yu Gothic UI"/>
                          <a:ea typeface="Yu Gothic UI"/>
                          <a:cs typeface="Yu Gothic UI"/>
                        </a:rPr>
                        <a:t>80〜150万円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80" b="0" i="0">
                          <a:solidFill>
                            <a:srgbClr val="1A1F26"/>
                          </a:solidFill>
                          <a:latin typeface="Yu Gothic UI"/>
                          <a:ea typeface="Yu Gothic UI"/>
                          <a:cs typeface="Yu Gothic UI"/>
                        </a:rPr>
                        <a:t>複数ブランド・部門別・API/CSV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r>
                        <a:rPr sz="980" b="1" i="0">
                          <a:solidFill>
                            <a:srgbClr val="14356B"/>
                          </a:solidFill>
                          <a:latin typeface="Yu Gothic UI"/>
                          <a:ea typeface="Yu Gothic UI"/>
                          <a:cs typeface="Yu Gothic UI"/>
                        </a:rPr>
                        <a:t>Agency White Label</a:t>
                      </a:r>
                    </a:p>
                  </a:txBody>
                  <a:tcPr marL="82296" marR="54864" marT="18288" marB="18288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80" b="0" i="0">
                          <a:solidFill>
                            <a:srgbClr val="1A1F26"/>
                          </a:solidFill>
                          <a:latin typeface="Yu Gothic UI"/>
                          <a:ea typeface="Yu Gothic UI"/>
                          <a:cs typeface="Yu Gothic UI"/>
                        </a:rPr>
                        <a:t>30万円〜</a:t>
                      </a:r>
                    </a:p>
                  </a:txBody>
                  <a:tcPr marL="82296" marR="54864" marT="18288" marB="18288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80" b="0" i="0">
                          <a:solidFill>
                            <a:srgbClr val="1A1F26"/>
                          </a:solidFill>
                          <a:latin typeface="Yu Gothic UI"/>
                          <a:ea typeface="Yu Gothic UI"/>
                          <a:cs typeface="Yu Gothic UI"/>
                        </a:rPr>
                        <a:t>10〜20万円/顧客</a:t>
                      </a:r>
                    </a:p>
                  </a:txBody>
                  <a:tcPr marL="82296" marR="54864" marT="18288" marB="18288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80" b="0" i="0">
                          <a:solidFill>
                            <a:srgbClr val="1A1F26"/>
                          </a:solidFill>
                          <a:latin typeface="Yu Gothic UI"/>
                          <a:ea typeface="Yu Gothic UI"/>
                          <a:cs typeface="Yu Gothic UI"/>
                        </a:rPr>
                        <a:t>代理店向け再販プラン</a:t>
                      </a:r>
                    </a:p>
                  </a:txBody>
                  <a:tcPr marL="82296" marR="54864" marT="18288" marB="18288" anchor="ctr"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26" name="TextBox 25"/>
          <p:cNvSpPr txBox="1"/>
          <p:nvPr/>
        </p:nvSpPr>
        <p:spPr>
          <a:xfrm>
            <a:off x="640080" y="6035040"/>
            <a:ext cx="108813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5B6472"/>
                </a:solidFill>
                <a:latin typeface="Yu Gothic UI"/>
                <a:ea typeface="Yu Gothic UI"/>
                <a:cs typeface="Yu Gothic UI"/>
              </a:rPr>
              <a:t>※ 価格はすべて税別・仮価格（要確認）。低価格セルフサーブSaaSでは提供しません。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7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 i="0" spc="220">
                <a:solidFill>
                  <a:srgbClr val="2A63C7"/>
                </a:solidFill>
                <a:latin typeface="Arial"/>
                <a:ea typeface="Arial"/>
                <a:cs typeface="Arial"/>
              </a:rPr>
              <a:t>11 — PPC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49808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4356B"/>
                </a:solidFill>
                <a:latin typeface="Yu Gothic UI"/>
                <a:ea typeface="Yu Gothic UI"/>
                <a:cs typeface="Yu Gothic UI"/>
              </a:rPr>
              <a:t>PPC / AI Access Gateway とは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81328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B6472"/>
                </a:solidFill>
                <a:latin typeface="Yu Gothic UI"/>
                <a:ea typeface="Yu Gothic UI"/>
                <a:cs typeface="Yu Gothic UI"/>
              </a:rPr>
              <a:t>「止める」のではなく、正規アクセス・利用ログ・請求の基盤へ。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6446520"/>
            <a:ext cx="10908792" cy="0"/>
          </a:xfrm>
          <a:prstGeom prst="bentConnector3">
            <a:avLst/>
          </a:prstGeom>
          <a:ln w="9525">
            <a:solidFill>
              <a:srgbClr val="DDE1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6" name="Picture 5" descr="logo_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510528"/>
            <a:ext cx="199505" cy="21945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32688" y="6492240"/>
            <a:ext cx="45720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 i="0">
                <a:solidFill>
                  <a:srgbClr val="5B6472"/>
                </a:solidFill>
                <a:latin typeface="Yu Gothic UI"/>
                <a:ea typeface="Yu Gothic UI"/>
                <a:cs typeface="Yu Gothic UI"/>
              </a:rPr>
              <a:t>Trillion Bank  ｜  Company Profile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38160" y="6492240"/>
            <a:ext cx="3410712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850" b="0" i="0">
                <a:solidFill>
                  <a:srgbClr val="5B6472"/>
                </a:solidFill>
                <a:latin typeface="Arial"/>
                <a:ea typeface="Arial"/>
                <a:cs typeface="Arial"/>
              </a:rPr>
              <a:t>12 / 23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38160" y="292608"/>
            <a:ext cx="3410712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750" b="0" i="0" spc="150">
                <a:solidFill>
                  <a:srgbClr val="5B6472"/>
                </a:solidFill>
                <a:latin typeface="Arial"/>
                <a:ea typeface="Arial"/>
                <a:cs typeface="Arial"/>
              </a:rPr>
              <a:t>CONFIDENTIAL DRAFT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011680"/>
            <a:ext cx="108813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1A1F26"/>
                </a:solidFill>
                <a:latin typeface="Yu Gothic UI"/>
                <a:ea typeface="Yu Gothic UI"/>
                <a:cs typeface="Yu Gothic UI"/>
              </a:rPr>
              <a:t>AIクローラー・RAG・MCP事業者向けに、</a:t>
            </a:r>
            <a:r>
              <a:rPr sz="1200" b="1" i="0">
                <a:solidFill>
                  <a:srgbClr val="2A63C7"/>
                </a:solidFill>
                <a:latin typeface="Yu Gothic UI"/>
                <a:ea typeface="Yu Gothic UI"/>
                <a:cs typeface="Yu Gothic UI"/>
              </a:rPr>
              <a:t>正規アクセス・APIキー認証・利用ログ・月次請求</a:t>
            </a:r>
            <a:r>
              <a:rPr sz="1200" b="0" i="0">
                <a:solidFill>
                  <a:srgbClr val="1A1F26"/>
                </a:solidFill>
                <a:latin typeface="Yu Gothic UI"/>
                <a:ea typeface="Yu Gothic UI"/>
                <a:cs typeface="Yu Gothic UI"/>
              </a:rPr>
              <a:t> を検証するBtoBライセンスゲートウェイ構想です。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2880360"/>
            <a:ext cx="3383280" cy="6400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D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2880360"/>
            <a:ext cx="33832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14356B"/>
                </a:solidFill>
                <a:latin typeface="Yu Gothic UI"/>
                <a:ea typeface="Yu Gothic UI"/>
                <a:cs typeface="Yu Gothic UI"/>
              </a:rPr>
              <a:t>AI Crawler / RAG / MCP</a:t>
            </a:r>
          </a:p>
        </p:txBody>
      </p:sp>
      <p:sp>
        <p:nvSpPr>
          <p:cNvPr id="13" name="Chevron 12"/>
          <p:cNvSpPr/>
          <p:nvPr/>
        </p:nvSpPr>
        <p:spPr>
          <a:xfrm>
            <a:off x="4041648" y="2999232"/>
            <a:ext cx="201168" cy="402336"/>
          </a:xfrm>
          <a:prstGeom prst="chevron">
            <a:avLst/>
          </a:prstGeom>
          <a:solidFill>
            <a:srgbClr val="C3CD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251960" y="2880360"/>
            <a:ext cx="3383280" cy="6400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D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251960" y="2880360"/>
            <a:ext cx="33832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14356B"/>
                </a:solidFill>
                <a:latin typeface="Yu Gothic UI"/>
                <a:ea typeface="Yu Gothic UI"/>
                <a:cs typeface="Yu Gothic UI"/>
              </a:rPr>
              <a:t>Cloudflare Workers / Edge</a:t>
            </a:r>
          </a:p>
        </p:txBody>
      </p:sp>
      <p:sp>
        <p:nvSpPr>
          <p:cNvPr id="16" name="Chevron 15"/>
          <p:cNvSpPr/>
          <p:nvPr/>
        </p:nvSpPr>
        <p:spPr>
          <a:xfrm>
            <a:off x="7653528" y="2999232"/>
            <a:ext cx="201168" cy="402336"/>
          </a:xfrm>
          <a:prstGeom prst="chevron">
            <a:avLst/>
          </a:prstGeom>
          <a:solidFill>
            <a:srgbClr val="C3CD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863840" y="2880360"/>
            <a:ext cx="3383280" cy="640080"/>
          </a:xfrm>
          <a:prstGeom prst="roundRect">
            <a:avLst>
              <a:gd name="adj" fmla="val 10000"/>
            </a:avLst>
          </a:prstGeom>
          <a:solidFill>
            <a:srgbClr val="143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863840" y="2880360"/>
            <a:ext cx="33832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Yu Gothic UI"/>
                <a:ea typeface="Yu Gothic UI"/>
                <a:cs typeface="Yu Gothic UI"/>
              </a:rPr>
              <a:t>Policy Decision（契約済みか判定）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3794760"/>
            <a:ext cx="5349240" cy="1051560"/>
          </a:xfrm>
          <a:prstGeom prst="roundRect">
            <a:avLst>
              <a:gd name="adj" fmla="val 8000"/>
            </a:avLst>
          </a:prstGeom>
          <a:solidFill>
            <a:srgbClr val="FBEFE6"/>
          </a:solidFill>
          <a:ln w="12700">
            <a:solidFill>
              <a:srgbClr val="EEC8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3913632"/>
            <a:ext cx="484632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E07B2E"/>
                </a:solidFill>
                <a:latin typeface="Yu Gothic UI"/>
                <a:ea typeface="Yu Gothic UI"/>
                <a:cs typeface="Yu Gothic UI"/>
              </a:rPr>
              <a:t>未契約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1A1F26"/>
                </a:solidFill>
                <a:latin typeface="Yu Gothic UI"/>
                <a:ea typeface="Yu Gothic UI"/>
                <a:cs typeface="Yu Gothic UI"/>
              </a:rPr>
              <a:t>402 / 403 + ライセンス申請URL を返す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3794760"/>
            <a:ext cx="5349240" cy="1051560"/>
          </a:xfrm>
          <a:prstGeom prst="roundRect">
            <a:avLst>
              <a:gd name="adj" fmla="val 8000"/>
            </a:avLst>
          </a:prstGeom>
          <a:solidFill>
            <a:srgbClr val="EAF3EC"/>
          </a:solidFill>
          <a:ln w="12700">
            <a:solidFill>
              <a:srgbClr val="B9D8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3913632"/>
            <a:ext cx="484632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2F7D32"/>
                </a:solidFill>
                <a:latin typeface="Yu Gothic UI"/>
                <a:ea typeface="Yu Gothic UI"/>
                <a:cs typeface="Yu Gothic UI"/>
              </a:rPr>
              <a:t>契約済み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1A1F26"/>
                </a:solidFill>
                <a:latin typeface="Yu Gothic UI"/>
                <a:ea typeface="Yu Gothic UI"/>
                <a:cs typeface="Yu Gothic UI"/>
              </a:rPr>
              <a:t>APIキー / HMAC署名で通過 → origin透過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0080" y="5029200"/>
            <a:ext cx="10881360" cy="640080"/>
          </a:xfrm>
          <a:prstGeom prst="roundRect">
            <a:avLst>
              <a:gd name="adj" fmla="val 10000"/>
            </a:avLst>
          </a:prstGeom>
          <a:solidFill>
            <a:srgbClr val="143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Yu Gothic UI"/>
                <a:ea typeface="Yu Gothic UI"/>
                <a:cs typeface="Yu Gothic UI"/>
              </a:rPr>
              <a:t>→ Usage Ledger に記録 → 月次CSV / 請求 / 将来分配へ接続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80644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5B6472"/>
                </a:solidFill>
                <a:latin typeface="Yu Gothic UI"/>
                <a:ea typeface="Yu Gothic UI"/>
                <a:cs typeface="Yu Gothic UI"/>
              </a:rPr>
              <a:t>初期はCloudflare完全互換・自律決済・自動分配・完全Bot識別を対象外とし、契約・APIキー・月次請求から検証します。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7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 i="0" spc="220">
                <a:solidFill>
                  <a:srgbClr val="2A63C7"/>
                </a:solidFill>
                <a:latin typeface="Arial"/>
                <a:ea typeface="Arial"/>
                <a:cs typeface="Arial"/>
              </a:rPr>
              <a:t>12 — PPC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49808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4356B"/>
                </a:solidFill>
                <a:latin typeface="Yu Gothic UI"/>
                <a:ea typeface="Yu Gothic UI"/>
                <a:cs typeface="Yu Gothic UI"/>
              </a:rPr>
              <a:t>初期PoC：やること / やらないこと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81328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B6472"/>
                </a:solidFill>
                <a:latin typeface="Yu Gothic UI"/>
                <a:ea typeface="Yu Gothic UI"/>
                <a:cs typeface="Yu Gothic UI"/>
              </a:rPr>
              <a:t>約束しない範囲を最初に決めることが、PoCを安全にします。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6446520"/>
            <a:ext cx="10908792" cy="0"/>
          </a:xfrm>
          <a:prstGeom prst="bentConnector3">
            <a:avLst/>
          </a:prstGeom>
          <a:ln w="9525">
            <a:solidFill>
              <a:srgbClr val="DDE1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6" name="Picture 5" descr="logo_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510528"/>
            <a:ext cx="199505" cy="21945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32688" y="6492240"/>
            <a:ext cx="45720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 i="0">
                <a:solidFill>
                  <a:srgbClr val="5B6472"/>
                </a:solidFill>
                <a:latin typeface="Yu Gothic UI"/>
                <a:ea typeface="Yu Gothic UI"/>
                <a:cs typeface="Yu Gothic UI"/>
              </a:rPr>
              <a:t>Trillion Bank  ｜  Company Profile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38160" y="6492240"/>
            <a:ext cx="3410712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850" b="0" i="0">
                <a:solidFill>
                  <a:srgbClr val="5B6472"/>
                </a:solidFill>
                <a:latin typeface="Arial"/>
                <a:ea typeface="Arial"/>
                <a:cs typeface="Arial"/>
              </a:rPr>
              <a:t>13 / 23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38160" y="292608"/>
            <a:ext cx="3410712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750" b="0" i="0" spc="150">
                <a:solidFill>
                  <a:srgbClr val="5B6472"/>
                </a:solidFill>
                <a:latin typeface="Arial"/>
                <a:ea typeface="Arial"/>
                <a:cs typeface="Arial"/>
              </a:rPr>
              <a:t>CONFIDENTIAL DRAFT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057400"/>
            <a:ext cx="5349240" cy="4023360"/>
          </a:xfrm>
          <a:prstGeom prst="roundRect">
            <a:avLst>
              <a:gd name="adj" fmla="val 6000"/>
            </a:avLst>
          </a:prstGeom>
          <a:solidFill>
            <a:srgbClr val="EAF3EC"/>
          </a:solidFill>
          <a:ln w="12700">
            <a:solidFill>
              <a:srgbClr val="B9D8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2240280"/>
            <a:ext cx="484632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300" b="1" i="0">
                <a:solidFill>
                  <a:srgbClr val="2F7D32"/>
                </a:solidFill>
                <a:latin typeface="Yu Gothic UI"/>
                <a:ea typeface="Yu Gothic UI"/>
                <a:cs typeface="Yu Gothic UI"/>
              </a:rPr>
              <a:t>やること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2F7D32"/>
                </a:solidFill>
                <a:latin typeface="Arial"/>
                <a:ea typeface="Arial"/>
                <a:cs typeface="Arial"/>
              </a:rPr>
              <a:t>✓ </a:t>
            </a:r>
            <a:r>
              <a:rPr sz="1050" b="0" i="0">
                <a:solidFill>
                  <a:srgbClr val="1A1F26"/>
                </a:solidFill>
                <a:latin typeface="Yu Gothic UI"/>
                <a:ea typeface="Yu Gothic UI"/>
                <a:cs typeface="Yu Gothic UI"/>
              </a:rPr>
              <a:t>1ドメイン / 限定パスでのEdge判定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2F7D32"/>
                </a:solidFill>
                <a:latin typeface="Arial"/>
                <a:ea typeface="Arial"/>
                <a:cs typeface="Arial"/>
              </a:rPr>
              <a:t>✓ </a:t>
            </a:r>
            <a:r>
              <a:rPr sz="1050" b="0" i="0">
                <a:solidFill>
                  <a:srgbClr val="1A1F26"/>
                </a:solidFill>
                <a:latin typeface="Yu Gothic UI"/>
                <a:ea typeface="Yu Gothic UI"/>
                <a:cs typeface="Yu Gothic UI"/>
              </a:rPr>
              <a:t>アクセス分類（human / search_bot / known_ai / licensed_buyer / unknown_ai / suspicious）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2F7D32"/>
                </a:solidFill>
                <a:latin typeface="Arial"/>
                <a:ea typeface="Arial"/>
                <a:cs typeface="Arial"/>
              </a:rPr>
              <a:t>✓ </a:t>
            </a:r>
            <a:r>
              <a:rPr sz="1050" b="0" i="0">
                <a:solidFill>
                  <a:srgbClr val="1A1F26"/>
                </a:solidFill>
                <a:latin typeface="Yu Gothic UI"/>
                <a:ea typeface="Yu Gothic UI"/>
                <a:cs typeface="Yu Gothic UI"/>
              </a:rPr>
              <a:t>402 / 403 + ライセンス申請URL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2F7D32"/>
                </a:solidFill>
                <a:latin typeface="Arial"/>
                <a:ea typeface="Arial"/>
                <a:cs typeface="Arial"/>
              </a:rPr>
              <a:t>✓ </a:t>
            </a:r>
            <a:r>
              <a:rPr sz="1050" b="0" i="0">
                <a:solidFill>
                  <a:srgbClr val="1A1F26"/>
                </a:solidFill>
                <a:latin typeface="Yu Gothic UI"/>
                <a:ea typeface="Yu Gothic UI"/>
                <a:cs typeface="Yu Gothic UI"/>
              </a:rPr>
              <a:t>APIキー / HMAC署名付きアクセス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2F7D32"/>
                </a:solidFill>
                <a:latin typeface="Arial"/>
                <a:ea typeface="Arial"/>
                <a:cs typeface="Arial"/>
              </a:rPr>
              <a:t>✓ </a:t>
            </a:r>
            <a:r>
              <a:rPr sz="1050" b="0" i="0">
                <a:solidFill>
                  <a:srgbClr val="1A1F26"/>
                </a:solidFill>
                <a:latin typeface="Yu Gothic UI"/>
                <a:ea typeface="Yu Gothic UI"/>
                <a:cs typeface="Yu Gothic UI"/>
              </a:rPr>
              <a:t>Usage Ledger 保存（request_id で冪等）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2F7D32"/>
                </a:solidFill>
                <a:latin typeface="Arial"/>
                <a:ea typeface="Arial"/>
                <a:cs typeface="Arial"/>
              </a:rPr>
              <a:t>✓ </a:t>
            </a:r>
            <a:r>
              <a:rPr sz="1050" b="0" i="0">
                <a:solidFill>
                  <a:srgbClr val="1A1F26"/>
                </a:solidFill>
                <a:latin typeface="Yu Gothic UI"/>
                <a:ea typeface="Yu Gothic UI"/>
                <a:cs typeface="Yu Gothic UI"/>
              </a:rPr>
              <a:t>簡易管理画面・月次請求CSV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2F7D32"/>
                </a:solidFill>
                <a:latin typeface="Arial"/>
                <a:ea typeface="Arial"/>
                <a:cs typeface="Arial"/>
              </a:rPr>
              <a:t>✓ </a:t>
            </a:r>
            <a:r>
              <a:rPr sz="1050" b="0" i="0">
                <a:solidFill>
                  <a:srgbClr val="1A1F26"/>
                </a:solidFill>
                <a:latin typeface="Yu Gothic UI"/>
                <a:ea typeface="Yu Gothic UI"/>
                <a:cs typeface="Yu Gothic UI"/>
              </a:rPr>
              <a:t>レイテンシー計測・Googlebot誤遮断確認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2057400"/>
            <a:ext cx="5349240" cy="4023360"/>
          </a:xfrm>
          <a:prstGeom prst="roundRect">
            <a:avLst>
              <a:gd name="adj" fmla="val 6000"/>
            </a:avLst>
          </a:prstGeom>
          <a:solidFill>
            <a:srgbClr val="FBECE9"/>
          </a:solidFill>
          <a:ln w="12700">
            <a:solidFill>
              <a:srgbClr val="EEC0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46520" y="2240280"/>
            <a:ext cx="484632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300" b="1" i="0">
                <a:solidFill>
                  <a:srgbClr val="C0392B"/>
                </a:solidFill>
                <a:latin typeface="Yu Gothic UI"/>
                <a:ea typeface="Yu Gothic UI"/>
                <a:cs typeface="Yu Gothic UI"/>
              </a:rPr>
              <a:t>やらないこと（初期スコープ外）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1" i="0">
                <a:solidFill>
                  <a:srgbClr val="C0392B"/>
                </a:solidFill>
                <a:latin typeface="Arial"/>
                <a:ea typeface="Arial"/>
                <a:cs typeface="Arial"/>
              </a:rPr>
              <a:t>× </a:t>
            </a:r>
            <a:r>
              <a:rPr sz="1050" b="1" i="0">
                <a:solidFill>
                  <a:srgbClr val="1A1F26"/>
                </a:solidFill>
                <a:latin typeface="Yu Gothic UI"/>
                <a:ea typeface="Yu Gothic UI"/>
                <a:cs typeface="Yu Gothic UI"/>
              </a:rPr>
              <a:t>AI企業の自律・即時決済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50" b="0" i="0">
                <a:solidFill>
                  <a:srgbClr val="5B6472"/>
                </a:solidFill>
                <a:latin typeface="Yu Gothic UI"/>
                <a:ea typeface="Yu Gothic UI"/>
                <a:cs typeface="Yu Gothic UI"/>
              </a:rPr>
              <a:t>　　→ BtoB契約 + 月次請求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1" i="0">
                <a:solidFill>
                  <a:srgbClr val="C0392B"/>
                </a:solidFill>
                <a:latin typeface="Arial"/>
                <a:ea typeface="Arial"/>
                <a:cs typeface="Arial"/>
              </a:rPr>
              <a:t>× </a:t>
            </a:r>
            <a:r>
              <a:rPr sz="1050" b="1" i="0">
                <a:solidFill>
                  <a:srgbClr val="1A1F26"/>
                </a:solidFill>
                <a:latin typeface="Yu Gothic UI"/>
                <a:ea typeface="Yu Gothic UI"/>
                <a:cs typeface="Yu Gothic UI"/>
              </a:rPr>
              <a:t>Stripe Connect 自動分配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50" b="0" i="0">
                <a:solidFill>
                  <a:srgbClr val="5B6472"/>
                </a:solidFill>
                <a:latin typeface="Yu Gothic UI"/>
                <a:ea typeface="Yu Gothic UI"/>
                <a:cs typeface="Yu Gothic UI"/>
              </a:rPr>
              <a:t>　　→ 月次レポート + 手動精算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1" i="0">
                <a:solidFill>
                  <a:srgbClr val="C0392B"/>
                </a:solidFill>
                <a:latin typeface="Arial"/>
                <a:ea typeface="Arial"/>
                <a:cs typeface="Arial"/>
              </a:rPr>
              <a:t>× </a:t>
            </a:r>
            <a:r>
              <a:rPr sz="1050" b="1" i="0">
                <a:solidFill>
                  <a:srgbClr val="1A1F26"/>
                </a:solidFill>
                <a:latin typeface="Yu Gothic UI"/>
                <a:ea typeface="Yu Gothic UI"/>
                <a:cs typeface="Yu Gothic UI"/>
              </a:rPr>
              <a:t>完全Bot識別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50" b="0" i="0">
                <a:solidFill>
                  <a:srgbClr val="5B6472"/>
                </a:solidFill>
                <a:latin typeface="Yu Gothic UI"/>
                <a:ea typeface="Yu Gothic UI"/>
                <a:cs typeface="Yu Gothic UI"/>
              </a:rPr>
              <a:t>　　→ 既知・契約済み事業者中心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1" i="0">
                <a:solidFill>
                  <a:srgbClr val="C0392B"/>
                </a:solidFill>
                <a:latin typeface="Arial"/>
                <a:ea typeface="Arial"/>
                <a:cs typeface="Arial"/>
              </a:rPr>
              <a:t>× </a:t>
            </a:r>
            <a:r>
              <a:rPr sz="1050" b="1" i="0">
                <a:solidFill>
                  <a:srgbClr val="1A1F26"/>
                </a:solidFill>
                <a:latin typeface="Yu Gothic UI"/>
                <a:ea typeface="Yu Gothic UI"/>
                <a:cs typeface="Yu Gothic UI"/>
              </a:rPr>
              <a:t>Cloudflare Pay Per Crawl 完全互換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50" b="0" i="0">
                <a:solidFill>
                  <a:srgbClr val="5B6472"/>
                </a:solidFill>
                <a:latin typeface="Yu Gothic UI"/>
                <a:ea typeface="Yu Gothic UI"/>
                <a:cs typeface="Yu Gothic UI"/>
              </a:rPr>
              <a:t>　　→ 既存Edge上に契約・ログ層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1" i="0">
                <a:solidFill>
                  <a:srgbClr val="C0392B"/>
                </a:solidFill>
                <a:latin typeface="Arial"/>
                <a:ea typeface="Arial"/>
                <a:cs typeface="Arial"/>
              </a:rPr>
              <a:t>× </a:t>
            </a:r>
            <a:r>
              <a:rPr sz="1050" b="1" i="0">
                <a:solidFill>
                  <a:srgbClr val="1A1F26"/>
                </a:solidFill>
                <a:latin typeface="Yu Gothic UI"/>
                <a:ea typeface="Yu Gothic UI"/>
                <a:cs typeface="Yu Gothic UI"/>
              </a:rPr>
              <a:t>外部AI上の全Citation観測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50" b="0" i="0">
                <a:solidFill>
                  <a:srgbClr val="5B6472"/>
                </a:solidFill>
                <a:latin typeface="Yu Gothic UI"/>
                <a:ea typeface="Yu Gothic UI"/>
                <a:cs typeface="Yu Gothic UI"/>
              </a:rPr>
              <a:t>　　→ HackⅡ測定 + Report構想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1" i="0">
                <a:solidFill>
                  <a:srgbClr val="C0392B"/>
                </a:solidFill>
                <a:latin typeface="Arial"/>
                <a:ea typeface="Arial"/>
                <a:cs typeface="Arial"/>
              </a:rPr>
              <a:t>× </a:t>
            </a:r>
            <a:r>
              <a:rPr sz="1050" b="1" i="0">
                <a:solidFill>
                  <a:srgbClr val="1A1F26"/>
                </a:solidFill>
                <a:latin typeface="Yu Gothic UI"/>
                <a:ea typeface="Yu Gothic UI"/>
                <a:cs typeface="Yu Gothic UI"/>
              </a:rPr>
              <a:t>商用Marketplace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50" b="0" i="0">
                <a:solidFill>
                  <a:srgbClr val="5B6472"/>
                </a:solidFill>
                <a:latin typeface="Yu Gothic UI"/>
                <a:ea typeface="Yu Gothic UI"/>
                <a:cs typeface="Yu Gothic UI"/>
              </a:rPr>
              <a:t>　　→ Private Licensing Desk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7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 i="0" spc="220">
                <a:solidFill>
                  <a:srgbClr val="2A63C7"/>
                </a:solidFill>
                <a:latin typeface="Arial"/>
                <a:ea typeface="Arial"/>
                <a:cs typeface="Arial"/>
              </a:rPr>
              <a:t>13 — LEDGER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49808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4356B"/>
                </a:solidFill>
                <a:latin typeface="Yu Gothic UI"/>
                <a:ea typeface="Yu Gothic UI"/>
                <a:cs typeface="Yu Gothic UI"/>
              </a:rPr>
              <a:t>Usage / Citation Ledger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81328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B6472"/>
                </a:solidFill>
                <a:latin typeface="Yu Gothic UI"/>
                <a:ea typeface="Yu Gothic UI"/>
                <a:cs typeface="Yu Gothic UI"/>
              </a:rPr>
              <a:t>事業の中核資産は、Bot検知ではなく「誰が・何を・どれだけ」の台帳です。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6446520"/>
            <a:ext cx="10908792" cy="0"/>
          </a:xfrm>
          <a:prstGeom prst="bentConnector3">
            <a:avLst/>
          </a:prstGeom>
          <a:ln w="9525">
            <a:solidFill>
              <a:srgbClr val="DDE1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6" name="Picture 5" descr="logo_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510528"/>
            <a:ext cx="199505" cy="21945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32688" y="6492240"/>
            <a:ext cx="45720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 i="0">
                <a:solidFill>
                  <a:srgbClr val="5B6472"/>
                </a:solidFill>
                <a:latin typeface="Yu Gothic UI"/>
                <a:ea typeface="Yu Gothic UI"/>
                <a:cs typeface="Yu Gothic UI"/>
              </a:rPr>
              <a:t>Trillion Bank  ｜  Company Profile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38160" y="6492240"/>
            <a:ext cx="3410712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850" b="0" i="0">
                <a:solidFill>
                  <a:srgbClr val="5B6472"/>
                </a:solidFill>
                <a:latin typeface="Arial"/>
                <a:ea typeface="Arial"/>
                <a:cs typeface="Arial"/>
              </a:rPr>
              <a:t>14 / 23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38160" y="292608"/>
            <a:ext cx="3410712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750" b="0" i="0" spc="150">
                <a:solidFill>
                  <a:srgbClr val="5B6472"/>
                </a:solidFill>
                <a:latin typeface="Arial"/>
                <a:ea typeface="Arial"/>
                <a:cs typeface="Arial"/>
              </a:rPr>
              <a:t>CONFIDENTIAL DRAFT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057400"/>
            <a:ext cx="2624328" cy="65836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D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057400"/>
            <a:ext cx="2395728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4356B"/>
                </a:solidFill>
                <a:latin typeface="Consolas"/>
                <a:ea typeface="Consolas"/>
                <a:cs typeface="Consolas"/>
              </a:rPr>
              <a:t>tenant_id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472"/>
                </a:solidFill>
                <a:latin typeface="Yu Gothic UI"/>
                <a:ea typeface="Yu Gothic UI"/>
                <a:cs typeface="Yu Gothic UI"/>
              </a:rPr>
              <a:t>導入企業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92424" y="2057400"/>
            <a:ext cx="2624328" cy="65836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D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29584" y="2057400"/>
            <a:ext cx="2395728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4356B"/>
                </a:solidFill>
                <a:latin typeface="Consolas"/>
                <a:ea typeface="Consolas"/>
                <a:cs typeface="Consolas"/>
              </a:rPr>
              <a:t>publisher_id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472"/>
                </a:solidFill>
                <a:latin typeface="Yu Gothic UI"/>
                <a:ea typeface="Yu Gothic UI"/>
                <a:cs typeface="Yu Gothic UI"/>
              </a:rPr>
              <a:t>コンテンツ所有者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44768" y="2057400"/>
            <a:ext cx="2624328" cy="65836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D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81928" y="2057400"/>
            <a:ext cx="2395728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4356B"/>
                </a:solidFill>
                <a:latin typeface="Consolas"/>
                <a:ea typeface="Consolas"/>
                <a:cs typeface="Consolas"/>
              </a:rPr>
              <a:t>domain_id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472"/>
                </a:solidFill>
                <a:latin typeface="Yu Gothic UI"/>
                <a:ea typeface="Yu Gothic UI"/>
                <a:cs typeface="Yu Gothic UI"/>
              </a:rPr>
              <a:t>対象ドメイン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897112" y="2057400"/>
            <a:ext cx="2624328" cy="65836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D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034272" y="2057400"/>
            <a:ext cx="2395728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4356B"/>
                </a:solidFill>
                <a:latin typeface="Consolas"/>
                <a:ea typeface="Consolas"/>
                <a:cs typeface="Consolas"/>
              </a:rPr>
              <a:t>content_id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472"/>
                </a:solidFill>
                <a:latin typeface="Yu Gothic UI"/>
                <a:ea typeface="Yu Gothic UI"/>
                <a:cs typeface="Yu Gothic UI"/>
              </a:rPr>
              <a:t>記事・ページ・DB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2843784"/>
            <a:ext cx="2624328" cy="65836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D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2843784"/>
            <a:ext cx="2395728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4356B"/>
                </a:solidFill>
                <a:latin typeface="Consolas"/>
                <a:ea typeface="Consolas"/>
                <a:cs typeface="Consolas"/>
              </a:rPr>
              <a:t>source_id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472"/>
                </a:solidFill>
                <a:latin typeface="Yu Gothic UI"/>
                <a:ea typeface="Yu Gothic UI"/>
                <a:cs typeface="Yu Gothic UI"/>
              </a:rPr>
              <a:t>引用の最小単位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392424" y="2843784"/>
            <a:ext cx="2624328" cy="65836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D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29584" y="2843784"/>
            <a:ext cx="2395728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4356B"/>
                </a:solidFill>
                <a:latin typeface="Consolas"/>
                <a:ea typeface="Consolas"/>
                <a:cs typeface="Consolas"/>
              </a:rPr>
              <a:t>citation_token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472"/>
                </a:solidFill>
                <a:latin typeface="Yu Gothic UI"/>
                <a:ea typeface="Yu Gothic UI"/>
                <a:cs typeface="Yu Gothic UI"/>
              </a:rPr>
              <a:t>引用追跡用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44768" y="2843784"/>
            <a:ext cx="2624328" cy="65836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D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281928" y="2843784"/>
            <a:ext cx="2395728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4356B"/>
                </a:solidFill>
                <a:latin typeface="Consolas"/>
                <a:ea typeface="Consolas"/>
                <a:cs typeface="Consolas"/>
              </a:rPr>
              <a:t>buyer_id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472"/>
                </a:solidFill>
                <a:latin typeface="Yu Gothic UI"/>
                <a:ea typeface="Yu Gothic UI"/>
                <a:cs typeface="Yu Gothic UI"/>
              </a:rPr>
              <a:t>AI/RAG/MCP事業者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897112" y="2843784"/>
            <a:ext cx="2624328" cy="65836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D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034272" y="2843784"/>
            <a:ext cx="2395728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4356B"/>
                </a:solidFill>
                <a:latin typeface="Consolas"/>
                <a:ea typeface="Consolas"/>
                <a:cs typeface="Consolas"/>
              </a:rPr>
              <a:t>license_id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472"/>
                </a:solidFill>
                <a:latin typeface="Yu Gothic UI"/>
                <a:ea typeface="Yu Gothic UI"/>
                <a:cs typeface="Yu Gothic UI"/>
              </a:rPr>
              <a:t>利用許諾条件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0080" y="3630168"/>
            <a:ext cx="2624328" cy="65836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D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7240" y="3630168"/>
            <a:ext cx="2395728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4356B"/>
                </a:solidFill>
                <a:latin typeface="Consolas"/>
                <a:ea typeface="Consolas"/>
                <a:cs typeface="Consolas"/>
              </a:rPr>
              <a:t>api_key_id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472"/>
                </a:solidFill>
                <a:latin typeface="Yu Gothic UI"/>
                <a:ea typeface="Yu Gothic UI"/>
                <a:cs typeface="Yu Gothic UI"/>
              </a:rPr>
              <a:t>認証キー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392424" y="3630168"/>
            <a:ext cx="2624328" cy="65836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D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529584" y="3630168"/>
            <a:ext cx="2395728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4356B"/>
                </a:solidFill>
                <a:latin typeface="Consolas"/>
                <a:ea typeface="Consolas"/>
                <a:cs typeface="Consolas"/>
              </a:rPr>
              <a:t>request_id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472"/>
                </a:solidFill>
                <a:latin typeface="Yu Gothic UI"/>
                <a:ea typeface="Yu Gothic UI"/>
                <a:cs typeface="Yu Gothic UI"/>
              </a:rPr>
              <a:t>リクエスト単位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144768" y="3630168"/>
            <a:ext cx="2624328" cy="65836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D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281928" y="3630168"/>
            <a:ext cx="2395728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4356B"/>
                </a:solidFill>
                <a:latin typeface="Consolas"/>
                <a:ea typeface="Consolas"/>
                <a:cs typeface="Consolas"/>
              </a:rPr>
              <a:t>usage_event_id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472"/>
                </a:solidFill>
                <a:latin typeface="Yu Gothic UI"/>
                <a:ea typeface="Yu Gothic UI"/>
                <a:cs typeface="Yu Gothic UI"/>
              </a:rPr>
              <a:t>課金イベント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897112" y="3630168"/>
            <a:ext cx="2624328" cy="65836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D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034272" y="3630168"/>
            <a:ext cx="2395728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4356B"/>
                </a:solidFill>
                <a:latin typeface="Consolas"/>
                <a:ea typeface="Consolas"/>
                <a:cs typeface="Consolas"/>
              </a:rPr>
              <a:t>price_rule_id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472"/>
                </a:solidFill>
                <a:latin typeface="Yu Gothic UI"/>
                <a:ea typeface="Yu Gothic UI"/>
                <a:cs typeface="Yu Gothic UI"/>
              </a:rPr>
              <a:t>価格ルール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40080" y="4416552"/>
            <a:ext cx="2624328" cy="65836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D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77240" y="4416552"/>
            <a:ext cx="2395728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4356B"/>
                </a:solidFill>
                <a:latin typeface="Consolas"/>
                <a:ea typeface="Consolas"/>
                <a:cs typeface="Consolas"/>
              </a:rPr>
              <a:t>billing_account_id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472"/>
                </a:solidFill>
                <a:latin typeface="Yu Gothic UI"/>
                <a:ea typeface="Yu Gothic UI"/>
                <a:cs typeface="Yu Gothic UI"/>
              </a:rPr>
              <a:t>請求先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392424" y="4416552"/>
            <a:ext cx="2624328" cy="65836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D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529584" y="4416552"/>
            <a:ext cx="2395728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4356B"/>
                </a:solidFill>
                <a:latin typeface="Consolas"/>
                <a:ea typeface="Consolas"/>
                <a:cs typeface="Consolas"/>
              </a:rPr>
              <a:t>payout_account_id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472"/>
                </a:solidFill>
                <a:latin typeface="Yu Gothic UI"/>
                <a:ea typeface="Yu Gothic UI"/>
                <a:cs typeface="Yu Gothic UI"/>
              </a:rPr>
              <a:t>分配先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40080" y="5532120"/>
            <a:ext cx="10881360" cy="731520"/>
          </a:xfrm>
          <a:prstGeom prst="roundRect">
            <a:avLst>
              <a:gd name="adj" fmla="val 10000"/>
            </a:avLst>
          </a:prstGeom>
          <a:solidFill>
            <a:srgbClr val="EE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14400" y="5532120"/>
            <a:ext cx="1042416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C5A059"/>
                </a:solidFill>
                <a:latin typeface="Yu Gothic UI"/>
                <a:ea typeface="Yu Gothic UI"/>
                <a:cs typeface="Yu Gothic UI"/>
              </a:rPr>
              <a:t>設計方針：</a:t>
            </a:r>
            <a:r>
              <a:rPr sz="1100" b="0" i="0">
                <a:solidFill>
                  <a:srgbClr val="1A1F26"/>
                </a:solidFill>
                <a:latin typeface="Yu Gothic UI"/>
                <a:ea typeface="Yu Gothic UI"/>
                <a:cs typeface="Yu Gothic UI"/>
              </a:rPr>
              <a:t>初期PoCの段階から source_id・citation_token・license_id・usage_event_id を設計に入れ、将来の月次請求・分配・監査・Pay per Citation への拡張を支えます。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7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 i="0" spc="220">
                <a:solidFill>
                  <a:srgbClr val="2A63C7"/>
                </a:solidFill>
                <a:latin typeface="Arial"/>
                <a:ea typeface="Arial"/>
                <a:cs typeface="Arial"/>
              </a:rPr>
              <a:t>14 — CUSTOMERS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49808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4356B"/>
                </a:solidFill>
                <a:latin typeface="Yu Gothic UI"/>
                <a:ea typeface="Yu Gothic UI"/>
                <a:cs typeface="Yu Gothic UI"/>
              </a:rPr>
              <a:t>対象顧客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81328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B6472"/>
                </a:solidFill>
                <a:latin typeface="Yu Gothic UI"/>
                <a:ea typeface="Yu Gothic UI"/>
                <a:cs typeface="Yu Gothic UI"/>
              </a:rPr>
              <a:t>HackⅡは企業・マーケ向け、Adctor / PPCはメディア・専門DB向けに展開します。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6446520"/>
            <a:ext cx="10908792" cy="0"/>
          </a:xfrm>
          <a:prstGeom prst="bentConnector3">
            <a:avLst/>
          </a:prstGeom>
          <a:ln w="9525">
            <a:solidFill>
              <a:srgbClr val="DDE1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6" name="Picture 5" descr="logo_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510528"/>
            <a:ext cx="199505" cy="21945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32688" y="6492240"/>
            <a:ext cx="45720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 i="0">
                <a:solidFill>
                  <a:srgbClr val="5B6472"/>
                </a:solidFill>
                <a:latin typeface="Yu Gothic UI"/>
                <a:ea typeface="Yu Gothic UI"/>
                <a:cs typeface="Yu Gothic UI"/>
              </a:rPr>
              <a:t>Trillion Bank  ｜  Company Profile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38160" y="6492240"/>
            <a:ext cx="3410712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850" b="0" i="0">
                <a:solidFill>
                  <a:srgbClr val="5B6472"/>
                </a:solidFill>
                <a:latin typeface="Arial"/>
                <a:ea typeface="Arial"/>
                <a:cs typeface="Arial"/>
              </a:rPr>
              <a:t>15 / 23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38160" y="292608"/>
            <a:ext cx="3410712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750" b="0" i="0" spc="150">
                <a:solidFill>
                  <a:srgbClr val="5B6472"/>
                </a:solidFill>
                <a:latin typeface="Arial"/>
                <a:ea typeface="Arial"/>
                <a:cs typeface="Arial"/>
              </a:rPr>
              <a:t>CONFIDENTIAL DRAFT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40080" y="2103120"/>
          <a:ext cx="10881358" cy="28346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046780"/>
                <a:gridCol w="5005425"/>
                <a:gridCol w="2829153"/>
              </a:tblGrid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050" b="1" i="0">
                          <a:solidFill>
                            <a:srgbClr val="FFFFFF"/>
                          </a:solidFill>
                          <a:latin typeface="Yu Gothic UI"/>
                          <a:ea typeface="Yu Gothic UI"/>
                          <a:cs typeface="Yu Gothic UI"/>
                        </a:rPr>
                        <a:t>顧客</a:t>
                      </a:r>
                    </a:p>
                  </a:txBody>
                  <a:tcPr marL="82296" marR="54864" marT="27432" marB="27432" anchor="ctr">
                    <a:solidFill>
                      <a:srgbClr val="1435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 i="0">
                          <a:solidFill>
                            <a:srgbClr val="FFFFFF"/>
                          </a:solidFill>
                          <a:latin typeface="Yu Gothic UI"/>
                          <a:ea typeface="Yu Gothic UI"/>
                          <a:cs typeface="Yu Gothic UI"/>
                        </a:rPr>
                        <a:t>主な課題</a:t>
                      </a:r>
                    </a:p>
                  </a:txBody>
                  <a:tcPr marL="82296" marR="54864" marT="27432" marB="27432" anchor="ctr">
                    <a:solidFill>
                      <a:srgbClr val="1435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 i="0">
                          <a:solidFill>
                            <a:srgbClr val="FFFFFF"/>
                          </a:solidFill>
                          <a:latin typeface="Yu Gothic UI"/>
                          <a:ea typeface="Yu Gothic UI"/>
                          <a:cs typeface="Yu Gothic UI"/>
                        </a:rPr>
                        <a:t>提供サービス</a:t>
                      </a:r>
                    </a:p>
                  </a:txBody>
                  <a:tcPr marL="82296" marR="54864" marT="27432" marB="27432" anchor="ctr">
                    <a:solidFill>
                      <a:srgbClr val="14356B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14356B"/>
                          </a:solidFill>
                          <a:latin typeface="Yu Gothic UI"/>
                          <a:ea typeface="Yu Gothic UI"/>
                          <a:cs typeface="Yu Gothic UI"/>
                        </a:rPr>
                        <a:t>経営者・マーケ責任者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A1F26"/>
                          </a:solidFill>
                          <a:latin typeface="Yu Gothic UI"/>
                          <a:ea typeface="Yu Gothic UI"/>
                          <a:cs typeface="Yu Gothic UI"/>
                        </a:rPr>
                        <a:t>AI検索で自社が候補に入っているか不明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A1F26"/>
                          </a:solidFill>
                          <a:latin typeface="Yu Gothic UI"/>
                          <a:ea typeface="Yu Gothic UI"/>
                          <a:cs typeface="Yu Gothic UI"/>
                        </a:rPr>
                        <a:t>HackⅡ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14356B"/>
                          </a:solidFill>
                          <a:latin typeface="Yu Gothic UI"/>
                          <a:ea typeface="Yu Gothic UI"/>
                          <a:cs typeface="Yu Gothic UI"/>
                        </a:rPr>
                        <a:t>SEO / 広告 / 広報担当</a:t>
                      </a:r>
                    </a:p>
                  </a:txBody>
                  <a:tcPr marL="82296" marR="54864" marT="18288" marB="18288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A1F26"/>
                          </a:solidFill>
                          <a:latin typeface="Yu Gothic UI"/>
                          <a:ea typeface="Yu Gothic UI"/>
                          <a:cs typeface="Yu Gothic UI"/>
                        </a:rPr>
                        <a:t>競合がAI回答でどう推薦されているか不明</a:t>
                      </a:r>
                    </a:p>
                  </a:txBody>
                  <a:tcPr marL="82296" marR="54864" marT="18288" marB="18288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A1F26"/>
                          </a:solidFill>
                          <a:latin typeface="Yu Gothic UI"/>
                          <a:ea typeface="Yu Gothic UI"/>
                          <a:cs typeface="Yu Gothic UI"/>
                        </a:rPr>
                        <a:t>HackⅡ</a:t>
                      </a:r>
                    </a:p>
                  </a:txBody>
                  <a:tcPr marL="82296" marR="54864" marT="18288" marB="18288" anchor="ctr">
                    <a:solidFill>
                      <a:srgbClr val="F4F6F9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14356B"/>
                          </a:solidFill>
                          <a:latin typeface="Yu Gothic UI"/>
                          <a:ea typeface="Yu Gothic UI"/>
                          <a:cs typeface="Yu Gothic UI"/>
                        </a:rPr>
                        <a:t>広告代理店・SEO会社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A1F26"/>
                          </a:solidFill>
                          <a:latin typeface="Yu Gothic UI"/>
                          <a:ea typeface="Yu Gothic UI"/>
                          <a:cs typeface="Yu Gothic UI"/>
                        </a:rPr>
                        <a:t>既存顧客への新しいアップセル商材がほしい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A1F26"/>
                          </a:solidFill>
                          <a:latin typeface="Yu Gothic UI"/>
                          <a:ea typeface="Yu Gothic UI"/>
                          <a:cs typeface="Yu Gothic UI"/>
                        </a:rPr>
                        <a:t>HackⅡ 代理店プラン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14356B"/>
                          </a:solidFill>
                          <a:latin typeface="Yu Gothic UI"/>
                          <a:ea typeface="Yu Gothic UI"/>
                          <a:cs typeface="Yu Gothic UI"/>
                        </a:rPr>
                        <a:t>メディア企業</a:t>
                      </a:r>
                    </a:p>
                  </a:txBody>
                  <a:tcPr marL="82296" marR="54864" marT="18288" marB="18288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A1F26"/>
                          </a:solidFill>
                          <a:latin typeface="Yu Gothic UI"/>
                          <a:ea typeface="Yu Gothic UI"/>
                          <a:cs typeface="Yu Gothic UI"/>
                        </a:rPr>
                        <a:t>AIに読まれても流入・収益が戻らない</a:t>
                      </a:r>
                    </a:p>
                  </a:txBody>
                  <a:tcPr marL="82296" marR="54864" marT="18288" marB="18288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A1F26"/>
                          </a:solidFill>
                          <a:latin typeface="Yu Gothic UI"/>
                          <a:ea typeface="Yu Gothic UI"/>
                          <a:cs typeface="Yu Gothic UI"/>
                        </a:rPr>
                        <a:t>PPC Readiness診断</a:t>
                      </a:r>
                    </a:p>
                  </a:txBody>
                  <a:tcPr marL="82296" marR="54864" marT="18288" marB="18288" anchor="ctr">
                    <a:solidFill>
                      <a:srgbClr val="F4F6F9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14356B"/>
                          </a:solidFill>
                          <a:latin typeface="Yu Gothic UI"/>
                          <a:ea typeface="Yu Gothic UI"/>
                          <a:cs typeface="Yu Gothic UI"/>
                        </a:rPr>
                        <a:t>専門DB・会員制サイト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A1F26"/>
                          </a:solidFill>
                          <a:latin typeface="Yu Gothic UI"/>
                          <a:ea typeface="Yu Gothic UI"/>
                          <a:cs typeface="Yu Gothic UI"/>
                        </a:rPr>
                        <a:t>AI向けにどこまで開放し、どう課金するか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A1F26"/>
                          </a:solidFill>
                          <a:latin typeface="Yu Gothic UI"/>
                          <a:ea typeface="Yu Gothic UI"/>
                          <a:cs typeface="Yu Gothic UI"/>
                        </a:rPr>
                        <a:t>AI Access Gateway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14356B"/>
                          </a:solidFill>
                          <a:latin typeface="Yu Gothic UI"/>
                          <a:ea typeface="Yu Gothic UI"/>
                          <a:cs typeface="Yu Gothic UI"/>
                        </a:rPr>
                        <a:t>AI / RAG / MCP事業者</a:t>
                      </a:r>
                    </a:p>
                  </a:txBody>
                  <a:tcPr marL="82296" marR="54864" marT="18288" marB="18288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A1F26"/>
                          </a:solidFill>
                          <a:latin typeface="Yu Gothic UI"/>
                          <a:ea typeface="Yu Gothic UI"/>
                          <a:cs typeface="Yu Gothic UI"/>
                        </a:rPr>
                        <a:t>正規データアクセス・SLA・法務リスク低減</a:t>
                      </a:r>
                    </a:p>
                  </a:txBody>
                  <a:tcPr marL="82296" marR="54864" marT="18288" marB="18288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A1F26"/>
                          </a:solidFill>
                          <a:latin typeface="Yu Gothic UI"/>
                          <a:ea typeface="Yu Gothic UI"/>
                          <a:cs typeface="Yu Gothic UI"/>
                        </a:rPr>
                        <a:t>Licensed API / MCP Feed</a:t>
                      </a:r>
                    </a:p>
                  </a:txBody>
                  <a:tcPr marL="82296" marR="54864" marT="18288" marB="18288" anchor="ctr"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7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 i="0" spc="220">
                <a:solidFill>
                  <a:srgbClr val="2A63C7"/>
                </a:solidFill>
                <a:latin typeface="Arial"/>
                <a:ea typeface="Arial"/>
                <a:cs typeface="Arial"/>
              </a:rPr>
              <a:t>15 — REVENUE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49808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4356B"/>
                </a:solidFill>
                <a:latin typeface="Yu Gothic UI"/>
                <a:ea typeface="Yu Gothic UI"/>
                <a:cs typeface="Yu Gothic UI"/>
              </a:rPr>
              <a:t>収益モデル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81328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B6472"/>
                </a:solidFill>
                <a:latin typeface="Yu Gothic UI"/>
                <a:ea typeface="Yu Gothic UI"/>
                <a:cs typeface="Yu Gothic UI"/>
              </a:rPr>
              <a:t>短期はHackⅡの診断・月額運用、中長期はGatewayとLedgerで高単価化します。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6446520"/>
            <a:ext cx="10908792" cy="0"/>
          </a:xfrm>
          <a:prstGeom prst="bentConnector3">
            <a:avLst/>
          </a:prstGeom>
          <a:ln w="9525">
            <a:solidFill>
              <a:srgbClr val="DDE1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6" name="Picture 5" descr="logo_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510528"/>
            <a:ext cx="199505" cy="21945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32688" y="6492240"/>
            <a:ext cx="45720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 i="0">
                <a:solidFill>
                  <a:srgbClr val="5B6472"/>
                </a:solidFill>
                <a:latin typeface="Yu Gothic UI"/>
                <a:ea typeface="Yu Gothic UI"/>
                <a:cs typeface="Yu Gothic UI"/>
              </a:rPr>
              <a:t>Trillion Bank  ｜  Company Profile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38160" y="6492240"/>
            <a:ext cx="3410712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850" b="0" i="0">
                <a:solidFill>
                  <a:srgbClr val="5B6472"/>
                </a:solidFill>
                <a:latin typeface="Arial"/>
                <a:ea typeface="Arial"/>
                <a:cs typeface="Arial"/>
              </a:rPr>
              <a:t>16 / 23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38160" y="292608"/>
            <a:ext cx="3410712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750" b="0" i="0" spc="150">
                <a:solidFill>
                  <a:srgbClr val="5B6472"/>
                </a:solidFill>
                <a:latin typeface="Arial"/>
                <a:ea typeface="Arial"/>
                <a:cs typeface="Arial"/>
              </a:rPr>
              <a:t>CONFIDENTIAL DRAFT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40080" y="2103120"/>
          <a:ext cx="10881358" cy="263347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05763"/>
                <a:gridCol w="3699662"/>
                <a:gridCol w="3046780"/>
                <a:gridCol w="2829153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 i="0">
                          <a:solidFill>
                            <a:srgbClr val="FFFFFF"/>
                          </a:solidFill>
                          <a:latin typeface="Yu Gothic UI"/>
                          <a:ea typeface="Yu Gothic UI"/>
                          <a:cs typeface="Yu Gothic UI"/>
                        </a:rPr>
                        <a:t>フェーズ</a:t>
                      </a:r>
                    </a:p>
                  </a:txBody>
                  <a:tcPr marL="82296" marR="54864" marT="27432" marB="27432" anchor="ctr">
                    <a:solidFill>
                      <a:srgbClr val="1435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 i="0">
                          <a:solidFill>
                            <a:srgbClr val="FFFFFF"/>
                          </a:solidFill>
                          <a:latin typeface="Yu Gothic UI"/>
                          <a:ea typeface="Yu Gothic UI"/>
                          <a:cs typeface="Yu Gothic UI"/>
                        </a:rPr>
                        <a:t>商品</a:t>
                      </a:r>
                    </a:p>
                  </a:txBody>
                  <a:tcPr marL="82296" marR="54864" marT="27432" marB="27432" anchor="ctr">
                    <a:solidFill>
                      <a:srgbClr val="1435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 i="0">
                          <a:solidFill>
                            <a:srgbClr val="FFFFFF"/>
                          </a:solidFill>
                          <a:latin typeface="Yu Gothic UI"/>
                          <a:ea typeface="Yu Gothic UI"/>
                          <a:cs typeface="Yu Gothic UI"/>
                        </a:rPr>
                        <a:t>価格帯</a:t>
                      </a:r>
                    </a:p>
                  </a:txBody>
                  <a:tcPr marL="82296" marR="54864" marT="27432" marB="27432" anchor="ctr">
                    <a:solidFill>
                      <a:srgbClr val="1435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 i="0">
                          <a:solidFill>
                            <a:srgbClr val="FFFFFF"/>
                          </a:solidFill>
                          <a:latin typeface="Yu Gothic UI"/>
                          <a:ea typeface="Yu Gothic UI"/>
                          <a:cs typeface="Yu Gothic UI"/>
                        </a:rPr>
                        <a:t>収益の性質</a:t>
                      </a:r>
                    </a:p>
                  </a:txBody>
                  <a:tcPr marL="82296" marR="54864" marT="27432" marB="27432" anchor="ctr">
                    <a:solidFill>
                      <a:srgbClr val="14356B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050" b="1" i="0">
                          <a:solidFill>
                            <a:srgbClr val="14356B"/>
                          </a:solidFill>
                          <a:latin typeface="Yu Gothic UI"/>
                          <a:ea typeface="Yu Gothic UI"/>
                          <a:cs typeface="Yu Gothic UI"/>
                        </a:rPr>
                        <a:t>短期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 i="0">
                          <a:solidFill>
                            <a:srgbClr val="1A1F26"/>
                          </a:solidFill>
                          <a:latin typeface="Yu Gothic UI"/>
                          <a:ea typeface="Yu Gothic UI"/>
                          <a:cs typeface="Yu Gothic UI"/>
                        </a:rPr>
                        <a:t>Mini / Standard Audit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 i="0">
                          <a:solidFill>
                            <a:srgbClr val="1A1F26"/>
                          </a:solidFill>
                          <a:latin typeface="Yu Gothic UI"/>
                          <a:ea typeface="Yu Gothic UI"/>
                          <a:cs typeface="Yu Gothic UI"/>
                        </a:rPr>
                        <a:t>10〜50万円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 i="0">
                          <a:solidFill>
                            <a:srgbClr val="1A1F26"/>
                          </a:solidFill>
                          <a:latin typeface="Yu Gothic UI"/>
                          <a:ea typeface="Yu Gothic UI"/>
                          <a:cs typeface="Yu Gothic UI"/>
                        </a:rPr>
                        <a:t>初回診断収益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050" b="1" i="0">
                          <a:solidFill>
                            <a:srgbClr val="14356B"/>
                          </a:solidFill>
                          <a:latin typeface="Yu Gothic UI"/>
                          <a:ea typeface="Yu Gothic UI"/>
                          <a:cs typeface="Yu Gothic UI"/>
                        </a:rPr>
                        <a:t>短期</a:t>
                      </a:r>
                    </a:p>
                  </a:txBody>
                  <a:tcPr marL="82296" marR="54864" marT="18288" marB="18288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 i="0">
                          <a:solidFill>
                            <a:srgbClr val="1A1F26"/>
                          </a:solidFill>
                          <a:latin typeface="Yu Gothic UI"/>
                          <a:ea typeface="Yu Gothic UI"/>
                          <a:cs typeface="Yu Gothic UI"/>
                        </a:rPr>
                        <a:t>HackⅡ Managed Monitor</a:t>
                      </a:r>
                    </a:p>
                  </a:txBody>
                  <a:tcPr marL="82296" marR="54864" marT="18288" marB="18288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 i="0">
                          <a:solidFill>
                            <a:srgbClr val="1A1F26"/>
                          </a:solidFill>
                          <a:latin typeface="Yu Gothic UI"/>
                          <a:ea typeface="Yu Gothic UI"/>
                          <a:cs typeface="Yu Gothic UI"/>
                        </a:rPr>
                        <a:t>初期50万円＋月30万円</a:t>
                      </a:r>
                    </a:p>
                  </a:txBody>
                  <a:tcPr marL="82296" marR="54864" marT="18288" marB="18288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 i="0">
                          <a:solidFill>
                            <a:srgbClr val="1A1F26"/>
                          </a:solidFill>
                          <a:latin typeface="Yu Gothic UI"/>
                          <a:ea typeface="Yu Gothic UI"/>
                          <a:cs typeface="Yu Gothic UI"/>
                        </a:rPr>
                        <a:t>継続月額</a:t>
                      </a:r>
                    </a:p>
                  </a:txBody>
                  <a:tcPr marL="82296" marR="54864" marT="18288" marB="18288" anchor="ctr">
                    <a:solidFill>
                      <a:srgbClr val="F4F6F9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050" b="1" i="0">
                          <a:solidFill>
                            <a:srgbClr val="14356B"/>
                          </a:solidFill>
                          <a:latin typeface="Yu Gothic UI"/>
                          <a:ea typeface="Yu Gothic UI"/>
                          <a:cs typeface="Yu Gothic UI"/>
                        </a:rPr>
                        <a:t>中期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 i="0">
                          <a:solidFill>
                            <a:srgbClr val="1A1F26"/>
                          </a:solidFill>
                          <a:latin typeface="Yu Gothic UI"/>
                          <a:ea typeface="Yu Gothic UI"/>
                          <a:cs typeface="Yu Gothic UI"/>
                        </a:rPr>
                        <a:t>PPC Readiness診断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 i="0">
                          <a:solidFill>
                            <a:srgbClr val="1A1F26"/>
                          </a:solidFill>
                          <a:latin typeface="Yu Gothic UI"/>
                          <a:ea typeface="Yu Gothic UI"/>
                          <a:cs typeface="Yu Gothic UI"/>
                        </a:rPr>
                        <a:t>50万円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 i="0">
                          <a:solidFill>
                            <a:srgbClr val="1A1F26"/>
                          </a:solidFill>
                          <a:latin typeface="Yu Gothic UI"/>
                          <a:ea typeface="Yu Gothic UI"/>
                          <a:cs typeface="Yu Gothic UI"/>
                        </a:rPr>
                        <a:t>診断・設計収益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050" b="1" i="0">
                          <a:solidFill>
                            <a:srgbClr val="14356B"/>
                          </a:solidFill>
                          <a:latin typeface="Yu Gothic UI"/>
                          <a:ea typeface="Yu Gothic UI"/>
                          <a:cs typeface="Yu Gothic UI"/>
                        </a:rPr>
                        <a:t>中期</a:t>
                      </a:r>
                    </a:p>
                  </a:txBody>
                  <a:tcPr marL="82296" marR="54864" marT="18288" marB="18288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 i="0">
                          <a:solidFill>
                            <a:srgbClr val="1A1F26"/>
                          </a:solidFill>
                          <a:latin typeface="Yu Gothic UI"/>
                          <a:ea typeface="Yu Gothic UI"/>
                          <a:cs typeface="Yu Gothic UI"/>
                        </a:rPr>
                        <a:t>AI Access Gateway PoC</a:t>
                      </a:r>
                    </a:p>
                  </a:txBody>
                  <a:tcPr marL="82296" marR="54864" marT="18288" marB="18288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 i="0">
                          <a:solidFill>
                            <a:srgbClr val="1A1F26"/>
                          </a:solidFill>
                          <a:latin typeface="Yu Gothic UI"/>
                          <a:ea typeface="Yu Gothic UI"/>
                          <a:cs typeface="Yu Gothic UI"/>
                        </a:rPr>
                        <a:t>100〜300万円</a:t>
                      </a:r>
                    </a:p>
                  </a:txBody>
                  <a:tcPr marL="82296" marR="54864" marT="18288" marB="18288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 i="0">
                          <a:solidFill>
                            <a:srgbClr val="1A1F26"/>
                          </a:solidFill>
                          <a:latin typeface="Yu Gothic UI"/>
                          <a:ea typeface="Yu Gothic UI"/>
                          <a:cs typeface="Yu Gothic UI"/>
                        </a:rPr>
                        <a:t>PoC収益</a:t>
                      </a:r>
                    </a:p>
                  </a:txBody>
                  <a:tcPr marL="82296" marR="54864" marT="18288" marB="18288" anchor="ctr">
                    <a:solidFill>
                      <a:srgbClr val="F4F6F9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050" b="1" i="0">
                          <a:solidFill>
                            <a:srgbClr val="14356B"/>
                          </a:solidFill>
                          <a:latin typeface="Yu Gothic UI"/>
                          <a:ea typeface="Yu Gothic UI"/>
                          <a:cs typeface="Yu Gothic UI"/>
                        </a:rPr>
                        <a:t>中期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 i="0">
                          <a:solidFill>
                            <a:srgbClr val="1A1F26"/>
                          </a:solidFill>
                          <a:latin typeface="Yu Gothic UI"/>
                          <a:ea typeface="Yu Gothic UI"/>
                          <a:cs typeface="Yu Gothic UI"/>
                        </a:rPr>
                        <a:t>Gateway月額運用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 i="0">
                          <a:solidFill>
                            <a:srgbClr val="1A1F26"/>
                          </a:solidFill>
                          <a:latin typeface="Yu Gothic UI"/>
                          <a:ea typeface="Yu Gothic UI"/>
                          <a:cs typeface="Yu Gothic UI"/>
                        </a:rPr>
                        <a:t>月30〜50万円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 i="0">
                          <a:solidFill>
                            <a:srgbClr val="1A1F26"/>
                          </a:solidFill>
                          <a:latin typeface="Yu Gothic UI"/>
                          <a:ea typeface="Yu Gothic UI"/>
                          <a:cs typeface="Yu Gothic UI"/>
                        </a:rPr>
                        <a:t>継続月額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050" b="1" i="0">
                          <a:solidFill>
                            <a:srgbClr val="14356B"/>
                          </a:solidFill>
                          <a:latin typeface="Yu Gothic UI"/>
                          <a:ea typeface="Yu Gothic UI"/>
                          <a:cs typeface="Yu Gothic UI"/>
                        </a:rPr>
                        <a:t>長期</a:t>
                      </a:r>
                    </a:p>
                  </a:txBody>
                  <a:tcPr marL="82296" marR="54864" marT="18288" marB="18288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 i="0">
                          <a:solidFill>
                            <a:srgbClr val="1A1F26"/>
                          </a:solidFill>
                          <a:latin typeface="Yu Gothic UI"/>
                          <a:ea typeface="Yu Gothic UI"/>
                          <a:cs typeface="Yu Gothic UI"/>
                        </a:rPr>
                        <a:t>Licensed API / MCP Feed</a:t>
                      </a:r>
                    </a:p>
                  </a:txBody>
                  <a:tcPr marL="82296" marR="54864" marT="18288" marB="18288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 i="0">
                          <a:solidFill>
                            <a:srgbClr val="1A1F26"/>
                          </a:solidFill>
                          <a:latin typeface="Yu Gothic UI"/>
                          <a:ea typeface="Yu Gothic UI"/>
                          <a:cs typeface="Yu Gothic UI"/>
                        </a:rPr>
                        <a:t>月30〜300万円＋従量</a:t>
                      </a:r>
                    </a:p>
                  </a:txBody>
                  <a:tcPr marL="82296" marR="54864" marT="18288" marB="18288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 i="0">
                          <a:solidFill>
                            <a:srgbClr val="1A1F26"/>
                          </a:solidFill>
                          <a:latin typeface="Yu Gothic UI"/>
                          <a:ea typeface="Yu Gothic UI"/>
                          <a:cs typeface="Yu Gothic UI"/>
                        </a:rPr>
                        <a:t>高単価BtoB</a:t>
                      </a:r>
                    </a:p>
                  </a:txBody>
                  <a:tcPr marL="82296" marR="54864" marT="18288" marB="18288" anchor="ctr">
                    <a:solidFill>
                      <a:srgbClr val="F4F6F9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050" b="1" i="0">
                          <a:solidFill>
                            <a:srgbClr val="14356B"/>
                          </a:solidFill>
                          <a:latin typeface="Yu Gothic UI"/>
                          <a:ea typeface="Yu Gothic UI"/>
                          <a:cs typeface="Yu Gothic UI"/>
                        </a:rPr>
                        <a:t>長期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 i="0">
                          <a:solidFill>
                            <a:srgbClr val="1A1F26"/>
                          </a:solidFill>
                          <a:latin typeface="Yu Gothic UI"/>
                          <a:ea typeface="Yu Gothic UI"/>
                          <a:cs typeface="Yu Gothic UI"/>
                        </a:rPr>
                        <a:t>Revenue Share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 i="0">
                          <a:solidFill>
                            <a:srgbClr val="1A1F26"/>
                          </a:solidFill>
                          <a:latin typeface="Yu Gothic UI"/>
                          <a:ea typeface="Yu Gothic UI"/>
                          <a:cs typeface="Yu Gothic UI"/>
                        </a:rPr>
                        <a:t>20〜30%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 i="0">
                          <a:solidFill>
                            <a:srgbClr val="1A1F26"/>
                          </a:solidFill>
                          <a:latin typeface="Yu Gothic UI"/>
                          <a:ea typeface="Yu Gothic UI"/>
                          <a:cs typeface="Yu Gothic UI"/>
                        </a:rPr>
                        <a:t>AI利用料からの手数料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40080" y="5943600"/>
            <a:ext cx="108813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5B6472"/>
                </a:solidFill>
                <a:latin typeface="Yu Gothic UI"/>
                <a:ea typeface="Yu Gothic UI"/>
                <a:cs typeface="Yu Gothic UI"/>
              </a:rPr>
              <a:t>※ 価格はすべて税別・仮価格（要確認）。税区分・契約条件は法務確認後に確定します。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7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 i="0" spc="220">
                <a:solidFill>
                  <a:srgbClr val="2A63C7"/>
                </a:solidFill>
                <a:latin typeface="Arial"/>
                <a:ea typeface="Arial"/>
                <a:cs typeface="Arial"/>
              </a:rPr>
              <a:t>16 — ROADMAP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49808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4356B"/>
                </a:solidFill>
                <a:latin typeface="Yu Gothic UI"/>
                <a:ea typeface="Yu Gothic UI"/>
                <a:cs typeface="Yu Gothic UI"/>
              </a:rPr>
              <a:t>ロードマップ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81328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B6472"/>
                </a:solidFill>
                <a:latin typeface="Yu Gothic UI"/>
                <a:ea typeface="Yu Gothic UI"/>
                <a:cs typeface="Yu Gothic UI"/>
              </a:rPr>
              <a:t>0〜3ヶ月でHackⅡを売上化、1年でPPC PoC、3年でAIコンテンツ利用課金インフラへ。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6446520"/>
            <a:ext cx="10908792" cy="0"/>
          </a:xfrm>
          <a:prstGeom prst="bentConnector3">
            <a:avLst/>
          </a:prstGeom>
          <a:ln w="9525">
            <a:solidFill>
              <a:srgbClr val="DDE1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6" name="Picture 5" descr="logo_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510528"/>
            <a:ext cx="199505" cy="21945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32688" y="6492240"/>
            <a:ext cx="45720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 i="0">
                <a:solidFill>
                  <a:srgbClr val="5B6472"/>
                </a:solidFill>
                <a:latin typeface="Yu Gothic UI"/>
                <a:ea typeface="Yu Gothic UI"/>
                <a:cs typeface="Yu Gothic UI"/>
              </a:rPr>
              <a:t>Trillion Bank  ｜  Company Profile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38160" y="6492240"/>
            <a:ext cx="3410712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850" b="0" i="0">
                <a:solidFill>
                  <a:srgbClr val="5B6472"/>
                </a:solidFill>
                <a:latin typeface="Arial"/>
                <a:ea typeface="Arial"/>
                <a:cs typeface="Arial"/>
              </a:rPr>
              <a:t>17 / 23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38160" y="292608"/>
            <a:ext cx="3410712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750" b="0" i="0" spc="150">
                <a:solidFill>
                  <a:srgbClr val="5B6472"/>
                </a:solidFill>
                <a:latin typeface="Arial"/>
                <a:ea typeface="Arial"/>
                <a:cs typeface="Arial"/>
              </a:rPr>
              <a:t>CONFIDENTIAL DRAFT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40080" y="2103120"/>
          <a:ext cx="10881359" cy="24688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60170"/>
                <a:gridCol w="2511083"/>
                <a:gridCol w="2511083"/>
                <a:gridCol w="2301826"/>
                <a:gridCol w="2197197"/>
              </a:tblGrid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050" b="1" i="0">
                          <a:solidFill>
                            <a:srgbClr val="FFFFFF"/>
                          </a:solidFill>
                          <a:latin typeface="Yu Gothic UI"/>
                          <a:ea typeface="Yu Gothic UI"/>
                          <a:cs typeface="Yu Gothic UI"/>
                        </a:rPr>
                        <a:t>時期</a:t>
                      </a:r>
                    </a:p>
                  </a:txBody>
                  <a:tcPr marL="82296" marR="54864" marT="27432" marB="27432" anchor="ctr">
                    <a:solidFill>
                      <a:srgbClr val="1435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 i="0">
                          <a:solidFill>
                            <a:srgbClr val="FFFFFF"/>
                          </a:solidFill>
                          <a:latin typeface="Yu Gothic UI"/>
                          <a:ea typeface="Yu Gothic UI"/>
                          <a:cs typeface="Yu Gothic UI"/>
                        </a:rPr>
                        <a:t>HackⅡ</a:t>
                      </a:r>
                    </a:p>
                  </a:txBody>
                  <a:tcPr marL="82296" marR="54864" marT="27432" marB="27432" anchor="ctr">
                    <a:solidFill>
                      <a:srgbClr val="1435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 i="0">
                          <a:solidFill>
                            <a:srgbClr val="FFFFFF"/>
                          </a:solidFill>
                          <a:latin typeface="Yu Gothic UI"/>
                          <a:ea typeface="Yu Gothic UI"/>
                          <a:cs typeface="Yu Gothic UI"/>
                        </a:rPr>
                        <a:t>Adctor / PPC</a:t>
                      </a:r>
                    </a:p>
                  </a:txBody>
                  <a:tcPr marL="82296" marR="54864" marT="27432" marB="27432" anchor="ctr">
                    <a:solidFill>
                      <a:srgbClr val="1435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 i="0">
                          <a:solidFill>
                            <a:srgbClr val="FFFFFF"/>
                          </a:solidFill>
                          <a:latin typeface="Yu Gothic UI"/>
                          <a:ea typeface="Yu Gothic UI"/>
                          <a:cs typeface="Yu Gothic UI"/>
                        </a:rPr>
                        <a:t>Ledger / Citation</a:t>
                      </a:r>
                    </a:p>
                  </a:txBody>
                  <a:tcPr marL="82296" marR="54864" marT="27432" marB="27432" anchor="ctr">
                    <a:solidFill>
                      <a:srgbClr val="1435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 i="0">
                          <a:solidFill>
                            <a:srgbClr val="FFFFFF"/>
                          </a:solidFill>
                          <a:latin typeface="Yu Gothic UI"/>
                          <a:ea typeface="Yu Gothic UI"/>
                          <a:cs typeface="Yu Gothic UI"/>
                        </a:rPr>
                        <a:t>事業目標</a:t>
                      </a:r>
                    </a:p>
                  </a:txBody>
                  <a:tcPr marL="82296" marR="54864" marT="27432" marB="27432" anchor="ctr">
                    <a:solidFill>
                      <a:srgbClr val="14356B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000" b="1" i="0">
                          <a:solidFill>
                            <a:srgbClr val="14356B"/>
                          </a:solidFill>
                          <a:latin typeface="Yu Gothic UI"/>
                          <a:ea typeface="Yu Gothic UI"/>
                          <a:cs typeface="Yu Gothic UI"/>
                        </a:rPr>
                        <a:t>0〜3ヶ月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1A1F26"/>
                          </a:solidFill>
                          <a:latin typeface="Yu Gothic UI"/>
                          <a:ea typeface="Yu Gothic UI"/>
                          <a:cs typeface="Yu Gothic UI"/>
                        </a:rPr>
                        <a:t>MVP・初回診断・有料β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1A1F26"/>
                          </a:solidFill>
                          <a:latin typeface="Yu Gothic UI"/>
                          <a:ea typeface="Yu Gothic UI"/>
                          <a:cs typeface="Yu Gothic UI"/>
                        </a:rPr>
                        <a:t>PPC PoC設計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1A1F26"/>
                          </a:solidFill>
                          <a:latin typeface="Yu Gothic UI"/>
                          <a:ea typeface="Yu Gothic UI"/>
                          <a:cs typeface="Yu Gothic UI"/>
                        </a:rPr>
                        <a:t>Usage Ledger簡易設計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1A1F26"/>
                          </a:solidFill>
                          <a:latin typeface="Yu Gothic UI"/>
                          <a:ea typeface="Yu Gothic UI"/>
                          <a:cs typeface="Yu Gothic UI"/>
                        </a:rPr>
                        <a:t>初期売上・LOI獲得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000" b="1" i="0">
                          <a:solidFill>
                            <a:srgbClr val="14356B"/>
                          </a:solidFill>
                          <a:latin typeface="Yu Gothic UI"/>
                          <a:ea typeface="Yu Gothic UI"/>
                          <a:cs typeface="Yu Gothic UI"/>
                        </a:rPr>
                        <a:t>3〜6ヶ月</a:t>
                      </a:r>
                    </a:p>
                  </a:txBody>
                  <a:tcPr marL="82296" marR="54864" marT="18288" marB="18288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1A1F26"/>
                          </a:solidFill>
                          <a:latin typeface="Yu Gothic UI"/>
                          <a:ea typeface="Yu Gothic UI"/>
                          <a:cs typeface="Yu Gothic UI"/>
                        </a:rPr>
                        <a:t>Managed Monitor提供</a:t>
                      </a:r>
                    </a:p>
                  </a:txBody>
                  <a:tcPr marL="82296" marR="54864" marT="18288" marB="18288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1A1F26"/>
                          </a:solidFill>
                          <a:latin typeface="Yu Gothic UI"/>
                          <a:ea typeface="Yu Gothic UI"/>
                          <a:cs typeface="Yu Gothic UI"/>
                        </a:rPr>
                        <a:t>PPC Readiness診断</a:t>
                      </a:r>
                    </a:p>
                  </a:txBody>
                  <a:tcPr marL="82296" marR="54864" marT="18288" marB="18288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1A1F26"/>
                          </a:solidFill>
                          <a:latin typeface="Yu Gothic UI"/>
                          <a:ea typeface="Yu Gothic UI"/>
                          <a:cs typeface="Yu Gothic UI"/>
                        </a:rPr>
                        <a:t>ID設計・月次CSV</a:t>
                      </a:r>
                    </a:p>
                  </a:txBody>
                  <a:tcPr marL="82296" marR="54864" marT="18288" marB="18288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1A1F26"/>
                          </a:solidFill>
                          <a:latin typeface="Yu Gothic UI"/>
                          <a:ea typeface="Yu Gothic UI"/>
                          <a:cs typeface="Yu Gothic UI"/>
                        </a:rPr>
                        <a:t>月額契約化</a:t>
                      </a:r>
                    </a:p>
                  </a:txBody>
                  <a:tcPr marL="82296" marR="54864" marT="18288" marB="18288" anchor="ctr">
                    <a:solidFill>
                      <a:srgbClr val="F4F6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000" b="1" i="0">
                          <a:solidFill>
                            <a:srgbClr val="14356B"/>
                          </a:solidFill>
                          <a:latin typeface="Yu Gothic UI"/>
                          <a:ea typeface="Yu Gothic UI"/>
                          <a:cs typeface="Yu Gothic UI"/>
                        </a:rPr>
                        <a:t>6〜12ヶ月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1A1F26"/>
                          </a:solidFill>
                          <a:latin typeface="Yu Gothic UI"/>
                          <a:ea typeface="Yu Gothic UI"/>
                          <a:cs typeface="Yu Gothic UI"/>
                        </a:rPr>
                        <a:t>3〜10社導入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1A1F26"/>
                          </a:solidFill>
                          <a:latin typeface="Yu Gothic UI"/>
                          <a:ea typeface="Yu Gothic UI"/>
                          <a:cs typeface="Yu Gothic UI"/>
                        </a:rPr>
                        <a:t>1ドメインPoC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1A1F26"/>
                          </a:solidFill>
                          <a:latin typeface="Yu Gothic UI"/>
                          <a:ea typeface="Yu Gothic UI"/>
                          <a:cs typeface="Yu Gothic UI"/>
                        </a:rPr>
                        <a:t>監査ログ・請求レポート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1A1F26"/>
                          </a:solidFill>
                          <a:latin typeface="Yu Gothic UI"/>
                          <a:ea typeface="Yu Gothic UI"/>
                          <a:cs typeface="Yu Gothic UI"/>
                        </a:rPr>
                        <a:t>国内利益化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000" b="1" i="0">
                          <a:solidFill>
                            <a:srgbClr val="14356B"/>
                          </a:solidFill>
                          <a:latin typeface="Yu Gothic UI"/>
                          <a:ea typeface="Yu Gothic UI"/>
                          <a:cs typeface="Yu Gothic UI"/>
                        </a:rPr>
                        <a:t>1〜3年</a:t>
                      </a:r>
                    </a:p>
                  </a:txBody>
                  <a:tcPr marL="82296" marR="54864" marT="18288" marB="18288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1A1F26"/>
                          </a:solidFill>
                          <a:latin typeface="Yu Gothic UI"/>
                          <a:ea typeface="Yu Gothic UI"/>
                          <a:cs typeface="Yu Gothic UI"/>
                        </a:rPr>
                        <a:t>Enterprise / Agency展開</a:t>
                      </a:r>
                    </a:p>
                  </a:txBody>
                  <a:tcPr marL="82296" marR="54864" marT="18288" marB="18288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1A1F26"/>
                          </a:solidFill>
                          <a:latin typeface="Yu Gothic UI"/>
                          <a:ea typeface="Yu Gothic UI"/>
                          <a:cs typeface="Yu Gothic UI"/>
                        </a:rPr>
                        <a:t>Licensed API / MCP Feed</a:t>
                      </a:r>
                    </a:p>
                  </a:txBody>
                  <a:tcPr marL="82296" marR="54864" marT="18288" marB="18288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1A1F26"/>
                          </a:solidFill>
                          <a:latin typeface="Yu Gothic UI"/>
                          <a:ea typeface="Yu Gothic UI"/>
                          <a:cs typeface="Yu Gothic UI"/>
                        </a:rPr>
                        <a:t>Citation Ledger</a:t>
                      </a:r>
                    </a:p>
                  </a:txBody>
                  <a:tcPr marL="82296" marR="54864" marT="18288" marB="18288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1A1F26"/>
                          </a:solidFill>
                          <a:latin typeface="Yu Gothic UI"/>
                          <a:ea typeface="Yu Gothic UI"/>
                          <a:cs typeface="Yu Gothic UI"/>
                        </a:rPr>
                        <a:t>高単価BtoB化</a:t>
                      </a:r>
                    </a:p>
                  </a:txBody>
                  <a:tcPr marL="82296" marR="54864" marT="18288" marB="18288" anchor="ctr">
                    <a:solidFill>
                      <a:srgbClr val="F4F6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000" b="1" i="0">
                          <a:solidFill>
                            <a:srgbClr val="14356B"/>
                          </a:solidFill>
                          <a:latin typeface="Yu Gothic UI"/>
                          <a:ea typeface="Yu Gothic UI"/>
                          <a:cs typeface="Yu Gothic UI"/>
                        </a:rPr>
                        <a:t>3年後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1A1F26"/>
                          </a:solidFill>
                          <a:latin typeface="Yu Gothic UI"/>
                          <a:ea typeface="Yu Gothic UI"/>
                          <a:cs typeface="Yu Gothic UI"/>
                        </a:rPr>
                        <a:t>グローバル展開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1A1F26"/>
                          </a:solidFill>
                          <a:latin typeface="Yu Gothic UI"/>
                          <a:ea typeface="Yu Gothic UI"/>
                          <a:cs typeface="Yu Gothic UI"/>
                        </a:rPr>
                        <a:t>Marketplace化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1A1F26"/>
                          </a:solidFill>
                          <a:latin typeface="Yu Gothic UI"/>
                          <a:ea typeface="Yu Gothic UI"/>
                          <a:cs typeface="Yu Gothic UI"/>
                        </a:rPr>
                        <a:t>Revenue Share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1A1F26"/>
                          </a:solidFill>
                          <a:latin typeface="Yu Gothic UI"/>
                          <a:ea typeface="Yu Gothic UI"/>
                          <a:cs typeface="Yu Gothic UI"/>
                        </a:rPr>
                        <a:t>AIコンテンツ流通基盤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7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 i="0" spc="220">
                <a:solidFill>
                  <a:srgbClr val="2A63C7"/>
                </a:solidFill>
                <a:latin typeface="Arial"/>
                <a:ea typeface="Arial"/>
                <a:cs typeface="Arial"/>
              </a:rPr>
              <a:t>17 — STRENGTH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49808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4356B"/>
                </a:solidFill>
                <a:latin typeface="Yu Gothic UI"/>
                <a:ea typeface="Yu Gothic UI"/>
                <a:cs typeface="Yu Gothic UI"/>
              </a:rPr>
              <a:t>強み・差別化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81328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B6472"/>
                </a:solidFill>
                <a:latin typeface="Yu Gothic UI"/>
                <a:ea typeface="Yu Gothic UI"/>
                <a:cs typeface="Yu Gothic UI"/>
              </a:rPr>
              <a:t>AI検索測定からAI利用ログ・請求分配までを、一気通貫で設計できます。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6446520"/>
            <a:ext cx="10908792" cy="0"/>
          </a:xfrm>
          <a:prstGeom prst="bentConnector3">
            <a:avLst/>
          </a:prstGeom>
          <a:ln w="9525">
            <a:solidFill>
              <a:srgbClr val="DDE1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6" name="Picture 5" descr="logo_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510528"/>
            <a:ext cx="199505" cy="21945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32688" y="6492240"/>
            <a:ext cx="45720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 i="0">
                <a:solidFill>
                  <a:srgbClr val="5B6472"/>
                </a:solidFill>
                <a:latin typeface="Yu Gothic UI"/>
                <a:ea typeface="Yu Gothic UI"/>
                <a:cs typeface="Yu Gothic UI"/>
              </a:rPr>
              <a:t>Trillion Bank  ｜  Company Profile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38160" y="6492240"/>
            <a:ext cx="3410712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850" b="0" i="0">
                <a:solidFill>
                  <a:srgbClr val="5B6472"/>
                </a:solidFill>
                <a:latin typeface="Arial"/>
                <a:ea typeface="Arial"/>
                <a:cs typeface="Arial"/>
              </a:rPr>
              <a:t>18 / 23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38160" y="292608"/>
            <a:ext cx="3410712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750" b="0" i="0" spc="150">
                <a:solidFill>
                  <a:srgbClr val="5B6472"/>
                </a:solidFill>
                <a:latin typeface="Arial"/>
                <a:ea typeface="Arial"/>
                <a:cs typeface="Arial"/>
              </a:rPr>
              <a:t>CONFIDENTIAL DRAFT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103120"/>
            <a:ext cx="3502152" cy="13716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D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103120"/>
            <a:ext cx="82296" cy="1371600"/>
          </a:xfrm>
          <a:prstGeom prst="rect">
            <a:avLst/>
          </a:prstGeom>
          <a:solidFill>
            <a:srgbClr val="C5A0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7" y="2267712"/>
            <a:ext cx="3099816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14356B"/>
                </a:solidFill>
                <a:latin typeface="Yu Gothic UI"/>
                <a:ea typeface="Yu Gothic UI"/>
                <a:cs typeface="Yu Gothic UI"/>
              </a:rPr>
              <a:t>AI検索測定の入口を持つ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5B6472"/>
                </a:solidFill>
                <a:latin typeface="Yu Gothic UI"/>
                <a:ea typeface="Yu Gothic UI"/>
                <a:cs typeface="Yu Gothic UI"/>
              </a:rPr>
              <a:t>HackⅡで企業のAI検索上の課題を可視化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25112" y="2103120"/>
            <a:ext cx="3502152" cy="13716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D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25112" y="2103120"/>
            <a:ext cx="82296" cy="1371600"/>
          </a:xfrm>
          <a:prstGeom prst="rect">
            <a:avLst/>
          </a:prstGeom>
          <a:solidFill>
            <a:srgbClr val="C5A0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26280" y="2267712"/>
            <a:ext cx="3099816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14356B"/>
                </a:solidFill>
                <a:latin typeface="Yu Gothic UI"/>
                <a:ea typeface="Yu Gothic UI"/>
                <a:cs typeface="Yu Gothic UI"/>
              </a:rPr>
              <a:t>中長期のインフラ構想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5B6472"/>
                </a:solidFill>
                <a:latin typeface="Yu Gothic UI"/>
                <a:ea typeface="Yu Gothic UI"/>
                <a:cs typeface="Yu Gothic UI"/>
              </a:rPr>
              <a:t>Adctor / Gatewayで利用ログ・請求分配へ拡張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10144" y="2103120"/>
            <a:ext cx="3502152" cy="13716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D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10144" y="2103120"/>
            <a:ext cx="82296" cy="1371600"/>
          </a:xfrm>
          <a:prstGeom prst="rect">
            <a:avLst/>
          </a:prstGeom>
          <a:solidFill>
            <a:srgbClr val="C5A0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11312" y="2267712"/>
            <a:ext cx="3099816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14356B"/>
                </a:solidFill>
                <a:latin typeface="Yu Gothic UI"/>
                <a:ea typeface="Yu Gothic UI"/>
                <a:cs typeface="Yu Gothic UI"/>
              </a:rPr>
              <a:t>契約・ログ・ID設計を重視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5B6472"/>
                </a:solidFill>
                <a:latin typeface="Yu Gothic UI"/>
                <a:ea typeface="Yu Gothic UI"/>
                <a:cs typeface="Yu Gothic UI"/>
              </a:rPr>
              <a:t>source_id・citation_token・license_id を初期から設計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3639311"/>
            <a:ext cx="3502152" cy="13716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D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0080" y="3639311"/>
            <a:ext cx="82296" cy="1371600"/>
          </a:xfrm>
          <a:prstGeom prst="rect">
            <a:avLst/>
          </a:prstGeom>
          <a:solidFill>
            <a:srgbClr val="C5A0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1247" y="3803903"/>
            <a:ext cx="3099816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14356B"/>
                </a:solidFill>
                <a:latin typeface="Yu Gothic UI"/>
                <a:ea typeface="Yu Gothic UI"/>
                <a:cs typeface="Yu Gothic UI"/>
              </a:rPr>
              <a:t>誇張しない説明方針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5B6472"/>
                </a:solidFill>
                <a:latin typeface="Yu Gothic UI"/>
                <a:ea typeface="Yu Gothic UI"/>
                <a:cs typeface="Yu Gothic UI"/>
              </a:rPr>
              <a:t>完全Bot識別・自動徴収・SEO影響ゼロを約束しない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25112" y="3639311"/>
            <a:ext cx="3502152" cy="13716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D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325112" y="3639311"/>
            <a:ext cx="82296" cy="1371600"/>
          </a:xfrm>
          <a:prstGeom prst="rect">
            <a:avLst/>
          </a:prstGeom>
          <a:solidFill>
            <a:srgbClr val="C5A0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26280" y="3803903"/>
            <a:ext cx="3099816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14356B"/>
                </a:solidFill>
                <a:latin typeface="Yu Gothic UI"/>
                <a:ea typeface="Yu Gothic UI"/>
                <a:cs typeface="Yu Gothic UI"/>
              </a:rPr>
              <a:t>代理店展開しやすい商材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5B6472"/>
                </a:solidFill>
                <a:latin typeface="Yu Gothic UI"/>
                <a:ea typeface="Yu Gothic UI"/>
                <a:cs typeface="Yu Gothic UI"/>
              </a:rPr>
              <a:t>既存SEO・広告・制作顧客にアップセル可能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10144" y="3639311"/>
            <a:ext cx="3502152" cy="13716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D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010144" y="3639311"/>
            <a:ext cx="82296" cy="1371600"/>
          </a:xfrm>
          <a:prstGeom prst="rect">
            <a:avLst/>
          </a:prstGeom>
          <a:solidFill>
            <a:srgbClr val="C5A0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11312" y="3803903"/>
            <a:ext cx="3099816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14356B"/>
                </a:solidFill>
                <a:latin typeface="Yu Gothic UI"/>
                <a:ea typeface="Yu Gothic UI"/>
                <a:cs typeface="Yu Gothic UI"/>
              </a:rPr>
              <a:t>専門情報領域へ拡張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5B6472"/>
                </a:solidFill>
                <a:latin typeface="Yu Gothic UI"/>
                <a:ea typeface="Yu Gothic UI"/>
                <a:cs typeface="Yu Gothic UI"/>
              </a:rPr>
              <a:t>メディア・専門DB・会員制サイトへ展開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0080" y="5559552"/>
            <a:ext cx="54864" cy="457200"/>
          </a:xfrm>
          <a:prstGeom prst="rect">
            <a:avLst/>
          </a:prstGeom>
          <a:solidFill>
            <a:srgbClr val="C5A0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2959" y="5532120"/>
            <a:ext cx="106984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14356B"/>
                </a:solidFill>
                <a:latin typeface="Yu Gothic UI"/>
                <a:ea typeface="Yu Gothic UI"/>
                <a:cs typeface="Yu Gothic UI"/>
              </a:rPr>
              <a:t>AI検索を測って終わりではなく、AIに使われる情報の価値を、利用ログ・請求・将来分配へつなげる。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7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 i="0" spc="220">
                <a:solidFill>
                  <a:srgbClr val="2A63C7"/>
                </a:solidFill>
                <a:latin typeface="Arial"/>
                <a:ea typeface="Arial"/>
                <a:cs typeface="Arial"/>
              </a:rPr>
              <a:t>18 — RISK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49808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4356B"/>
                </a:solidFill>
                <a:latin typeface="Yu Gothic UI"/>
                <a:ea typeface="Yu Gothic UI"/>
                <a:cs typeface="Yu Gothic UI"/>
              </a:rPr>
              <a:t>リスクと誠実な対応方針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81328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B6472"/>
                </a:solidFill>
                <a:latin typeface="Yu Gothic UI"/>
                <a:ea typeface="Yu Gothic UI"/>
                <a:cs typeface="Yu Gothic UI"/>
              </a:rPr>
              <a:t>不確実な領域だからこそ、初期PoCで“約束しない範囲”を明確にします。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6446520"/>
            <a:ext cx="10908792" cy="0"/>
          </a:xfrm>
          <a:prstGeom prst="bentConnector3">
            <a:avLst/>
          </a:prstGeom>
          <a:ln w="9525">
            <a:solidFill>
              <a:srgbClr val="DDE1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6" name="Picture 5" descr="logo_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510528"/>
            <a:ext cx="199505" cy="21945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32688" y="6492240"/>
            <a:ext cx="45720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 i="0">
                <a:solidFill>
                  <a:srgbClr val="5B6472"/>
                </a:solidFill>
                <a:latin typeface="Yu Gothic UI"/>
                <a:ea typeface="Yu Gothic UI"/>
                <a:cs typeface="Yu Gothic UI"/>
              </a:rPr>
              <a:t>Trillion Bank  ｜  Company Profile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38160" y="6492240"/>
            <a:ext cx="3410712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850" b="0" i="0">
                <a:solidFill>
                  <a:srgbClr val="5B6472"/>
                </a:solidFill>
                <a:latin typeface="Arial"/>
                <a:ea typeface="Arial"/>
                <a:cs typeface="Arial"/>
              </a:rPr>
              <a:t>19 / 23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38160" y="292608"/>
            <a:ext cx="3410712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750" b="0" i="0" spc="150">
                <a:solidFill>
                  <a:srgbClr val="5B6472"/>
                </a:solidFill>
                <a:latin typeface="Arial"/>
                <a:ea typeface="Arial"/>
                <a:cs typeface="Arial"/>
              </a:rPr>
              <a:t>CONFIDENTIAL DRAFT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40080" y="2103120"/>
          <a:ext cx="10881359" cy="267004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176272"/>
                <a:gridCol w="4570171"/>
                <a:gridCol w="4134916"/>
              </a:tblGrid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050" b="1" i="0">
                          <a:solidFill>
                            <a:srgbClr val="FFFFFF"/>
                          </a:solidFill>
                          <a:latin typeface="Yu Gothic UI"/>
                          <a:ea typeface="Yu Gothic UI"/>
                          <a:cs typeface="Yu Gothic UI"/>
                        </a:rPr>
                        <a:t>リスク</a:t>
                      </a:r>
                    </a:p>
                  </a:txBody>
                  <a:tcPr marL="82296" marR="54864" marT="27432" marB="27432" anchor="ctr">
                    <a:solidFill>
                      <a:srgbClr val="1435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 i="0">
                          <a:solidFill>
                            <a:srgbClr val="FFFFFF"/>
                          </a:solidFill>
                          <a:latin typeface="Yu Gothic UI"/>
                          <a:ea typeface="Yu Gothic UI"/>
                          <a:cs typeface="Yu Gothic UI"/>
                        </a:rPr>
                        <a:t>内容</a:t>
                      </a:r>
                    </a:p>
                  </a:txBody>
                  <a:tcPr marL="82296" marR="54864" marT="27432" marB="27432" anchor="ctr">
                    <a:solidFill>
                      <a:srgbClr val="1435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 i="0">
                          <a:solidFill>
                            <a:srgbClr val="FFFFFF"/>
                          </a:solidFill>
                          <a:latin typeface="Yu Gothic UI"/>
                          <a:ea typeface="Yu Gothic UI"/>
                          <a:cs typeface="Yu Gothic UI"/>
                        </a:rPr>
                        <a:t>対応方針</a:t>
                      </a:r>
                    </a:p>
                  </a:txBody>
                  <a:tcPr marL="82296" marR="54864" marT="27432" marB="27432" anchor="ctr">
                    <a:solidFill>
                      <a:srgbClr val="14356B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000" b="1" i="0">
                          <a:solidFill>
                            <a:srgbClr val="14356B"/>
                          </a:solidFill>
                          <a:latin typeface="Yu Gothic UI"/>
                          <a:ea typeface="Yu Gothic UI"/>
                          <a:cs typeface="Yu Gothic UI"/>
                        </a:rPr>
                        <a:t>AI Bot完全識別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1A1F26"/>
                          </a:solidFill>
                          <a:latin typeface="Yu Gothic UI"/>
                          <a:ea typeface="Yu Gothic UI"/>
                          <a:cs typeface="Yu Gothic UI"/>
                        </a:rPr>
                        <a:t>偽装・非協調Bot・プロキシ問題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1A1F26"/>
                          </a:solidFill>
                          <a:latin typeface="Yu Gothic UI"/>
                          <a:ea typeface="Yu Gothic UI"/>
                          <a:cs typeface="Yu Gothic UI"/>
                        </a:rPr>
                        <a:t>既知Bot・契約済み事業者・不審アクセスを分類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000" b="1" i="0">
                          <a:solidFill>
                            <a:srgbClr val="14356B"/>
                          </a:solidFill>
                          <a:latin typeface="Yu Gothic UI"/>
                          <a:ea typeface="Yu Gothic UI"/>
                          <a:cs typeface="Yu Gothic UI"/>
                        </a:rPr>
                        <a:t>SEO影響</a:t>
                      </a:r>
                    </a:p>
                  </a:txBody>
                  <a:tcPr marL="82296" marR="54864" marT="18288" marB="18288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1A1F26"/>
                          </a:solidFill>
                          <a:latin typeface="Yu Gothic UI"/>
                          <a:ea typeface="Yu Gothic UI"/>
                          <a:cs typeface="Yu Gothic UI"/>
                        </a:rPr>
                        <a:t>Googlebot誤遮断・レイテンシー・クローキング</a:t>
                      </a:r>
                    </a:p>
                  </a:txBody>
                  <a:tcPr marL="82296" marR="54864" marT="18288" marB="18288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1A1F26"/>
                          </a:solidFill>
                          <a:latin typeface="Yu Gothic UI"/>
                          <a:ea typeface="Yu Gothic UI"/>
                          <a:cs typeface="Yu Gothic UI"/>
                        </a:rPr>
                        <a:t>限定パスPoC・検索Bot allowlist・専門レビュー</a:t>
                      </a:r>
                    </a:p>
                  </a:txBody>
                  <a:tcPr marL="82296" marR="54864" marT="18288" marB="18288" anchor="ctr">
                    <a:solidFill>
                      <a:srgbClr val="F4F6F9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000" b="1" i="0">
                          <a:solidFill>
                            <a:srgbClr val="14356B"/>
                          </a:solidFill>
                          <a:latin typeface="Yu Gothic UI"/>
                          <a:ea typeface="Yu Gothic UI"/>
                          <a:cs typeface="Yu Gothic UI"/>
                        </a:rPr>
                        <a:t>自律決済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1A1F26"/>
                          </a:solidFill>
                          <a:latin typeface="Yu Gothic UI"/>
                          <a:ea typeface="Yu Gothic UI"/>
                          <a:cs typeface="Yu Gothic UI"/>
                        </a:rPr>
                        <a:t>AI企業側の対応・標準化が不安定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1A1F26"/>
                          </a:solidFill>
                          <a:latin typeface="Yu Gothic UI"/>
                          <a:ea typeface="Yu Gothic UI"/>
                          <a:cs typeface="Yu Gothic UI"/>
                        </a:rPr>
                        <a:t>初期はBtoB契約・APIキー・月次請求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000" b="1" i="0">
                          <a:solidFill>
                            <a:srgbClr val="14356B"/>
                          </a:solidFill>
                          <a:latin typeface="Yu Gothic UI"/>
                          <a:ea typeface="Yu Gothic UI"/>
                          <a:cs typeface="Yu Gothic UI"/>
                        </a:rPr>
                        <a:t>自動分配</a:t>
                      </a:r>
                    </a:p>
                  </a:txBody>
                  <a:tcPr marL="82296" marR="54864" marT="18288" marB="18288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1A1F26"/>
                          </a:solidFill>
                          <a:latin typeface="Yu Gothic UI"/>
                          <a:ea typeface="Yu Gothic UI"/>
                          <a:cs typeface="Yu Gothic UI"/>
                        </a:rPr>
                        <a:t>Stripe Connect・税務・返金・資金移動が重い</a:t>
                      </a:r>
                    </a:p>
                  </a:txBody>
                  <a:tcPr marL="82296" marR="54864" marT="18288" marB="18288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1A1F26"/>
                          </a:solidFill>
                          <a:latin typeface="Yu Gothic UI"/>
                          <a:ea typeface="Yu Gothic UI"/>
                          <a:cs typeface="Yu Gothic UI"/>
                        </a:rPr>
                        <a:t>初期は月次レポート・手動精算</a:t>
                      </a:r>
                    </a:p>
                  </a:txBody>
                  <a:tcPr marL="82296" marR="54864" marT="18288" marB="18288" anchor="ctr">
                    <a:solidFill>
                      <a:srgbClr val="F4F6F9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000" b="1" i="0">
                          <a:solidFill>
                            <a:srgbClr val="14356B"/>
                          </a:solidFill>
                          <a:latin typeface="Yu Gothic UI"/>
                          <a:ea typeface="Yu Gothic UI"/>
                          <a:cs typeface="Yu Gothic UI"/>
                        </a:rPr>
                        <a:t>Citation完全観測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1A1F26"/>
                          </a:solidFill>
                          <a:latin typeface="Yu Gothic UI"/>
                          <a:ea typeface="Yu Gothic UI"/>
                          <a:cs typeface="Yu Gothic UI"/>
                        </a:rPr>
                        <a:t>外部AI回答画面は単独では見えない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1A1F26"/>
                          </a:solidFill>
                          <a:latin typeface="Yu Gothic UI"/>
                          <a:ea typeface="Yu Gothic UI"/>
                          <a:cs typeface="Yu Gothic UI"/>
                        </a:rPr>
                        <a:t>HackⅡ測定・Citation Report API構想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000" b="1" i="0">
                          <a:solidFill>
                            <a:srgbClr val="14356B"/>
                          </a:solidFill>
                          <a:latin typeface="Yu Gothic UI"/>
                          <a:ea typeface="Yu Gothic UI"/>
                          <a:cs typeface="Yu Gothic UI"/>
                        </a:rPr>
                        <a:t>法務・著作権</a:t>
                      </a:r>
                    </a:p>
                  </a:txBody>
                  <a:tcPr marL="82296" marR="54864" marT="18288" marB="18288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1A1F26"/>
                          </a:solidFill>
                          <a:latin typeface="Yu Gothic UI"/>
                          <a:ea typeface="Yu Gothic UI"/>
                          <a:cs typeface="Yu Gothic UI"/>
                        </a:rPr>
                        <a:t>再配布・学習利用・キャッシュ期間</a:t>
                      </a:r>
                    </a:p>
                  </a:txBody>
                  <a:tcPr marL="82296" marR="54864" marT="18288" marB="18288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1A1F26"/>
                          </a:solidFill>
                          <a:latin typeface="Yu Gothic UI"/>
                          <a:ea typeface="Yu Gothic UI"/>
                          <a:cs typeface="Yu Gothic UI"/>
                        </a:rPr>
                        <a:t>契約で利用条件を定義</a:t>
                      </a:r>
                    </a:p>
                  </a:txBody>
                  <a:tcPr marL="82296" marR="54864" marT="18288" marB="18288" anchor="ctr"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7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 i="0" spc="220">
                <a:solidFill>
                  <a:srgbClr val="2A63C7"/>
                </a:solidFill>
                <a:latin typeface="Arial"/>
                <a:ea typeface="Arial"/>
                <a:cs typeface="Arial"/>
              </a:rPr>
              <a:t>19 — COMPANY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49808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4356B"/>
                </a:solidFill>
                <a:latin typeface="Yu Gothic UI"/>
                <a:ea typeface="Yu Gothic UI"/>
                <a:cs typeface="Yu Gothic UI"/>
              </a:rPr>
              <a:t>会社概要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40080" y="6446520"/>
            <a:ext cx="10908792" cy="0"/>
          </a:xfrm>
          <a:prstGeom prst="bentConnector3">
            <a:avLst/>
          </a:prstGeom>
          <a:ln w="9525">
            <a:solidFill>
              <a:srgbClr val="DDE1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Picture 4" descr="logo_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510528"/>
            <a:ext cx="199505" cy="21945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32688" y="6492240"/>
            <a:ext cx="45720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 i="0">
                <a:solidFill>
                  <a:srgbClr val="5B6472"/>
                </a:solidFill>
                <a:latin typeface="Yu Gothic UI"/>
                <a:ea typeface="Yu Gothic UI"/>
                <a:cs typeface="Yu Gothic UI"/>
              </a:rPr>
              <a:t>Trillion Bank  ｜  Company Profile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38160" y="6492240"/>
            <a:ext cx="3410712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850" b="0" i="0">
                <a:solidFill>
                  <a:srgbClr val="5B6472"/>
                </a:solidFill>
                <a:latin typeface="Arial"/>
                <a:ea typeface="Arial"/>
                <a:cs typeface="Arial"/>
              </a:rPr>
              <a:t>20 / 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38160" y="292608"/>
            <a:ext cx="3410712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750" b="0" i="0" spc="150">
                <a:solidFill>
                  <a:srgbClr val="5B6472"/>
                </a:solidFill>
                <a:latin typeface="Arial"/>
                <a:ea typeface="Arial"/>
                <a:cs typeface="Arial"/>
              </a:rPr>
              <a:t>CONFIDENTIAL DRAFT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011680"/>
            <a:ext cx="10881360" cy="4846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2011680"/>
            <a:ext cx="2834640" cy="4846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14356B"/>
                </a:solidFill>
                <a:latin typeface="Yu Gothic UI"/>
                <a:ea typeface="Yu Gothic UI"/>
                <a:cs typeface="Yu Gothic UI"/>
              </a:rPr>
              <a:t>会社名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49039" y="2011680"/>
            <a:ext cx="7589520" cy="4846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1A1F26"/>
                </a:solidFill>
                <a:latin typeface="Yu Gothic UI"/>
                <a:ea typeface="Yu Gothic UI"/>
                <a:cs typeface="Yu Gothic UI"/>
              </a:rPr>
              <a:t>レガリスジャパングループ株式会社 / Trillion Bank株式会社（表記統一・要確認）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2496312"/>
            <a:ext cx="10881360" cy="484632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496312"/>
            <a:ext cx="2834640" cy="4846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14356B"/>
                </a:solidFill>
                <a:latin typeface="Yu Gothic UI"/>
                <a:ea typeface="Yu Gothic UI"/>
                <a:cs typeface="Yu Gothic UI"/>
              </a:rPr>
              <a:t>ブランド / サービス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49039" y="2496312"/>
            <a:ext cx="7589520" cy="4846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1A1F26"/>
                </a:solidFill>
                <a:latin typeface="Yu Gothic UI"/>
                <a:ea typeface="Yu Gothic UI"/>
                <a:cs typeface="Yu Gothic UI"/>
              </a:rPr>
              <a:t>Adctor / HackⅡ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2980944"/>
            <a:ext cx="10881360" cy="4846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2980944"/>
            <a:ext cx="2834640" cy="4846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14356B"/>
                </a:solidFill>
                <a:latin typeface="Yu Gothic UI"/>
                <a:ea typeface="Yu Gothic UI"/>
                <a:cs typeface="Yu Gothic UI"/>
              </a:rPr>
              <a:t>代表者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49039" y="2980944"/>
            <a:ext cx="7589520" cy="4846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1A1F26"/>
                </a:solidFill>
                <a:latin typeface="Yu Gothic UI"/>
                <a:ea typeface="Yu Gothic UI"/>
                <a:cs typeface="Yu Gothic UI"/>
              </a:rPr>
              <a:t>井上 幹太 ※要最終確認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3465576"/>
            <a:ext cx="10881360" cy="484632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3465576"/>
            <a:ext cx="2834640" cy="4846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14356B"/>
                </a:solidFill>
                <a:latin typeface="Yu Gothic UI"/>
                <a:ea typeface="Yu Gothic UI"/>
                <a:cs typeface="Yu Gothic UI"/>
              </a:rPr>
              <a:t>所在地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49039" y="3465576"/>
            <a:ext cx="7589520" cy="4846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1A1F26"/>
                </a:solidFill>
                <a:latin typeface="Yu Gothic UI"/>
                <a:ea typeface="Yu Gothic UI"/>
                <a:cs typeface="Yu Gothic UI"/>
              </a:rPr>
              <a:t>東京都千代田区麹町6-2-1 麹町サイトビル ROOM Z ※契約書記載ベース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3950208"/>
            <a:ext cx="10881360" cy="4846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68680" y="3950208"/>
            <a:ext cx="2834640" cy="4846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14356B"/>
                </a:solidFill>
                <a:latin typeface="Yu Gothic UI"/>
                <a:ea typeface="Yu Gothic UI"/>
                <a:cs typeface="Yu Gothic UI"/>
              </a:rPr>
              <a:t>事業内容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749039" y="3950208"/>
            <a:ext cx="7589520" cy="4846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1A1F26"/>
                </a:solidFill>
                <a:latin typeface="Yu Gothic UI"/>
                <a:ea typeface="Yu Gothic UI"/>
                <a:cs typeface="Yu Gothic UI"/>
              </a:rPr>
              <a:t>AI検索測定、AIアクセス制御、AIコンテンツ利用ログ、請求・分配基盤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0080" y="4434840"/>
            <a:ext cx="10881360" cy="484632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68680" y="4434840"/>
            <a:ext cx="2834640" cy="4846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14356B"/>
                </a:solidFill>
                <a:latin typeface="Yu Gothic UI"/>
                <a:ea typeface="Yu Gothic UI"/>
                <a:cs typeface="Yu Gothic UI"/>
              </a:rPr>
              <a:t>主なサービス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749039" y="4434840"/>
            <a:ext cx="7589520" cy="4846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1A1F26"/>
                </a:solidFill>
                <a:latin typeface="Yu Gothic UI"/>
                <a:ea typeface="Yu Gothic UI"/>
                <a:cs typeface="Yu Gothic UI"/>
              </a:rPr>
              <a:t>HackⅡ AI Search Monitor／AI Access Gateway／Usage・Citation Ledger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0080" y="4919472"/>
            <a:ext cx="10881360" cy="4846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68680" y="4919472"/>
            <a:ext cx="2834640" cy="4846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14356B"/>
                </a:solidFill>
                <a:latin typeface="Yu Gothic UI"/>
                <a:ea typeface="Yu Gothic UI"/>
                <a:cs typeface="Yu Gothic UI"/>
              </a:rPr>
              <a:t>顧客対象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749039" y="4919472"/>
            <a:ext cx="7589520" cy="4846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1A1F26"/>
                </a:solidFill>
                <a:latin typeface="Yu Gothic UI"/>
                <a:ea typeface="Yu Gothic UI"/>
                <a:cs typeface="Yu Gothic UI"/>
              </a:rPr>
              <a:t>企業・メディア・専門DB・会員制サイト・広告代理店・AI/RAG/MCP事業者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0080" y="5404104"/>
            <a:ext cx="10881360" cy="484632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68680" y="5404104"/>
            <a:ext cx="2834640" cy="4846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14356B"/>
                </a:solidFill>
                <a:latin typeface="Yu Gothic UI"/>
                <a:ea typeface="Yu Gothic UI"/>
                <a:cs typeface="Yu Gothic UI"/>
              </a:rPr>
              <a:t>設立 / 資本金 / URL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749039" y="5404104"/>
            <a:ext cx="7589520" cy="4846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1A1F26"/>
                </a:solidFill>
                <a:latin typeface="Yu Gothic UI"/>
                <a:ea typeface="Yu Gothic UI"/>
                <a:cs typeface="Yu Gothic UI"/>
              </a:rPr>
              <a:t>【手動反映】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40080" y="5934456"/>
            <a:ext cx="10881360" cy="457200"/>
          </a:xfrm>
          <a:prstGeom prst="roundRect">
            <a:avLst>
              <a:gd name="adj" fmla="val 10000"/>
            </a:avLst>
          </a:prstGeom>
          <a:solidFill>
            <a:srgbClr val="FFFBEB"/>
          </a:solidFill>
          <a:ln w="12700">
            <a:solidFill>
              <a:srgbClr val="F0D9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14400" y="5934456"/>
            <a:ext cx="104241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6B551A"/>
                </a:solidFill>
                <a:latin typeface="Yu Gothic UI"/>
                <a:ea typeface="Yu Gothic UI"/>
                <a:cs typeface="Yu Gothic UI"/>
              </a:rPr>
              <a:t>※ 会社名（レガリスジャパングループ株式会社／Trillion Bank株式会社／Adctor Inc.）の表記統一を最終確認のうえ確定してください。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7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 i="0" spc="220">
                <a:solidFill>
                  <a:srgbClr val="2A63C7"/>
                </a:solidFill>
                <a:latin typeface="Arial"/>
                <a:ea typeface="Arial"/>
                <a:cs typeface="Arial"/>
              </a:rPr>
              <a:t>20 — FOUNDER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49808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4356B"/>
                </a:solidFill>
                <a:latin typeface="Yu Gothic UI"/>
                <a:ea typeface="Yu Gothic UI"/>
                <a:cs typeface="Yu Gothic UI"/>
              </a:rPr>
              <a:t>代表紹介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40080" y="6446520"/>
            <a:ext cx="10908792" cy="0"/>
          </a:xfrm>
          <a:prstGeom prst="bentConnector3">
            <a:avLst/>
          </a:prstGeom>
          <a:ln w="9525">
            <a:solidFill>
              <a:srgbClr val="DDE1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Picture 4" descr="logo_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510528"/>
            <a:ext cx="199505" cy="21945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32688" y="6492240"/>
            <a:ext cx="45720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 i="0">
                <a:solidFill>
                  <a:srgbClr val="5B6472"/>
                </a:solidFill>
                <a:latin typeface="Yu Gothic UI"/>
                <a:ea typeface="Yu Gothic UI"/>
                <a:cs typeface="Yu Gothic UI"/>
              </a:rPr>
              <a:t>Trillion Bank  ｜  Company Profile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38160" y="6492240"/>
            <a:ext cx="3410712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850" b="0" i="0">
                <a:solidFill>
                  <a:srgbClr val="5B6472"/>
                </a:solidFill>
                <a:latin typeface="Arial"/>
                <a:ea typeface="Arial"/>
                <a:cs typeface="Arial"/>
              </a:rPr>
              <a:t>21 / 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38160" y="292608"/>
            <a:ext cx="3410712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750" b="0" i="0" spc="150">
                <a:solidFill>
                  <a:srgbClr val="5B6472"/>
                </a:solidFill>
                <a:latin typeface="Arial"/>
                <a:ea typeface="Arial"/>
                <a:cs typeface="Arial"/>
              </a:rPr>
              <a:t>CONFIDENTIAL DRAFT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011680"/>
            <a:ext cx="2926080" cy="3931920"/>
          </a:xfrm>
          <a:prstGeom prst="roundRect">
            <a:avLst>
              <a:gd name="adj" fmla="val 6000"/>
            </a:avLst>
          </a:prstGeom>
          <a:solidFill>
            <a:srgbClr val="143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011680"/>
            <a:ext cx="2926080" cy="3931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9DB4D6"/>
                </a:solidFill>
                <a:latin typeface="Yu Gothic UI"/>
                <a:ea typeface="Yu Gothic UI"/>
                <a:cs typeface="Yu Gothic UI"/>
              </a:rPr>
              <a:t>代表写真</a:t>
            </a:r>
          </a:p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7F94B5"/>
                </a:solidFill>
                <a:latin typeface="Yu Gothic UI"/>
                <a:ea typeface="Yu Gothic UI"/>
                <a:cs typeface="Yu Gothic UI"/>
              </a:rPr>
              <a:t>【高解像度画像を手動反映】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0480" y="2057400"/>
            <a:ext cx="76809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800" b="1" i="0">
                <a:solidFill>
                  <a:srgbClr val="14356B"/>
                </a:solidFill>
                <a:latin typeface="Yu Gothic UI"/>
                <a:ea typeface="Yu Gothic UI"/>
                <a:cs typeface="Yu Gothic UI"/>
              </a:rPr>
              <a:t>井上 幹太 </a:t>
            </a:r>
            <a:r>
              <a:rPr sz="1100" b="0" i="0">
                <a:solidFill>
                  <a:srgbClr val="5B6472"/>
                </a:solidFill>
                <a:latin typeface="Yu Gothic UI"/>
                <a:ea typeface="Yu Gothic UI"/>
                <a:cs typeface="Yu Gothic UI"/>
              </a:rPr>
              <a:t>代表取締役 / Founder（要確認）</a:t>
            </a:r>
          </a:p>
          <a:p>
            <a:pPr algn="l">
              <a:lnSpc>
                <a:spcPct val="125000"/>
              </a:lnSpc>
              <a:spcBef>
                <a:spcPts val="400"/>
              </a:spcBef>
              <a:spcAft>
                <a:spcPts val="400"/>
              </a:spcAft>
            </a:pPr>
            <a:r>
              <a:rPr sz="1150" b="0" i="0">
                <a:solidFill>
                  <a:srgbClr val="1A1F26"/>
                </a:solidFill>
                <a:latin typeface="Yu Gothic UI"/>
                <a:ea typeface="Yu Gothic UI"/>
                <a:cs typeface="Yu Gothic UI"/>
              </a:rPr>
              <a:t>AI検索・広告・コンテンツ流通の変化に着目し、企業やメディアがAIにどう見られ、どう使われ、どう収益化できるかを可視化・制御するための事業として、HackⅡおよびAdctor構想を推進。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840480" y="3520440"/>
            <a:ext cx="7680960" cy="2423160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114800" y="3703320"/>
            <a:ext cx="7132320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50" b="1" i="0">
                <a:solidFill>
                  <a:srgbClr val="2A63C7"/>
                </a:solidFill>
                <a:latin typeface="Yu Gothic UI"/>
                <a:ea typeface="Yu Gothic UI"/>
                <a:cs typeface="Yu Gothic UI"/>
              </a:rPr>
              <a:t>代表メッセージ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1A1F26"/>
                </a:solidFill>
                <a:latin typeface="Yu Gothic UI"/>
                <a:ea typeface="Yu Gothic UI"/>
                <a:cs typeface="Yu Gothic UI"/>
              </a:rPr>
              <a:t>AI検索によって、ユーザーの情報収集は大きく変わり始めています。しかし、AIに読まれる側の企業・メディア・専門情報サイトには、まだ十分な可視化・契約・収益化の仕組みがありません。</a:t>
            </a:r>
          </a:p>
          <a:p>
            <a:pPr algn="l">
              <a:lnSpc>
                <a:spcPct val="130000"/>
              </a:lnSpc>
              <a:spcBef>
                <a:spcPts val="600"/>
              </a:spcBef>
              <a:spcAft>
                <a:spcPts val="400"/>
              </a:spcAft>
            </a:pPr>
            <a:r>
              <a:rPr sz="1100" b="0" i="0">
                <a:solidFill>
                  <a:srgbClr val="1A1F26"/>
                </a:solidFill>
                <a:latin typeface="Yu Gothic UI"/>
                <a:ea typeface="Yu Gothic UI"/>
                <a:cs typeface="Yu Gothic UI"/>
              </a:rPr>
              <a:t>Trillion Bankは、HackⅡでAI検索上の見えない比較検討接点を可視化し、AdctorでAI時代のコンテンツ利用を、測定・制御・記録・請求へ変えるインフラを目指します。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7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 i="0" spc="220">
                <a:solidFill>
                  <a:srgbClr val="2A63C7"/>
                </a:solidFill>
                <a:latin typeface="Arial"/>
                <a:ea typeface="Arial"/>
                <a:cs typeface="Arial"/>
              </a:rPr>
              <a:t>21 — TRUST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49808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4356B"/>
                </a:solidFill>
                <a:latin typeface="Yu Gothic UI"/>
                <a:ea typeface="Yu Gothic UI"/>
                <a:cs typeface="Yu Gothic UI"/>
              </a:rPr>
              <a:t>期待値の設計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81328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B6472"/>
                </a:solidFill>
                <a:latin typeface="Yu Gothic UI"/>
                <a:ea typeface="Yu Gothic UI"/>
                <a:cs typeface="Yu Gothic UI"/>
              </a:rPr>
              <a:t>できることは明確に、できないことは正直に。約束しない範囲を示すことが信頼になります。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6446520"/>
            <a:ext cx="10908792" cy="0"/>
          </a:xfrm>
          <a:prstGeom prst="bentConnector3">
            <a:avLst/>
          </a:prstGeom>
          <a:ln w="9525">
            <a:solidFill>
              <a:srgbClr val="DDE1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6" name="Picture 5" descr="logo_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510528"/>
            <a:ext cx="199505" cy="21945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32688" y="6492240"/>
            <a:ext cx="45720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 i="0">
                <a:solidFill>
                  <a:srgbClr val="5B6472"/>
                </a:solidFill>
                <a:latin typeface="Yu Gothic UI"/>
                <a:ea typeface="Yu Gothic UI"/>
                <a:cs typeface="Yu Gothic UI"/>
              </a:rPr>
              <a:t>Trillion Bank  ｜  Company Profile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38160" y="6492240"/>
            <a:ext cx="3410712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850" b="0" i="0">
                <a:solidFill>
                  <a:srgbClr val="5B6472"/>
                </a:solidFill>
                <a:latin typeface="Arial"/>
                <a:ea typeface="Arial"/>
                <a:cs typeface="Arial"/>
              </a:rPr>
              <a:t>22 / 23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38160" y="292608"/>
            <a:ext cx="3410712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750" b="0" i="0" spc="150">
                <a:solidFill>
                  <a:srgbClr val="5B6472"/>
                </a:solidFill>
                <a:latin typeface="Arial"/>
                <a:ea typeface="Arial"/>
                <a:cs typeface="Arial"/>
              </a:rPr>
              <a:t>CONFIDENTIAL DRAFT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103120"/>
            <a:ext cx="5349240" cy="3657600"/>
          </a:xfrm>
          <a:prstGeom prst="roundRect">
            <a:avLst>
              <a:gd name="adj" fmla="val 6000"/>
            </a:avLst>
          </a:prstGeom>
          <a:solidFill>
            <a:srgbClr val="EAF3EC"/>
          </a:solidFill>
          <a:ln w="12700">
            <a:solidFill>
              <a:srgbClr val="B9D8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2286000"/>
            <a:ext cx="4846320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300" b="1" i="0">
                <a:solidFill>
                  <a:srgbClr val="2F7D32"/>
                </a:solidFill>
                <a:latin typeface="Yu Gothic UI"/>
                <a:ea typeface="Yu Gothic UI"/>
                <a:cs typeface="Yu Gothic UI"/>
              </a:rPr>
              <a:t>お約束できること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</a:pPr>
            <a:r>
              <a:rPr sz="1200" b="1" i="0">
                <a:solidFill>
                  <a:srgbClr val="2F7D32"/>
                </a:solidFill>
                <a:latin typeface="Arial"/>
                <a:ea typeface="Arial"/>
                <a:cs typeface="Arial"/>
              </a:rPr>
              <a:t>✓ </a:t>
            </a:r>
            <a:r>
              <a:rPr sz="1150" b="0" i="0">
                <a:solidFill>
                  <a:srgbClr val="1A1F26"/>
                </a:solidFill>
                <a:latin typeface="Yu Gothic UI"/>
                <a:ea typeface="Yu Gothic UI"/>
                <a:cs typeface="Yu Gothic UI"/>
              </a:rPr>
              <a:t>AI検索上の出現・引用・競合比較の可視化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</a:pPr>
            <a:r>
              <a:rPr sz="1200" b="1" i="0">
                <a:solidFill>
                  <a:srgbClr val="2F7D32"/>
                </a:solidFill>
                <a:latin typeface="Arial"/>
                <a:ea typeface="Arial"/>
                <a:cs typeface="Arial"/>
              </a:rPr>
              <a:t>✓ </a:t>
            </a:r>
            <a:r>
              <a:rPr sz="1150" b="0" i="0">
                <a:solidFill>
                  <a:srgbClr val="1A1F26"/>
                </a:solidFill>
                <a:latin typeface="Yu Gothic UI"/>
                <a:ea typeface="Yu Gothic UI"/>
                <a:cs typeface="Yu Gothic UI"/>
              </a:rPr>
              <a:t>契約時点で対応しているAIの明示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</a:pPr>
            <a:r>
              <a:rPr sz="1200" b="1" i="0">
                <a:solidFill>
                  <a:srgbClr val="2F7D32"/>
                </a:solidFill>
                <a:latin typeface="Arial"/>
                <a:ea typeface="Arial"/>
                <a:cs typeface="Arial"/>
              </a:rPr>
              <a:t>✓ </a:t>
            </a:r>
            <a:r>
              <a:rPr sz="1150" b="0" i="0">
                <a:solidFill>
                  <a:srgbClr val="1A1F26"/>
                </a:solidFill>
                <a:latin typeface="Yu Gothic UI"/>
                <a:ea typeface="Yu Gothic UI"/>
                <a:cs typeface="Yu Gothic UI"/>
              </a:rPr>
              <a:t>AIに参照されやすい情報設計の支援と月次推移レポート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</a:pPr>
            <a:r>
              <a:rPr sz="1200" b="1" i="0">
                <a:solidFill>
                  <a:srgbClr val="2F7D32"/>
                </a:solidFill>
                <a:latin typeface="Arial"/>
                <a:ea typeface="Arial"/>
                <a:cs typeface="Arial"/>
              </a:rPr>
              <a:t>✓ </a:t>
            </a:r>
            <a:r>
              <a:rPr sz="1150" b="0" i="0">
                <a:solidFill>
                  <a:srgbClr val="1A1F26"/>
                </a:solidFill>
                <a:latin typeface="Yu Gothic UI"/>
                <a:ea typeface="Yu Gothic UI"/>
                <a:cs typeface="Yu Gothic UI"/>
              </a:rPr>
              <a:t>PPCは正規アクセス・利用ログ・月次請求のPoCとして検証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2103120"/>
            <a:ext cx="5349240" cy="3657600"/>
          </a:xfrm>
          <a:prstGeom prst="roundRect">
            <a:avLst>
              <a:gd name="adj" fmla="val 6000"/>
            </a:avLst>
          </a:prstGeom>
          <a:solidFill>
            <a:srgbClr val="FBECE9"/>
          </a:solidFill>
          <a:ln w="12700">
            <a:solidFill>
              <a:srgbClr val="EEC0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46520" y="2286000"/>
            <a:ext cx="4846320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300" b="1" i="0">
                <a:solidFill>
                  <a:srgbClr val="C0392B"/>
                </a:solidFill>
                <a:latin typeface="Yu Gothic UI"/>
                <a:ea typeface="Yu Gothic UI"/>
                <a:cs typeface="Yu Gothic UI"/>
              </a:rPr>
              <a:t>言わないこと（NG表現）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</a:pPr>
            <a:r>
              <a:rPr sz="1200" b="1" i="0">
                <a:solidFill>
                  <a:srgbClr val="C0392B"/>
                </a:solidFill>
                <a:latin typeface="Arial"/>
                <a:ea typeface="Arial"/>
                <a:cs typeface="Arial"/>
              </a:rPr>
              <a:t>× </a:t>
            </a:r>
            <a:r>
              <a:rPr sz="1150" b="0" i="0">
                <a:solidFill>
                  <a:srgbClr val="1A1F26"/>
                </a:solidFill>
                <a:latin typeface="Yu Gothic UI"/>
                <a:ea typeface="Yu Gothic UI"/>
                <a:cs typeface="Yu Gothic UI"/>
              </a:rPr>
              <a:t>AI検索順位・掲載・問い合わせ数の保証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</a:pPr>
            <a:r>
              <a:rPr sz="1200" b="1" i="0">
                <a:solidFill>
                  <a:srgbClr val="C0392B"/>
                </a:solidFill>
                <a:latin typeface="Arial"/>
                <a:ea typeface="Arial"/>
                <a:cs typeface="Arial"/>
              </a:rPr>
              <a:t>× </a:t>
            </a:r>
            <a:r>
              <a:rPr sz="1150" b="0" i="0">
                <a:solidFill>
                  <a:srgbClr val="1A1F26"/>
                </a:solidFill>
                <a:latin typeface="Yu Gothic UI"/>
                <a:ea typeface="Yu Gothic UI"/>
                <a:cs typeface="Yu Gothic UI"/>
              </a:rPr>
              <a:t>AI Botの100%識別 / AI企業からの自動徴収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</a:pPr>
            <a:r>
              <a:rPr sz="1200" b="1" i="0">
                <a:solidFill>
                  <a:srgbClr val="C0392B"/>
                </a:solidFill>
                <a:latin typeface="Arial"/>
                <a:ea typeface="Arial"/>
                <a:cs typeface="Arial"/>
              </a:rPr>
              <a:t>× </a:t>
            </a:r>
            <a:r>
              <a:rPr sz="1150" b="0" i="0">
                <a:solidFill>
                  <a:srgbClr val="1A1F26"/>
                </a:solidFill>
                <a:latin typeface="Yu Gothic UI"/>
                <a:ea typeface="Yu Gothic UI"/>
                <a:cs typeface="Yu Gothic UI"/>
              </a:rPr>
              <a:t>Cloudflare Pay Per Crawl の完全再現 / SEO影響ゼロ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</a:pPr>
            <a:r>
              <a:rPr sz="1200" b="1" i="0">
                <a:solidFill>
                  <a:srgbClr val="C0392B"/>
                </a:solidFill>
                <a:latin typeface="Arial"/>
                <a:ea typeface="Arial"/>
                <a:cs typeface="Arial"/>
              </a:rPr>
              <a:t>× </a:t>
            </a:r>
            <a:r>
              <a:rPr sz="1150" b="0" i="0">
                <a:solidFill>
                  <a:srgbClr val="1A1F26"/>
                </a:solidFill>
                <a:latin typeface="Yu Gothic UI"/>
                <a:ea typeface="Yu Gothic UI"/>
                <a:cs typeface="Yu Gothic UI"/>
              </a:rPr>
              <a:t>引用の完全自動課金 / Stripe Connect即時自動分配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B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icon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41848" y="822960"/>
            <a:ext cx="1039091" cy="1143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2286000"/>
            <a:ext cx="10332720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FFFFFF"/>
                </a:solidFill>
                <a:latin typeface="Yu Gothic UI"/>
                <a:ea typeface="Yu Gothic UI"/>
                <a:cs typeface="Yu Gothic UI"/>
              </a:rPr>
              <a:t>AI検索で、御社は候補に入っていますか？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3429000"/>
            <a:ext cx="941832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C8D6EC"/>
                </a:solidFill>
                <a:latin typeface="Yu Gothic UI"/>
                <a:ea typeface="Yu Gothic UI"/>
                <a:cs typeface="Yu Gothic UI"/>
              </a:rPr>
              <a:t>AIに読まれるだけで終わる時代から、正規に使わせ、記録し、収益化する時代へ。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51560" y="4434840"/>
            <a:ext cx="2468880" cy="868680"/>
          </a:xfrm>
          <a:prstGeom prst="roundRect">
            <a:avLst>
              <a:gd name="adj" fmla="val 10000"/>
            </a:avLst>
          </a:prstGeom>
          <a:solidFill>
            <a:srgbClr val="112440"/>
          </a:solidFill>
          <a:ln w="12700">
            <a:solidFill>
              <a:srgbClr val="2A3F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4526280"/>
            <a:ext cx="246888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C5A059"/>
                </a:solidFill>
                <a:latin typeface="Yu Gothic UI"/>
                <a:ea typeface="Yu Gothic UI"/>
                <a:cs typeface="Yu Gothic UI"/>
              </a:rPr>
              <a:t>AI検索診断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C8D6EC"/>
                </a:solidFill>
                <a:latin typeface="Yu Gothic UI"/>
                <a:ea typeface="Yu Gothic UI"/>
                <a:cs typeface="Yu Gothic UI"/>
              </a:rPr>
              <a:t>経営者・マーケ責任者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739896" y="4434840"/>
            <a:ext cx="2468880" cy="868680"/>
          </a:xfrm>
          <a:prstGeom prst="roundRect">
            <a:avLst>
              <a:gd name="adj" fmla="val 10000"/>
            </a:avLst>
          </a:prstGeom>
          <a:solidFill>
            <a:srgbClr val="112440"/>
          </a:solidFill>
          <a:ln w="12700">
            <a:solidFill>
              <a:srgbClr val="2A3F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739896" y="4526280"/>
            <a:ext cx="246888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C5A059"/>
                </a:solidFill>
                <a:latin typeface="Yu Gothic UI"/>
                <a:ea typeface="Yu Gothic UI"/>
                <a:cs typeface="Yu Gothic UI"/>
              </a:rPr>
              <a:t>HackⅡ導入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C8D6EC"/>
                </a:solidFill>
                <a:latin typeface="Yu Gothic UI"/>
                <a:ea typeface="Yu Gothic UI"/>
                <a:cs typeface="Yu Gothic UI"/>
              </a:rPr>
              <a:t>企業・代理店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28232" y="4434840"/>
            <a:ext cx="2468880" cy="868680"/>
          </a:xfrm>
          <a:prstGeom prst="roundRect">
            <a:avLst>
              <a:gd name="adj" fmla="val 10000"/>
            </a:avLst>
          </a:prstGeom>
          <a:solidFill>
            <a:srgbClr val="112440"/>
          </a:solidFill>
          <a:ln w="12700">
            <a:solidFill>
              <a:srgbClr val="2A3F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28232" y="4526280"/>
            <a:ext cx="246888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C5A059"/>
                </a:solidFill>
                <a:latin typeface="Yu Gothic UI"/>
                <a:ea typeface="Yu Gothic UI"/>
                <a:cs typeface="Yu Gothic UI"/>
              </a:rPr>
              <a:t>PPC Readiness診断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C8D6EC"/>
                </a:solidFill>
                <a:latin typeface="Yu Gothic UI"/>
                <a:ea typeface="Yu Gothic UI"/>
                <a:cs typeface="Yu Gothic UI"/>
              </a:rPr>
              <a:t>メディア・専門DB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116568" y="4434840"/>
            <a:ext cx="2468880" cy="868680"/>
          </a:xfrm>
          <a:prstGeom prst="roundRect">
            <a:avLst>
              <a:gd name="adj" fmla="val 10000"/>
            </a:avLst>
          </a:prstGeom>
          <a:solidFill>
            <a:srgbClr val="112440"/>
          </a:solidFill>
          <a:ln w="12700">
            <a:solidFill>
              <a:srgbClr val="2A3F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16568" y="4526280"/>
            <a:ext cx="246888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C5A059"/>
                </a:solidFill>
                <a:latin typeface="Yu Gothic UI"/>
                <a:ea typeface="Yu Gothic UI"/>
                <a:cs typeface="Yu Gothic UI"/>
              </a:rPr>
              <a:t>PoC / 提携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C8D6EC"/>
                </a:solidFill>
                <a:latin typeface="Yu Gothic UI"/>
                <a:ea typeface="Yu Gothic UI"/>
                <a:cs typeface="Yu Gothic UI"/>
              </a:rPr>
              <a:t>開発会社・投資家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806440"/>
            <a:ext cx="103327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9DB4D6"/>
                </a:solidFill>
                <a:latin typeface="Yu Gothic UI"/>
                <a:ea typeface="Yu Gothic UI"/>
                <a:cs typeface="Yu Gothic UI"/>
              </a:rPr>
              <a:t>Trillion Bank / Adctor　｜　担当者名・メール・電話・URL【手動反映】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