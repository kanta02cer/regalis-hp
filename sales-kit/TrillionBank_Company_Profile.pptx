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4206240" cy="54864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horizont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4206240" cy="1186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3317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300">
                <a:solidFill>
                  <a:srgbClr val="2A63C7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AIに読まれるだけで終わる時代から、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正規に使わせ、記録し、</a:t>
            </a:r>
            <a:r>
              <a:rPr sz="330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収益化する</a:t>
            </a:r>
            <a:r>
              <a:rPr sz="33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時代へ。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09160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Bankは、AI検索での露出測定から、AIクローラー・RAG・MCP事業者の正規アクセス、利用ログ、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月次請求までをつなぐAIコンテンツ利用インフラ「Adctor」と、AI検索測定「HackⅡ」を提供します。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MEASURE </a:t>
            </a:r>
            <a:r>
              <a:rPr sz="1100" b="0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測定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5577840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CONTROL </a:t>
            </a:r>
            <a:r>
              <a:rPr sz="1100" b="0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制御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5577840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LEDGER </a:t>
            </a:r>
            <a:r>
              <a:rPr sz="1100" b="0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記録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577840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BILLING </a:t>
            </a:r>
            <a:r>
              <a:rPr sz="1100" b="0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請求・収益化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6327648"/>
            <a:ext cx="104515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6382512"/>
            <a:ext cx="10424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会社概要資料（HackⅡ / AI Access Gateway 概要含む）　｜　版数 v1.0 / 2026　｜　正式社名表記【手動反映】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01 —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AIに読まれる情報を、可視化・制御・収益化する会社です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01951"/>
            <a:ext cx="54864" cy="45720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74519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Trillion Bankは、AI検索時代の「見えない機会損失」と「AIによるコンテンツ利用」を、測定・制御・記録・請求でつなぎます。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97480"/>
            <a:ext cx="350215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82296" cy="2651760"/>
          </a:xfrm>
          <a:prstGeom prst="rect">
            <a:avLst/>
          </a:prstGeom>
          <a:solidFill>
            <a:srgbClr val="2A6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862072"/>
            <a:ext cx="309981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2953512"/>
            <a:ext cx="304495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spc="150">
                <a:solidFill>
                  <a:srgbClr val="2A63C7"/>
                </a:solidFill>
                <a:latin typeface="Arial"/>
                <a:ea typeface="Arial"/>
                <a:cs typeface="Arial"/>
              </a:rPr>
              <a:t>MEASURE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HackⅡ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AI検索測定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ChatGPT・Gemini・Perplexity等で、自社・競合・引用URL・回答内容を可視化する。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697480"/>
            <a:ext cx="350215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2697480"/>
            <a:ext cx="82296" cy="265176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862072"/>
            <a:ext cx="309981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17720" y="2953512"/>
            <a:ext cx="304495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spc="150">
                <a:solidFill>
                  <a:srgbClr val="C5A059"/>
                </a:solidFill>
                <a:latin typeface="Arial"/>
                <a:ea typeface="Arial"/>
                <a:cs typeface="Arial"/>
              </a:rPr>
              <a:t>CONTROL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Adctor / AI Access Gateway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AIアクセス制御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AIクローラー・RAG・MCP事業者の正規アクセスを認証・制御する。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2697480"/>
            <a:ext cx="350215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2697480"/>
            <a:ext cx="82296" cy="2651760"/>
          </a:xfrm>
          <a:prstGeom prst="rect">
            <a:avLst/>
          </a:prstGeom>
          <a:solidFill>
            <a:srgbClr val="14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2862072"/>
            <a:ext cx="309981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02752" y="2953512"/>
            <a:ext cx="304495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spc="150">
                <a:solidFill>
                  <a:srgbClr val="14356B"/>
                </a:solidFill>
                <a:latin typeface="Arial"/>
                <a:ea typeface="Arial"/>
                <a:cs typeface="Arial"/>
              </a:rPr>
              <a:t>LEDGER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Usage / Citation Ledger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利用ログ・請求台帳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誰が・何を・どれだけ使ったかを記録し、月次請求・将来分配へ接続する。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40080" y="5577840"/>
            <a:ext cx="10881360" cy="658368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短期は </a:t>
            </a:r>
            <a:r>
              <a:rPr sz="1150" b="1" i="0">
                <a:solidFill>
                  <a:srgbClr val="2A63C7"/>
                </a:solidFill>
                <a:latin typeface="Yu Gothic UI"/>
                <a:ea typeface="Yu Gothic UI"/>
                <a:cs typeface="Yu Gothic UI"/>
              </a:rPr>
              <a:t>HackⅡ（AI検索測定）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 で売上化し、中長期は </a:t>
            </a:r>
            <a:r>
              <a:rPr sz="11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Adctor（AIアクセス制御・利用ログ・請求）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 で高単価インフラへ拡張します。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02 —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Trillion Bankとは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AI検索・AIクローラー・AIエージェント時代の、新しい情報流通インフラをつくる事業会社です。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▪ </a:t>
            </a:r>
            <a:r>
              <a:rPr sz="1200" b="1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AI検索測定・競合可視化 </a:t>
            </a:r>
            <a:r>
              <a:rPr sz="12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主力サービス HackⅡ により、AI回答上の自社・競合・引用を測定。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▪ </a:t>
            </a:r>
            <a:r>
              <a:rPr sz="1200" b="1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AIアクセス制御 </a:t>
            </a:r>
            <a:r>
              <a:rPr sz="12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Adctor / AI Access Gateway で、AI事業者の正規アクセスを設計。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▪ </a:t>
            </a:r>
            <a:r>
              <a:rPr sz="1200" b="1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利用ログ・請求・分配 </a:t>
            </a:r>
            <a:r>
              <a:rPr sz="12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Usage / Citation Ledger で、利用イベントを記録し請求へ接続。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▪ </a:t>
            </a:r>
            <a:r>
              <a:rPr sz="1200" b="1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パートナー展開 </a:t>
            </a:r>
            <a:r>
              <a:rPr sz="12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広告代理店・SEO会社・メディア企業と共同で提供。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14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8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会社情報（要最終確認）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会社名　</a:t>
            </a:r>
            <a:r>
              <a:rPr sz="1000" b="0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レガリスジャパングループ株式会社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8D6EC"/>
                </a:solidFill>
                <a:latin typeface="Yu Gothic UI"/>
                <a:ea typeface="Yu Gothic UI"/>
                <a:cs typeface="Yu Gothic UI"/>
              </a:rPr>
              <a:t>　　　　（Trillion Bank株式会社）※表記統一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サービス　</a:t>
            </a:r>
            <a:r>
              <a:rPr sz="1000" b="0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Adctor / HackⅡ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代表者　</a:t>
            </a:r>
            <a:r>
              <a:rPr sz="1000" b="0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井上 幹太 ※要確認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所在地　</a:t>
            </a:r>
            <a:r>
              <a:rPr sz="1000" b="0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東京都千代田区麹町6-2-1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8D6EC"/>
                </a:solidFill>
                <a:latin typeface="Yu Gothic UI"/>
                <a:ea typeface="Yu Gothic UI"/>
                <a:cs typeface="Yu Gothic UI"/>
              </a:rPr>
              <a:t>　　　　麹町サイトビル ROOM Z ※契約書記載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事業領域　</a:t>
            </a:r>
            <a:r>
              <a:rPr sz="1000" b="0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AI検索測定・AIアクセス制御・利用ログ・請求分配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主要顧客　</a:t>
            </a:r>
            <a:r>
              <a:rPr sz="1000" b="0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企業／メディア／専門DB／会員制サイト／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8D6EC"/>
                </a:solidFill>
                <a:latin typeface="Yu Gothic UI"/>
                <a:ea typeface="Yu Gothic UI"/>
                <a:cs typeface="Yu Gothic UI"/>
              </a:rPr>
              <a:t>　　　　広告代理店／AI・RAG・MCP事業者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03 —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なぜ今、AI検索・AIコンテンツ利用インフラが必要か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検索される時代から、AIに読まれ、AIに比較・推薦される時代へ変わっています。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04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Before ｜ これまで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検索 → クリック → サイト流入 → 広告 / CV / 会員登録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5740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14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After ｜ AI検索時代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AIが読む → AI回答で比較・推薦 → サイトに戻らず候補決定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3703320"/>
          <a:ext cx="10881359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82035"/>
                <a:gridCol w="739932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課題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内容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AI検索上の機会損失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自社がAI回答に出なければ、商談前に候補から外れる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競合推薦の不可視化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どの質問で競合が推薦されているか分からない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引用URLの不可視化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どのページがAIに引用・参照されているか分からない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AIクローラー利用の不透明性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AIに読まれても、流入・収益・利用ログが戻らない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請求・分配の未整備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コンテンツ利用料を記録・請求・分配する仕組みがない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04 — MISSION /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私たちの使命とビジョン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349240" cy="35661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82296" cy="3566160"/>
          </a:xfrm>
          <a:prstGeom prst="rect">
            <a:avLst/>
          </a:prstGeom>
          <a:solidFill>
            <a:srgbClr val="2A6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47548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 spc="200">
                <a:solidFill>
                  <a:srgbClr val="2A63C7"/>
                </a:solidFill>
                <a:latin typeface="Arial"/>
                <a:ea typeface="Arial"/>
                <a:cs typeface="Arial"/>
              </a:rPr>
              <a:t>MISSION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AI時代のコンテンツ利用を、正規アクセス・利用ログ・請求分配へ。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AI時代の情報流通を、測定可能で、正当に評価される仕組みに変える。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65960"/>
            <a:ext cx="5349240" cy="3566160"/>
          </a:xfrm>
          <a:prstGeom prst="roundRect">
            <a:avLst>
              <a:gd name="adj" fmla="val 5000"/>
            </a:avLst>
          </a:prstGeom>
          <a:solidFill>
            <a:srgbClr val="FCF7EC"/>
          </a:solidFill>
          <a:ln w="12700">
            <a:solidFill>
              <a:srgbClr val="EC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82296" cy="356616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47548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 spc="200">
                <a:solidFill>
                  <a:srgbClr val="C5A059"/>
                </a:solidFill>
                <a:latin typeface="Arial"/>
                <a:ea typeface="Arial"/>
                <a:cs typeface="Arial"/>
              </a:rPr>
              <a:t>VISION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AIに使われる価値を可視化し、正当に収益化できるインフラをつくる。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すべての企業・メディア・専門情報サイトが、AIに使われる価値を定量化できる状態へ。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715000"/>
            <a:ext cx="10881360" cy="54864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可視化 ／ 制御 ／ 記録 ／ 請求 ／ 信頼 — 誇張せず、技術・法務・SEOリスクを前提に設計します。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05 — BUSINESS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事業全体像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HackⅡで測定し、Adctorで制御し、Usage Ledgerで請求・分配へつなげます。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06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2624328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2624328" cy="457200"/>
          </a:xfrm>
          <a:prstGeom prst="roundRect">
            <a:avLst>
              <a:gd name="adj" fmla="val 7000"/>
            </a:avLst>
          </a:prstGeom>
          <a:solidFill>
            <a:srgbClr val="2A6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2624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788920"/>
            <a:ext cx="225856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HackⅡ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2A63C7"/>
                </a:solidFill>
                <a:latin typeface="Yu Gothic UI"/>
                <a:ea typeface="Yu Gothic UI"/>
                <a:cs typeface="Yu Gothic UI"/>
              </a:rPr>
              <a:t>AI検索を測る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AI検索での自社・競合・引用URL・回答内容を測定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7" y="4828032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828032"/>
            <a:ext cx="8778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収益化：短期</a:t>
            </a:r>
          </a:p>
        </p:txBody>
      </p:sp>
      <p:sp>
        <p:nvSpPr>
          <p:cNvPr id="16" name="Chevron 15"/>
          <p:cNvSpPr/>
          <p:nvPr/>
        </p:nvSpPr>
        <p:spPr>
          <a:xfrm>
            <a:off x="3246120" y="3429000"/>
            <a:ext cx="182880" cy="457200"/>
          </a:xfrm>
          <a:prstGeom prst="chevron">
            <a:avLst/>
          </a:prstGeom>
          <a:solidFill>
            <a:srgbClr val="C3C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92424" y="2148840"/>
            <a:ext cx="2624328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92424" y="2148840"/>
            <a:ext cx="2624328" cy="457200"/>
          </a:xfrm>
          <a:prstGeom prst="roundRect">
            <a:avLst>
              <a:gd name="adj" fmla="val 7000"/>
            </a:avLst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2424" y="2148840"/>
            <a:ext cx="2624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788920"/>
            <a:ext cx="225856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AI Access Gateway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AIアクセスを制御する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AIクローラー・RAG・MCP事業者の正規アクセスを管理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93592" y="4828032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3592" y="4828032"/>
            <a:ext cx="8778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収益化：中期</a:t>
            </a:r>
          </a:p>
        </p:txBody>
      </p:sp>
      <p:sp>
        <p:nvSpPr>
          <p:cNvPr id="23" name="Chevron 22"/>
          <p:cNvSpPr/>
          <p:nvPr/>
        </p:nvSpPr>
        <p:spPr>
          <a:xfrm>
            <a:off x="5998464" y="3429000"/>
            <a:ext cx="182880" cy="457200"/>
          </a:xfrm>
          <a:prstGeom prst="chevron">
            <a:avLst/>
          </a:prstGeom>
          <a:solidFill>
            <a:srgbClr val="C3C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44768" y="2148840"/>
            <a:ext cx="2624328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44768" y="2148840"/>
            <a:ext cx="2624328" cy="457200"/>
          </a:xfrm>
          <a:prstGeom prst="roundRect">
            <a:avLst>
              <a:gd name="adj" fmla="val 7000"/>
            </a:avLst>
          </a:prstGeom>
          <a:solidFill>
            <a:srgbClr val="14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2148840"/>
            <a:ext cx="2624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LEDGER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788920"/>
            <a:ext cx="225856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Usage / Citation Ledger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利用を記録する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誰が・何を・どの条件で・どれだけ使ったかを記録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45936" y="48280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828032"/>
            <a:ext cx="10789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収益化：中〜長期</a:t>
            </a:r>
          </a:p>
        </p:txBody>
      </p:sp>
      <p:sp>
        <p:nvSpPr>
          <p:cNvPr id="30" name="Chevron 29"/>
          <p:cNvSpPr/>
          <p:nvPr/>
        </p:nvSpPr>
        <p:spPr>
          <a:xfrm>
            <a:off x="8750808" y="3429000"/>
            <a:ext cx="182880" cy="457200"/>
          </a:xfrm>
          <a:prstGeom prst="chevron">
            <a:avLst/>
          </a:prstGeom>
          <a:solidFill>
            <a:srgbClr val="C3C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97112" y="2148840"/>
            <a:ext cx="2624328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97112" y="2148840"/>
            <a:ext cx="2624328" cy="457200"/>
          </a:xfrm>
          <a:prstGeom prst="roundRect">
            <a:avLst>
              <a:gd name="adj" fmla="val 7000"/>
            </a:avLst>
          </a:prstGeom>
          <a:solidFill>
            <a:srgbClr val="E0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7112" y="2148840"/>
            <a:ext cx="2624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 spc="150">
                <a:solidFill>
                  <a:srgbClr val="FFFFFF"/>
                </a:solidFill>
                <a:latin typeface="Arial"/>
                <a:ea typeface="Arial"/>
                <a:cs typeface="Arial"/>
              </a:rPr>
              <a:t>BILLING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788920"/>
            <a:ext cx="225856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Billing / Report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E07B2E"/>
                </a:solidFill>
                <a:latin typeface="Yu Gothic UI"/>
                <a:ea typeface="Yu Gothic UI"/>
                <a:cs typeface="Yu Gothic UI"/>
              </a:rPr>
              <a:t>請求・分配へ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月次請求・将来の分配・監査ログへ接続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4828032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4828032"/>
            <a:ext cx="8778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収益化：長期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3212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3212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事業ポジション：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AdctorはCloudflareの代替ではなく、Cloudflare等の既存インフラの上に、AI時代のコンテンツ利用における認証・利用ログ・引用ログ・請求分配の“台帳”を作る会社です。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06 — ADCTOR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Adctor事業概要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AI時代のコンテンツ利用を、正規アクセス・利用ログ・請求分配へ変えるインフラ構想。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07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486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Adctorは、企業・メディア・専門DB・会員制サイトが保有するコンテンツを、AIクローラー・RAG・MCP事業者が</a:t>
            </a:r>
            <a:r>
              <a:rPr sz="1200" b="1" i="0">
                <a:solidFill>
                  <a:srgbClr val="2A63C7"/>
                </a:solidFill>
                <a:latin typeface="Yu Gothic UI"/>
                <a:ea typeface="Yu Gothic UI"/>
                <a:cs typeface="Yu Gothic UI"/>
              </a:rPr>
              <a:t>正規に利用するための基盤</a:t>
            </a:r>
            <a:r>
              <a:rPr sz="12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を目指します。重要なのは「止めること」ではなく、以下をつなぐことです。</a:t>
            </a:r>
            <a:r>
              <a:rPr sz="115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▪ 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コンテンツ所有者 と AI / RAG / MCP事業者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▪ 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契約条件・APIキー / 署名付きアクセス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▪ 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利用ログ・請求・将来分配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▪ 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監査ログ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14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286000"/>
            <a:ext cx="45720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Adctorが目指す状態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→ </a:t>
            </a:r>
            <a:r>
              <a:rPr sz="14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誰のコンテンツを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→ </a:t>
            </a:r>
            <a:r>
              <a:rPr sz="14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どのAI事業者が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→ </a:t>
            </a:r>
            <a:r>
              <a:rPr sz="14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どの契約条件で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→ </a:t>
            </a:r>
            <a:r>
              <a:rPr sz="14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どれだけ使い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C5A059"/>
                </a:solidFill>
                <a:latin typeface="Arial"/>
                <a:ea typeface="Arial"/>
                <a:cs typeface="Arial"/>
              </a:rPr>
              <a:t>→ </a:t>
            </a:r>
            <a:r>
              <a:rPr sz="14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いくら請求・分配するか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</a:pPr>
            <a:r>
              <a:rPr sz="1100" b="0" i="0">
                <a:solidFill>
                  <a:srgbClr val="C8D6EC"/>
                </a:solidFill>
                <a:latin typeface="Yu Gothic UI"/>
                <a:ea typeface="Yu Gothic UI"/>
                <a:cs typeface="Yu Gothic UI"/>
              </a:rPr>
              <a:t>を管理できる状態にします。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07 — HACKⅡ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HackⅡ AI Search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AI検索上で「自社が候補に入っているか」を可視化するAI検索測定サービスです。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08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057400"/>
          <a:ext cx="5669279" cy="27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4326"/>
                <a:gridCol w="351495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測定項目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内容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AI検索出現率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指定キーワードで自社がAI回答に出るか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競合出現率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競合がどの質問で推薦されているか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引用URL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AI回答に参照・引用されたページ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回答内容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AIが自社をどう説明しているか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誤情報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古い情報・間違った説明・不利な表現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改善優先度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FAQ・料金・比較・事例ページなどの不足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37960" y="2057400"/>
            <a:ext cx="4983480" cy="19202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240280"/>
            <a:ext cx="448056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A63C7"/>
                </a:solidFill>
                <a:latin typeface="Yu Gothic UI"/>
                <a:ea typeface="Yu Gothic UI"/>
                <a:cs typeface="Yu Gothic UI"/>
              </a:rPr>
              <a:t>顧客向けパンチライン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「AI検索で、御社は候補に入っていますか？」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114800"/>
            <a:ext cx="4983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4297680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営業上の位置づけ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「AI検索を測れるツール」ではなく、商談前に競合へ流れている比較検討接点を可視化する“経営情報”として提供します。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対応AIは、契約時点で実装済みのものを明示します。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08 — HACKⅡ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HackⅡが解決する課題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知りたいのは「測れること」ではなく、商談前に候補から外れていないか。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09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03120"/>
          <a:ext cx="1088136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40680"/>
                <a:gridCol w="54406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経営者の問い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HackⅡで見えること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自社はAI検索で候補に入っているか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指定キーワードでの出現率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競合はどの質問で推薦されているか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競合別・キーワード別の表示状況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AIは自社を正しく説明しているか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回答内容・誤情報・不足情報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何を直せば候補入りできるか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FAQ・料金・比較・事例・専門情報の改善優先度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月次で改善しているか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出現率・引用率・競合差分の推移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5102352"/>
            <a:ext cx="54864" cy="45720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074920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顧客はすでにAIで比較検討している。AI回答に自社が出ていなければ、商談前に候補から外れる。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09 — HACKⅡ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HackⅡの主な機能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出現・引用・競合比較・回答内容を、継続的に測定・保存・分析します。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10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2624328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267712"/>
            <a:ext cx="22219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プロジェクト管理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顧客・ブランド・商材単位で測定対象を管理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2103120"/>
            <a:ext cx="2624328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267712"/>
            <a:ext cx="22219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キーワード管理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購買・比較・評判・料金・業界KWを登録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103120"/>
            <a:ext cx="2624328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267712"/>
            <a:ext cx="22219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競合管理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競合企業・競合サービスを登録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2" y="2103120"/>
            <a:ext cx="2624328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267712"/>
            <a:ext cx="22219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AI検索測定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ChatGPT・Gemini・Perplexity等で回答取得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12463"/>
            <a:ext cx="2624328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877055"/>
            <a:ext cx="22219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回答・引用URL保存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AI回答本文と引用・参照URLを保存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2424" y="3712463"/>
            <a:ext cx="2624328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3877055"/>
            <a:ext cx="22219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ダッシュボード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出現率・競合比較・引用状況・改善優先度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712463"/>
            <a:ext cx="2624328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877055"/>
            <a:ext cx="22219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月次レポート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経営者・マーケ担当向けに改善状況を報告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7112" y="3712463"/>
            <a:ext cx="2624328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877055"/>
            <a:ext cx="22219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継続測定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月次で変化を確認し、次の一手へ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技術構成：</a:t>
            </a:r>
            <a:r>
              <a:rPr sz="10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フロント Next.js／バックエンド FastAPI／DB PostgreSQL。accounts・projects・competitors・keywords・citation_results 等を管理し、AI連携はPerplexity Sonar APIから開始。PPC側のEdge・請求系とは分離して開発します。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10 — HACKⅡ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HackⅡのビジネスモデル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SaaS + 計測運用 + 改善コンサルのハイブリッド型。本命は初期50万円＋月額30万円。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11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1965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1965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A63C7"/>
                </a:solidFill>
                <a:latin typeface="Georgia"/>
                <a:ea typeface="Georgia"/>
                <a:cs typeface="Georgia"/>
              </a:rPr>
              <a:t>42%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61488"/>
            <a:ext cx="1965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AI検索出現率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057400"/>
            <a:ext cx="1965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148840"/>
            <a:ext cx="1965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07B2E"/>
                </a:solidFill>
                <a:latin typeface="Georgia"/>
                <a:ea typeface="Georgia"/>
                <a:cs typeface="Georgia"/>
              </a:rPr>
              <a:t>68%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761488"/>
            <a:ext cx="1965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競合A出現率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057400"/>
            <a:ext cx="1965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148840"/>
            <a:ext cx="1965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4356B"/>
                </a:solidFill>
                <a:latin typeface="Georgia"/>
                <a:ea typeface="Georgia"/>
                <a:cs typeface="Georgia"/>
              </a:rPr>
              <a:t>12件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761488"/>
            <a:ext cx="1965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引用URL数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2057400"/>
            <a:ext cx="1965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148840"/>
            <a:ext cx="1965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4356B"/>
                </a:solidFill>
                <a:latin typeface="Georgia"/>
                <a:ea typeface="Georgia"/>
                <a:cs typeface="Georgia"/>
              </a:rPr>
              <a:t>3件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761488"/>
            <a:ext cx="1965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誤情報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2057400"/>
            <a:ext cx="1965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148840"/>
            <a:ext cx="1965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4356B"/>
                </a:solidFill>
                <a:latin typeface="Georgia"/>
                <a:ea typeface="Georgia"/>
                <a:cs typeface="Georgia"/>
              </a:rPr>
              <a:t>15件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761488"/>
            <a:ext cx="1965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改善優先KW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0080" y="3429000"/>
          <a:ext cx="10881359" cy="213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6780"/>
                <a:gridCol w="1632204"/>
                <a:gridCol w="1632204"/>
                <a:gridCol w="457017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プラン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初期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月額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 / 内容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Mini Audit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10万円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—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初回診断：10クエリ・2AI媒体・競合1社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Standard Audit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50万円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—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本命初回診断：25〜50クエリ・4AI媒体・競合3〜5社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HackⅡ Managed Monitor ★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50万円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30万円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本命：月次測定・改善優先度・月1回定例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Growth Monitor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50〜100万円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40〜60万円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高単価業界：100クエリ・月2回測定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Enterprise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100〜300万円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80〜150万円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複数ブランド・部門別・API/CSV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8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Agency White Label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30万円〜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10〜20万円/顧客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代理店向け再販プラン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※ 価格はすべて税別・仮価格（要確認）。低価格セルフサーブSaaSでは提供しません。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11 — PPC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PPC / AI Access Gateway 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「止める」のではなく、正規アクセス・利用ログ・請求の基盤へ。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12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AIクローラー・RAG・MCP事業者向けに、</a:t>
            </a:r>
            <a:r>
              <a:rPr sz="1200" b="1" i="0">
                <a:solidFill>
                  <a:srgbClr val="2A63C7"/>
                </a:solidFill>
                <a:latin typeface="Yu Gothic UI"/>
                <a:ea typeface="Yu Gothic UI"/>
                <a:cs typeface="Yu Gothic UI"/>
              </a:rPr>
              <a:t>正規アクセス・APIキー認証・利用ログ・月次請求</a:t>
            </a:r>
            <a:r>
              <a:rPr sz="12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 を検証するBtoBライセンスゲートウェイ構想です。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33832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AI Crawler / RAG / MCP</a:t>
            </a:r>
          </a:p>
        </p:txBody>
      </p:sp>
      <p:sp>
        <p:nvSpPr>
          <p:cNvPr id="13" name="Chevron 12"/>
          <p:cNvSpPr/>
          <p:nvPr/>
        </p:nvSpPr>
        <p:spPr>
          <a:xfrm>
            <a:off x="4041648" y="2999232"/>
            <a:ext cx="201168" cy="402336"/>
          </a:xfrm>
          <a:prstGeom prst="chevron">
            <a:avLst/>
          </a:prstGeom>
          <a:solidFill>
            <a:srgbClr val="C3C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2880360"/>
            <a:ext cx="33832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288036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Cloudflare Workers / Edge</a:t>
            </a:r>
          </a:p>
        </p:txBody>
      </p:sp>
      <p:sp>
        <p:nvSpPr>
          <p:cNvPr id="16" name="Chevron 15"/>
          <p:cNvSpPr/>
          <p:nvPr/>
        </p:nvSpPr>
        <p:spPr>
          <a:xfrm>
            <a:off x="7653528" y="2999232"/>
            <a:ext cx="201168" cy="402336"/>
          </a:xfrm>
          <a:prstGeom prst="chevron">
            <a:avLst/>
          </a:prstGeom>
          <a:solidFill>
            <a:srgbClr val="C3C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0" y="2880360"/>
            <a:ext cx="3383280" cy="640080"/>
          </a:xfrm>
          <a:prstGeom prst="roundRect">
            <a:avLst>
              <a:gd name="adj" fmla="val 10000"/>
            </a:avLst>
          </a:prstGeom>
          <a:solidFill>
            <a:srgbClr val="14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88036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Policy Decision（契約済みか判定）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9476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FBEFE6"/>
          </a:solidFill>
          <a:ln w="12700">
            <a:solidFill>
              <a:srgbClr val="E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13632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7B2E"/>
                </a:solidFill>
                <a:latin typeface="Yu Gothic UI"/>
                <a:ea typeface="Yu Gothic UI"/>
                <a:cs typeface="Yu Gothic UI"/>
              </a:rPr>
              <a:t>未契約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402 / 403 + ライセンス申請URL を返す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9476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EAF3EC"/>
          </a:solidFill>
          <a:ln w="12700">
            <a:solidFill>
              <a:srgbClr val="B9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913632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F7D32"/>
                </a:solidFill>
                <a:latin typeface="Yu Gothic UI"/>
                <a:ea typeface="Yu Gothic UI"/>
                <a:cs typeface="Yu Gothic UI"/>
              </a:rPr>
              <a:t>契約済み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APIキー / HMAC署名で通過 → origin透過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29200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14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→ Usage Ledger に記録 → 月次CSV / 請求 / 将来分配へ接続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初期はCloudflare完全互換・自律決済・自動分配・完全Bot識別を対象外とし、契約・APIキー・月次請求から検証します。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12 — PPC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初期PoC：やること / やらないこと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約束しない範囲を最初に決めることが、PoCを安全にします。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13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 w="12700">
            <a:solidFill>
              <a:srgbClr val="B9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F7D32"/>
                </a:solidFill>
                <a:latin typeface="Yu Gothic UI"/>
                <a:ea typeface="Yu Gothic UI"/>
                <a:cs typeface="Yu Gothic UI"/>
              </a:rPr>
              <a:t>やること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D32"/>
                </a:solidFill>
                <a:latin typeface="Arial"/>
                <a:ea typeface="Arial"/>
                <a:cs typeface="Arial"/>
              </a:rPr>
              <a:t>✓ </a:t>
            </a:r>
            <a:r>
              <a:rPr sz="10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1ドメイン / 限定パスでのEdge判定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D32"/>
                </a:solidFill>
                <a:latin typeface="Arial"/>
                <a:ea typeface="Arial"/>
                <a:cs typeface="Arial"/>
              </a:rPr>
              <a:t>✓ </a:t>
            </a:r>
            <a:r>
              <a:rPr sz="10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アクセス分類（human / search_bot / known_ai / licensed_buyer / unknown_ai / suspicious）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D32"/>
                </a:solidFill>
                <a:latin typeface="Arial"/>
                <a:ea typeface="Arial"/>
                <a:cs typeface="Arial"/>
              </a:rPr>
              <a:t>✓ </a:t>
            </a:r>
            <a:r>
              <a:rPr sz="10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402 / 403 + ライセンス申請URL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D32"/>
                </a:solidFill>
                <a:latin typeface="Arial"/>
                <a:ea typeface="Arial"/>
                <a:cs typeface="Arial"/>
              </a:rPr>
              <a:t>✓ </a:t>
            </a:r>
            <a:r>
              <a:rPr sz="10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APIキー / HMAC署名付きアクセス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D32"/>
                </a:solidFill>
                <a:latin typeface="Arial"/>
                <a:ea typeface="Arial"/>
                <a:cs typeface="Arial"/>
              </a:rPr>
              <a:t>✓ </a:t>
            </a:r>
            <a:r>
              <a:rPr sz="10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Usage Ledger 保存（request_id で冪等）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D32"/>
                </a:solidFill>
                <a:latin typeface="Arial"/>
                <a:ea typeface="Arial"/>
                <a:cs typeface="Arial"/>
              </a:rPr>
              <a:t>✓ </a:t>
            </a:r>
            <a:r>
              <a:rPr sz="10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簡易管理画面・月次請求CSV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D32"/>
                </a:solidFill>
                <a:latin typeface="Arial"/>
                <a:ea typeface="Arial"/>
                <a:cs typeface="Arial"/>
              </a:rPr>
              <a:t>✓ </a:t>
            </a:r>
            <a:r>
              <a:rPr sz="10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レイテンシー計測・Googlebot誤遮断確認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5740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FBECE9"/>
          </a:solidFill>
          <a:ln w="12700">
            <a:solidFill>
              <a:srgbClr val="EE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4028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0392B"/>
                </a:solidFill>
                <a:latin typeface="Yu Gothic UI"/>
                <a:ea typeface="Yu Gothic UI"/>
                <a:cs typeface="Yu Gothic UI"/>
              </a:rPr>
              <a:t>やらないこと（初期スコープ外）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× </a:t>
            </a:r>
            <a:r>
              <a:rPr sz="1050" b="1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AI企業の自律・即時決済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　　→ BtoB契約 + 月次請求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× </a:t>
            </a:r>
            <a:r>
              <a:rPr sz="1050" b="1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Stripe Connect 自動分配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　　→ 月次レポート + 手動精算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× </a:t>
            </a:r>
            <a:r>
              <a:rPr sz="1050" b="1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完全Bot識別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　　→ 既知・契約済み事業者中心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× </a:t>
            </a:r>
            <a:r>
              <a:rPr sz="1050" b="1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Cloudflare Pay Per Crawl 完全互換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　　→ 既存Edge上に契約・ログ層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× </a:t>
            </a:r>
            <a:r>
              <a:rPr sz="1050" b="1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外部AI上の全Citation観測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　　→ HackⅡ測定 + Report構想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× </a:t>
            </a:r>
            <a:r>
              <a:rPr sz="1050" b="1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商用Marketplace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　　→ Private Licensing Desk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13 —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Usage / Citation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事業の中核資産は、Bot検知ではなく「誰が・何を・どれだけ」の台帳です。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14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tenant_id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導入企業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2057400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2057400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publisher_id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コンテンツ所有者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057400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057400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domain_id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対象ドメイン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2" y="2057400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72" y="2057400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content_id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記事・ページ・DB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43784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43784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source_id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引用の最小単位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2424" y="2843784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2843784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citation_token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引用追跡用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2843784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2843784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buyer_id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AI/RAG/MCP事業者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7112" y="2843784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2843784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license_id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利用許諾条件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30168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630168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api_key_id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認証キー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92424" y="3630168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9584" y="3630168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request_id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リクエスト単位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3630168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3630168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usage_event_id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課金イベント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97112" y="3630168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34272" y="3630168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price_rule_id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価格ルール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416552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416552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billing_account_id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請求先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2424" y="4416552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9584" y="4416552"/>
            <a:ext cx="23957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56B"/>
                </a:solidFill>
                <a:latin typeface="Consolas"/>
                <a:ea typeface="Consolas"/>
                <a:cs typeface="Consolas"/>
              </a:rPr>
              <a:t>payout_account_id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分配先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53212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53212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5A059"/>
                </a:solidFill>
                <a:latin typeface="Yu Gothic UI"/>
                <a:ea typeface="Yu Gothic UI"/>
                <a:cs typeface="Yu Gothic UI"/>
              </a:rPr>
              <a:t>設計方針：</a:t>
            </a: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初期PoCの段階から source_id・citation_token・license_id・usage_event_id を設計に入れ、将来の月次請求・分配・監査・Pay per Citation への拡張を支えます。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14 —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対象顧客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HackⅡは企業・マーケ向け、Adctor / PPCはメディア・専門DB向けに展開します。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15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03120"/>
          <a:ext cx="10881358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6780"/>
                <a:gridCol w="5005425"/>
                <a:gridCol w="282915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顧客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主な課題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提供サービス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経営者・マーケ責任者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AI検索で自社が候補に入っているか不明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HackⅡ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SEO / 広告 / 広報担当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競合がAI回答でどう推薦されているか不明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HackⅡ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広告代理店・SEO会社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既存顧客への新しいアップセル商材がほしい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HackⅡ 代理店プラン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メディア企業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AIに読まれても流入・収益が戻らない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PPC Readiness診断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専門DB・会員制サイト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AI向けにどこまで開放し、どう課金するか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 Access Gateway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 / RAG / MCP事業者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正規データアクセス・SLA・法務リスク低減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Licensed API / MCP Feed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15 —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収益モデル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短期はHackⅡの診断・月額運用、中長期はGatewayとLedgerで高単価化します。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16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03120"/>
          <a:ext cx="10881358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5763"/>
                <a:gridCol w="3699662"/>
                <a:gridCol w="3046780"/>
                <a:gridCol w="282915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フェーズ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商品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価格帯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収益の性質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短期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Mini / Standard Audit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10〜50万円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初回診断収益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短期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HackⅡ Managed Monitor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初期50万円＋月30万円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継続月額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中期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PPC Readiness診断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50万円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診断・設計収益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中期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 Access Gateway PoC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100〜300万円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PoC収益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中期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Gateway月額運用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月30〜50万円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継続月額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長期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Licensed API / MCP Feed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月30〜300万円＋従量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高単価BtoB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長期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Revenue Share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20〜30%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AI利用料からの手数料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※ 価格はすべて税別・仮価格（要確認）。税区分・契約条件は法務確認後に確定します。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16 —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0〜3ヶ月でHackⅡを売上化、1年でPPC PoC、3年でAIコンテンツ利用課金インフラへ。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17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03120"/>
          <a:ext cx="10881359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0170"/>
                <a:gridCol w="2511083"/>
                <a:gridCol w="2511083"/>
                <a:gridCol w="2301826"/>
                <a:gridCol w="219719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時期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HackⅡ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Adctor / PPC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Ledger / Citation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事業目標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0〜3ヶ月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MVP・初回診断・有料β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PPC PoC設計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Usage Ledger簡易設計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初期売上・LOI獲得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3〜6ヶ月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Managed Monitor提供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PPC Readiness診断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ID設計・月次CSV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月額契約化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6〜12ヶ月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3〜10社導入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1ドメインPoC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監査ログ・請求レポート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国内利益化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1〜3年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Enterprise / Agency展開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Licensed API / MCP Feed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Citation Ledger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高単価BtoB化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3年後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グローバル展開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Marketplace化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Revenue Share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AIコンテンツ流通基盤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17 — STRENGTH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強み・差別化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AI検索測定からAI利用ログ・請求分配までを、一気通貫で設計できます。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18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350215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82296" cy="137160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267712"/>
            <a:ext cx="30998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AI検索測定の入口を持つ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HackⅡで企業のAI検索上の課題を可視化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103120"/>
            <a:ext cx="350215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2103120"/>
            <a:ext cx="82296" cy="137160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267712"/>
            <a:ext cx="30998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中長期のインフラ構想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Adctor / Gatewayで利用ログ・請求分配へ拡張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103120"/>
            <a:ext cx="350215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2103120"/>
            <a:ext cx="82296" cy="137160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2267712"/>
            <a:ext cx="30998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契約・ログ・ID設計を重視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source_id・citation_token・license_id を初期から設計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39311"/>
            <a:ext cx="350215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639311"/>
            <a:ext cx="82296" cy="137160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803903"/>
            <a:ext cx="30998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誇張しない説明方針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完全Bot識別・自動徴収・SEO影響ゼロを約束しない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639311"/>
            <a:ext cx="350215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3639311"/>
            <a:ext cx="82296" cy="137160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803903"/>
            <a:ext cx="30998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代理店展開しやすい商材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既存SEO・広告・制作顧客にアップセル可能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3639311"/>
            <a:ext cx="350215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0144" y="3639311"/>
            <a:ext cx="82296" cy="137160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3803903"/>
            <a:ext cx="30998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専門情報領域へ拡張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メディア・専門DB・会員制サイトへ展開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559552"/>
            <a:ext cx="54864" cy="45720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532120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AI検索を測って終わりではなく、AIに使われる情報の価値を、利用ログ・請求・将来分配へつなげる。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18 —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リスクと誠実な対応方針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不確実な領域だからこそ、初期PoCで“約束しない範囲”を明確にします。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19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03120"/>
          <a:ext cx="10881359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6272"/>
                <a:gridCol w="4570171"/>
                <a:gridCol w="413491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リスク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内容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対応方針</a:t>
                      </a:r>
                    </a:p>
                  </a:txBody>
                  <a:tcPr marL="82296" marR="54864" marT="27432" marB="27432" anchor="ctr">
                    <a:solidFill>
                      <a:srgbClr val="14356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 Bot完全識別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偽装・非協調Bot・プロキシ問題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既知Bot・契約済み事業者・不審アクセスを分類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SEO影響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Googlebot誤遮断・レイテンシー・クローキング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限定パスPoC・検索Bot allowlist・専門レビュー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自律決済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AI企業側の対応・標準化が不安定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初期はBtoB契約・APIキー・月次請求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自動分配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Stripe Connect・税務・返金・資金移動が重い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初期は月次レポート・手動精算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Citation完全観測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外部AI回答画面は単独では見えない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HackⅡ測定・Citation Report API構想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4356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法務・著作権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再配布・学習利用・キャッシュ期間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A1F2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契約で利用条件を定義</a:t>
                      </a:r>
                    </a:p>
                  </a:txBody>
                  <a:tcPr marL="82296" marR="54864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19 —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会社概要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20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1088136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会社名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011680"/>
            <a:ext cx="7589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レガリスジャパングループ株式会社 / Trillion Bank株式会社（表記統一・要確認）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96312"/>
            <a:ext cx="10881360" cy="4846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96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ブランド / サービス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96312"/>
            <a:ext cx="7589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Adctor / HackⅡ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80944"/>
            <a:ext cx="1088136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980944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代表者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7589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井上 幹太 ※要最終確認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65576"/>
            <a:ext cx="10881360" cy="4846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65576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所在地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465576"/>
            <a:ext cx="7589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東京都千代田区麹町6-2-1 麹町サイトビル ROOM Z ※契約書記載ベース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50208"/>
            <a:ext cx="1088136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50208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事業内容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950208"/>
            <a:ext cx="7589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AI検索測定、AIアクセス制御、AIコンテンツ利用ログ、請求・分配基盤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434840"/>
            <a:ext cx="10881360" cy="4846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434840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主なサービス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434840"/>
            <a:ext cx="7589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HackⅡ AI Search Monitor／AI Access Gateway／Usage・Citation Ledger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919472"/>
            <a:ext cx="1088136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91947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顧客対象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919472"/>
            <a:ext cx="7589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企業・メディア・専門DB・会員制サイト・広告代理店・AI/RAG/MCP事業者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404104"/>
            <a:ext cx="10881360" cy="4846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404104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設立 / 資本金 /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404104"/>
            <a:ext cx="7589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【手動反映】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934456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0D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934456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551A"/>
                </a:solidFill>
                <a:latin typeface="Yu Gothic UI"/>
                <a:ea typeface="Yu Gothic UI"/>
                <a:cs typeface="Yu Gothic UI"/>
              </a:rPr>
              <a:t>※ 会社名（レガリスジャパングループ株式会社／Trillion Bank株式会社／Adctor Inc.）の表記統一を最終確認のうえ確定してください。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20 — FOUNDER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代表紹介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21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2926080" cy="3931920"/>
          </a:xfrm>
          <a:prstGeom prst="roundRect">
            <a:avLst>
              <a:gd name="adj" fmla="val 6000"/>
            </a:avLst>
          </a:prstGeom>
          <a:solidFill>
            <a:srgbClr val="14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92608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DB4D6"/>
                </a:solidFill>
                <a:latin typeface="Yu Gothic UI"/>
                <a:ea typeface="Yu Gothic UI"/>
                <a:cs typeface="Yu Gothic UI"/>
              </a:rPr>
              <a:t>代表写真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F94B5"/>
                </a:solidFill>
                <a:latin typeface="Yu Gothic UI"/>
                <a:ea typeface="Yu Gothic UI"/>
                <a:cs typeface="Yu Gothic UI"/>
              </a:rPr>
              <a:t>【高解像度画像を手動反映】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057400"/>
            <a:ext cx="7680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井上 幹太 </a:t>
            </a:r>
            <a:r>
              <a:rPr sz="11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代表取締役 / Founder（要確認）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AI検索・広告・コンテンツ流通の変化に着目し、企業やメディアがAIにどう見られ、どう使われ、どう収益化できるかを可視化・制御するための事業として、HackⅡおよびAdctor構想を推進。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520440"/>
            <a:ext cx="7680960" cy="242316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3703320"/>
            <a:ext cx="71323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A63C7"/>
                </a:solidFill>
                <a:latin typeface="Yu Gothic UI"/>
                <a:ea typeface="Yu Gothic UI"/>
                <a:cs typeface="Yu Gothic UI"/>
              </a:rPr>
              <a:t>代表メッセージ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AI検索によって、ユーザーの情報収集は大きく変わり始めています。しかし、AIに読まれる側の企業・メディア・専門情報サイトには、まだ十分な可視化・契約・収益化の仕組みがありません。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</a:pPr>
            <a:r>
              <a:rPr sz="110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Trillion Bankは、HackⅡでAI検索上の見えない比較検討接点を可視化し、AdctorでAI時代のコンテンツ利用を、測定・制御・記録・請求へ変えるインフラを目指します。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spc="220">
                <a:solidFill>
                  <a:srgbClr val="2A63C7"/>
                </a:solidFill>
                <a:latin typeface="Arial"/>
                <a:ea typeface="Arial"/>
                <a:cs typeface="Arial"/>
              </a:rPr>
              <a:t>21 —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期待値の設計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できることは明確に、できないことは正直に。約束しない範囲を示すことが信頼になります。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46520"/>
            <a:ext cx="1090879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10528"/>
            <a:ext cx="199505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649224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 ｜  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92240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22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"/>
            <a:ext cx="3410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50" b="0" i="0" spc="15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CONFIDENTIAL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5349240" cy="36576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 w="12700">
            <a:solidFill>
              <a:srgbClr val="B9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48463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F7D32"/>
                </a:solidFill>
                <a:latin typeface="Yu Gothic UI"/>
                <a:ea typeface="Yu Gothic UI"/>
                <a:cs typeface="Yu Gothic UI"/>
              </a:rPr>
              <a:t>お約束できること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F7D32"/>
                </a:solidFill>
                <a:latin typeface="Arial"/>
                <a:ea typeface="Arial"/>
                <a:cs typeface="Arial"/>
              </a:rPr>
              <a:t>✓ 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AI検索上の出現・引用・競合比較の可視化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F7D32"/>
                </a:solidFill>
                <a:latin typeface="Arial"/>
                <a:ea typeface="Arial"/>
                <a:cs typeface="Arial"/>
              </a:rPr>
              <a:t>✓ 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契約時点で対応しているAIの明示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F7D32"/>
                </a:solidFill>
                <a:latin typeface="Arial"/>
                <a:ea typeface="Arial"/>
                <a:cs typeface="Arial"/>
              </a:rPr>
              <a:t>✓ 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AIに参照されやすい情報設計の支援と月次推移レポート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F7D32"/>
                </a:solidFill>
                <a:latin typeface="Arial"/>
                <a:ea typeface="Arial"/>
                <a:cs typeface="Arial"/>
              </a:rPr>
              <a:t>✓ 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PPCは正規アクセス・利用ログ・月次請求のPoCとして検証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03120"/>
            <a:ext cx="5349240" cy="3657600"/>
          </a:xfrm>
          <a:prstGeom prst="roundRect">
            <a:avLst>
              <a:gd name="adj" fmla="val 6000"/>
            </a:avLst>
          </a:prstGeom>
          <a:solidFill>
            <a:srgbClr val="FBECE9"/>
          </a:solidFill>
          <a:ln w="12700">
            <a:solidFill>
              <a:srgbClr val="EEC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8463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0392B"/>
                </a:solidFill>
                <a:latin typeface="Yu Gothic UI"/>
                <a:ea typeface="Yu Gothic UI"/>
                <a:cs typeface="Yu Gothic UI"/>
              </a:rPr>
              <a:t>言わないこと（NG表現）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× 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AI検索順位・掲載・問い合わせ数の保証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× 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AI Botの100%識別 / AI企業からの自動徴収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× 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Cloudflare Pay Per Crawl の完全再現 / SEO影響ゼロ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× </a:t>
            </a:r>
            <a:r>
              <a:rPr sz="1150" b="0" i="0">
                <a:solidFill>
                  <a:srgbClr val="1A1F26"/>
                </a:solidFill>
                <a:latin typeface="Yu Gothic UI"/>
                <a:ea typeface="Yu Gothic UI"/>
                <a:cs typeface="Yu Gothic UI"/>
              </a:rPr>
              <a:t>引用の完全自動課金 / Stripe Connect即時自動分配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868680"/>
            <a:ext cx="1039091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356B"/>
                </a:solidFill>
                <a:latin typeface="Yu Gothic UI"/>
                <a:ea typeface="Yu Gothic UI"/>
                <a:cs typeface="Yu Gothic UI"/>
              </a:rPr>
              <a:t>AI検索で、御社は候補に入っていますか？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AIに読まれるだけで終わる時代から、正規に使わせ、記録し、収益化する時代へ。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480560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57200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A63C7"/>
                </a:solidFill>
                <a:latin typeface="Yu Gothic UI"/>
                <a:ea typeface="Yu Gothic UI"/>
                <a:cs typeface="Yu Gothic UI"/>
              </a:rPr>
              <a:t>AI検索診断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経営者・マーケ責任者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39896" y="4480560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9896" y="457200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A63C7"/>
                </a:solidFill>
                <a:latin typeface="Yu Gothic UI"/>
                <a:ea typeface="Yu Gothic UI"/>
                <a:cs typeface="Yu Gothic UI"/>
              </a:rPr>
              <a:t>HackⅡ導入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企業・代理店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8232" y="4480560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57200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A63C7"/>
                </a:solidFill>
                <a:latin typeface="Yu Gothic UI"/>
                <a:ea typeface="Yu Gothic UI"/>
                <a:cs typeface="Yu Gothic UI"/>
              </a:rPr>
              <a:t>PPC Readiness診断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メディア・専門DB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16568" y="4480560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4572000"/>
            <a:ext cx="2468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A63C7"/>
                </a:solidFill>
                <a:latin typeface="Yu Gothic UI"/>
                <a:ea typeface="Yu Gothic UI"/>
                <a:cs typeface="Yu Gothic UI"/>
              </a:rPr>
              <a:t>PoC / 提携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開発会社・投資家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1560" y="5806440"/>
            <a:ext cx="10085832" cy="0"/>
          </a:xfrm>
          <a:prstGeom prst="bentConnector3">
            <a:avLst/>
          </a:prstGeom>
          <a:ln w="9525"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5870448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Yu Gothic UI"/>
                <a:ea typeface="Yu Gothic UI"/>
                <a:cs typeface="Yu Gothic UI"/>
              </a:rPr>
              <a:t>Trillion Bank / Adctor　｜　担当者名・メール・電話・URL【手動反映】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